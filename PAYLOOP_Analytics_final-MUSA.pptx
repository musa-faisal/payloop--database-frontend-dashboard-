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embeddedFontLst>
    <p:embeddedFont>
      <p:font typeface="Arial Black"/>
      <p:regular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4D960B-4841-4DB0-AC5C-3FBA7401E47F}">
  <a:tblStyle styleId="{E74D960B-4841-4DB0-AC5C-3FBA7401E4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ArialBlack-regular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0d4b651f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3e0d4b651f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e0d4b651f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0d4b651f6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e0d4b651f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e0d4b651f6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143f3672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e143f367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143f3672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d4b651f6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e0d4b651f6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0d4b651f6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C63FF">
              <a:alpha val="12156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D4FF">
              <a:alpha val="10196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0" y="2103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0" y="3749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502920" y="1280160"/>
            <a:ext cx="54864" cy="2560320"/>
          </a:xfrm>
          <a:prstGeom prst="rect">
            <a:avLst/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21792" y="1280160"/>
            <a:ext cx="36576" cy="25603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77240" y="141732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PAYLOOP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77240" y="251460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SQL Data Analytics &amp; Business In</a:t>
            </a:r>
            <a:r>
              <a:rPr lang="en-US" sz="18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6766510" y="256125"/>
            <a:ext cx="2011800" cy="274200"/>
          </a:xfrm>
          <a:prstGeom prst="roundRect">
            <a:avLst>
              <a:gd fmla="val 16667" name="adj"/>
            </a:avLst>
          </a:prstGeom>
          <a:solidFill>
            <a:srgbClr val="6C63FF">
              <a:alpha val="25099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766510" y="25612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SECTION 1 — ANALYTICS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26996" y="145104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oject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226947" y="693814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166500" y="967200"/>
            <a:ext cx="8811000" cy="38268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816200" y="1178450"/>
            <a:ext cx="4327800" cy="3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6C63FF"/>
                </a:solidFill>
              </a:rPr>
              <a:t>New Expansion Focuses On:</a:t>
            </a:r>
            <a:endParaRPr b="1" sz="1300">
              <a:solidFill>
                <a:srgbClr val="6C63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Business intelligence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Financial analytics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Customer behavior analysis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Strategic decision support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Merchant performance analysis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Cash flow monitoring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Fraud detection support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Future business growth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6C63FF"/>
                </a:solidFill>
              </a:rPr>
              <a:t>Core Objective</a:t>
            </a:r>
            <a:endParaRPr b="1" sz="1300">
              <a:solidFill>
                <a:srgbClr val="6C63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Transform PAYLOOP into a:</a:t>
            </a:r>
            <a:endParaRPr sz="1100">
              <a:solidFill>
                <a:schemeClr val="lt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100">
                <a:solidFill>
                  <a:srgbClr val="00FFFF"/>
                </a:solidFill>
              </a:rPr>
              <a:t>A business intelligence and decision-support analytics system.</a:t>
            </a:r>
            <a:endParaRPr b="1" i="1" sz="1100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t/>
            </a:r>
            <a:endParaRPr b="1" sz="1000">
              <a:solidFill>
                <a:srgbClr val="00D4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370875" y="1104450"/>
            <a:ext cx="39873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6C63FF"/>
                </a:solidFill>
              </a:rPr>
              <a:t>From Database System to Business Intelligence Platform</a:t>
            </a:r>
            <a:endParaRPr b="1" sz="1200">
              <a:solidFill>
                <a:srgbClr val="6C63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FFFF"/>
                </a:solidFill>
              </a:rPr>
              <a:t>Original Project Included:</a:t>
            </a:r>
            <a:endParaRPr b="1" sz="1300">
              <a:solidFill>
                <a:srgbClr val="00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Database creation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Table relationships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CRUD operations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Joins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Subqueries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Views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Stored procedures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Triggers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Transaction simulation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 flipH="1">
            <a:off x="4532975" y="967200"/>
            <a:ext cx="37800" cy="38268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6766510" y="256125"/>
            <a:ext cx="2011800" cy="274200"/>
          </a:xfrm>
          <a:prstGeom prst="roundRect">
            <a:avLst>
              <a:gd fmla="val 16667" name="adj"/>
            </a:avLst>
          </a:prstGeom>
          <a:solidFill>
            <a:srgbClr val="6C63FF">
              <a:alpha val="25099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766510" y="25612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SECTION 1 — ANALYTICS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26996" y="145104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BI Matters?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5"/>
          <p:cNvCxnSpPr/>
          <p:nvPr/>
        </p:nvCxnSpPr>
        <p:spPr>
          <a:xfrm>
            <a:off x="226947" y="693814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5"/>
          <p:cNvSpPr/>
          <p:nvPr/>
        </p:nvSpPr>
        <p:spPr>
          <a:xfrm>
            <a:off x="166500" y="967200"/>
            <a:ext cx="8811000" cy="38268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91700" y="1683600"/>
            <a:ext cx="5426100" cy="3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6C63FF"/>
                </a:solidFill>
              </a:rPr>
              <a:t>Importance of Analytics in FinTech companies</a:t>
            </a:r>
            <a:endParaRPr b="1" sz="1300">
              <a:solidFill>
                <a:srgbClr val="6C63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This data helps organizations: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Understand customer behavior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Improve user retention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Analyze payment activity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Detect fraud patterns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Track business growth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Monitor platform performance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Support executive decision making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Real World Examples: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EasyPaisa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JazzCash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ApplePay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all rely heavily on transaction analytics and business intelligence systems.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D4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822950" y="1215975"/>
            <a:ext cx="2218200" cy="24030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822960" y="1215940"/>
            <a:ext cx="1965900" cy="183000"/>
          </a:xfrm>
          <a:prstGeom prst="rect">
            <a:avLst/>
          </a:prstGeom>
          <a:solidFill>
            <a:srgbClr val="00FF94">
              <a:alpha val="34900"/>
            </a:srgbClr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896100" y="1417050"/>
            <a:ext cx="20985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Databases are no longer only storage systems.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They are now: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●"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analytical systems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●"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 tools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●"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monitoring systems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●"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decision platforms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896112" y="1243372"/>
            <a:ext cx="1819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6491125" y="2206500"/>
            <a:ext cx="4572000" cy="4572000"/>
          </a:xfrm>
          <a:prstGeom prst="ellipse">
            <a:avLst/>
          </a:prstGeom>
          <a:solidFill>
            <a:srgbClr val="6C63FF">
              <a:alpha val="7843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365760" y="228600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6C63FF">
              <a:alpha val="25098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365760" y="2286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SECTION 1 — ANALYTICS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Objective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6"/>
          <p:cNvCxnSpPr/>
          <p:nvPr/>
        </p:nvCxnSpPr>
        <p:spPr>
          <a:xfrm>
            <a:off x="365760" y="1143000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6"/>
          <p:cNvSpPr/>
          <p:nvPr/>
        </p:nvSpPr>
        <p:spPr>
          <a:xfrm>
            <a:off x="365760" y="12801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The PAYLOOP database was analyzed using SQL Server — queries, views, joins, aggregations, and BI reports — to extract actionable insights from digital wallet activity.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65760" y="2240280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65760" y="2240280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02920" y="224942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User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65760" y="2715768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65760" y="2715768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02920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Spending Trends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3191256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65760" y="3191256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502920" y="3200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Merchant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65760" y="3666744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65760" y="3666744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02920" y="36758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Wallet Balance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200400" y="2240280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200400" y="2240280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337560" y="224942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Fraud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200400" y="2715768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200400" y="2715768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337560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Monthly Growth Trends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200400" y="3191256"/>
            <a:ext cx="2560320" cy="38404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200400" y="3191256"/>
            <a:ext cx="45720" cy="38404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337560" y="3200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Inactive User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77925" y="229575"/>
            <a:ext cx="3276300" cy="6402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77925" y="229575"/>
            <a:ext cx="3276300" cy="156600"/>
          </a:xfrm>
          <a:prstGeom prst="rect">
            <a:avLst/>
          </a:prstGeom>
          <a:solidFill>
            <a:srgbClr val="00FF94">
              <a:alpha val="34901"/>
            </a:srgbClr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376151" y="386275"/>
            <a:ext cx="2962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Entities &amp; Attributes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17000" y="257000"/>
            <a:ext cx="3037200" cy="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SCHEMA - </a:t>
            </a:r>
            <a:r>
              <a:rPr b="1" lang="en-US" sz="650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b="1" lang="en-US" sz="650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 Database Structure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7"/>
          <p:cNvGraphicFramePr/>
          <p:nvPr/>
        </p:nvGraphicFramePr>
        <p:xfrm>
          <a:off x="277925" y="10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{E74D960B-4841-4DB0-AC5C-3FBA7401E47F}</a:tableStyleId>
              </a:tblPr>
              <a:tblGrid>
                <a:gridCol w="1011650"/>
                <a:gridCol w="1572650"/>
                <a:gridCol w="3141050"/>
                <a:gridCol w="30900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Entity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Primary Key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Attributes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Purpose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Users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full_name, email (UQ), phone (UQ), password, status, created_at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Stores registered user account information.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Wallets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wallet_id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user_id (FK, UQ), balance, currency, status, created_at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Maintains digital wallet balance per user (1:1).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Transactions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txn_id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wallet_id (FK), txn_type, amount, note, txn_date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Full log of all financial events</a:t>
                      </a:r>
                      <a:r>
                        <a:rPr lang="en-US" sz="700"/>
                        <a:t> (</a:t>
                      </a:r>
                      <a:r>
                        <a:rPr lang="en-US" sz="10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credit</a:t>
                      </a:r>
                      <a:r>
                        <a:rPr lang="en-US" sz="1000">
                          <a:solidFill>
                            <a:srgbClr val="00FF00"/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debit</a:t>
                      </a:r>
                      <a:r>
                        <a:rPr lang="en-US" sz="1000">
                          <a:solidFill>
                            <a:srgbClr val="00FF00"/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transfer_in</a:t>
                      </a:r>
                      <a:r>
                        <a:rPr lang="en-US" sz="1000">
                          <a:solidFill>
                            <a:srgbClr val="00FF00"/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transfer_out</a:t>
                      </a:r>
                      <a:r>
                        <a:rPr lang="en-US" sz="1000">
                          <a:solidFill>
                            <a:srgbClr val="00FF00"/>
                          </a:solidFill>
                        </a:rPr>
                        <a:t>).</a:t>
                      </a:r>
                      <a:endParaRPr sz="10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Merchants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merchant_id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merchant_name, category, email (UQ), phone, created_at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Registered business entities receiving payments.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Payments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payment_id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wallet_id (FK), merchant_id (FK), amount, pay_date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Records customer-to-merchant payment events.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AuditLog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log_id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event, details, log_date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System-level event trail for security and compliance.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CityTransactions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city_txn_id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city_name, transaction_month, transaction_volume, transaction_count, active_users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Monthly aggregated transaction data by city for regional business intelligence.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</a:rPr>
                        <a:t>MerchantSalesData</a:t>
                      </a:r>
                      <a:endParaRPr b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sales_id (PK, IDENTITY)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FF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merchant_name, category, sales_month, revenue_generated, payment_count</a:t>
                      </a:r>
                      <a:endParaRPr sz="700">
                        <a:solidFill>
                          <a:srgbClr val="00FF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Monthly revenue snapshot per merchant for performance reporting.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/>
          <p:nvPr/>
        </p:nvSpPr>
        <p:spPr>
          <a:xfrm>
            <a:off x="7097775" y="-2825925"/>
            <a:ext cx="4572000" cy="4572000"/>
          </a:xfrm>
          <a:prstGeom prst="ellipse">
            <a:avLst/>
          </a:prstGeom>
          <a:solidFill>
            <a:srgbClr val="6C63FF">
              <a:alpha val="7840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365743" y="290575"/>
            <a:ext cx="4351500" cy="3840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365760" y="290565"/>
            <a:ext cx="45600" cy="3840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502932" y="299700"/>
            <a:ext cx="591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lang="en-US" sz="2200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Entity-Relationship Diagram (ERD)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8" title="User Payment Transactions-2026-05-12-174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275" y="741525"/>
            <a:ext cx="5801446" cy="416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7069475" y="-2754948"/>
            <a:ext cx="4572000" cy="4572000"/>
          </a:xfrm>
          <a:prstGeom prst="ellipse">
            <a:avLst/>
          </a:prstGeom>
          <a:solidFill>
            <a:srgbClr val="00D4FF">
              <a:alpha val="7843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FF6B9D">
              <a:alpha val="25098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SECTION 3 — SPENDING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Transaction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365750" y="1115576"/>
            <a:ext cx="5029200" cy="10974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365760" y="1115568"/>
            <a:ext cx="50292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475488" y="1133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9377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0657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51937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475488" y="1344168"/>
            <a:ext cx="4809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SELECT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AVG(amount)  AS platform_avg_transaction,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MIN(amount)  AS smallest_transaction,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MAX(amount)  AS largest_transaction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FROM Transactions;</a:t>
            </a:r>
            <a:endParaRPr b="1"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65760" y="2434014"/>
            <a:ext cx="2651700" cy="1371600"/>
          </a:xfrm>
          <a:prstGeom prst="rect">
            <a:avLst/>
          </a:prstGeom>
          <a:solidFill>
            <a:srgbClr val="141830"/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57200" y="2525454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₨2</a:t>
            </a:r>
            <a:r>
              <a:rPr b="1" lang="en-US" sz="26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en-US" sz="26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756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3302694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AVG TRANSACTION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3273552" y="2434014"/>
            <a:ext cx="2651700" cy="1371600"/>
          </a:xfrm>
          <a:prstGeom prst="rect">
            <a:avLst/>
          </a:prstGeom>
          <a:solidFill>
            <a:srgbClr val="141830"/>
          </a:solidFill>
          <a:ln cap="flat" cmpd="sng" w="254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3364992" y="2525454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₨500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364992" y="3302694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MIN TRANSACTION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181344" y="2434014"/>
            <a:ext cx="2651700" cy="1371600"/>
          </a:xfrm>
          <a:prstGeom prst="rect">
            <a:avLst/>
          </a:prstGeom>
          <a:solidFill>
            <a:srgbClr val="141830"/>
          </a:solidFill>
          <a:ln cap="flat" cmpd="sng" w="254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6272784" y="2525454"/>
            <a:ext cx="246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₨</a:t>
            </a:r>
            <a:r>
              <a:rPr b="1" lang="en-US" sz="2600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="1" i="0" lang="en-US" sz="26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0,000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6272784" y="3302694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MAX TRANSACTION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0" y="4070514"/>
            <a:ext cx="4381500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FF6B9D">
              <a:alpha val="25098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SECTION 3 — SPENDING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vs Debit Flow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365750" y="1115577"/>
            <a:ext cx="4114800" cy="14715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475488" y="1133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0233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41513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2793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475500" y="1344177"/>
            <a:ext cx="38952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SELECT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txn_type,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COUNT(txn_id) AS txn_count,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SUM(amount) AS total_amount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FROM Transactions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WHERE txn_type IN ('debit', 'credit')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GROUP BY txn_type;</a:t>
            </a:r>
            <a:endParaRPr b="1"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65760" y="2664218"/>
            <a:ext cx="1828800" cy="7314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57200" y="275565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2800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28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57200" y="3103130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CREDIT SHARE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331720" y="2664218"/>
            <a:ext cx="1828800" cy="7314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2423160" y="2755658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="1" i="0" lang="en-US" sz="28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423160" y="3103130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DEBIT SHARE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365760" y="3532898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365760" y="3532898"/>
            <a:ext cx="54900" cy="3474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48640" y="3551186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Balanced inflow/outflow reflects healthy ecosystem activity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65760" y="3990098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365760" y="3990098"/>
            <a:ext cx="54900" cy="347400"/>
          </a:xfrm>
          <a:prstGeom prst="rect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548640" y="4008386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Higher credits indicate strong wallet funding behavior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950" y="2057403"/>
            <a:ext cx="34671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365760" y="201168"/>
            <a:ext cx="2011800" cy="274200"/>
          </a:xfrm>
          <a:prstGeom prst="roundRect">
            <a:avLst>
              <a:gd fmla="val 16667" name="adj"/>
            </a:avLst>
          </a:prstGeom>
          <a:solidFill>
            <a:srgbClr val="00D4FF">
              <a:alpha val="25099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365760" y="20116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SECTION 2 — USER ACTIVITY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365753" y="521200"/>
            <a:ext cx="352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Value Customers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65750" y="1115574"/>
            <a:ext cx="4297800" cy="35382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365760" y="1115568"/>
            <a:ext cx="4297800" cy="2013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475488" y="1133856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 - </a:t>
            </a:r>
            <a:r>
              <a:rPr b="1" i="0" lang="en-US" sz="800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CTE</a:t>
            </a:r>
            <a:endParaRPr b="0" i="0" sz="800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206240" y="1179576"/>
            <a:ext cx="73200" cy="73200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4334256" y="1179576"/>
            <a:ext cx="73200" cy="73200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4462272" y="1179576"/>
            <a:ext cx="73200" cy="73200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475500" y="1344179"/>
            <a:ext cx="4078200" cy="26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WITH CustomerSpending AS (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SELECT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u.full_name,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SUM(t.amount) AS total_spending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FROM Users u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INNER JOIN Wallets w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ON u.user_id = w.user_id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INNER JOIN Transactions t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ON w.wallet_id = t.wallet_id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WHERE t.txn_type IN ('debit', 'transfer_out')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GROUP BY u.full_name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)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SELECT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full_name,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total_spending,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RANK() OVER (ORDER BY total_spending DESC) AS spending_rank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FROM CustomerSpending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ORDER BY total_spending DESC;</a:t>
            </a:r>
            <a:endParaRPr b="1" sz="1050">
              <a:solidFill>
                <a:srgbClr val="79C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t/>
            </a:r>
            <a:endParaRPr b="1" sz="1050">
              <a:solidFill>
                <a:srgbClr val="79C0FF"/>
              </a:solidFill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5522435" y="2414132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522435" y="2706740"/>
            <a:ext cx="109800" cy="1098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5705321" y="2670175"/>
            <a:ext cx="237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Business can identify top spending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522435" y="3054212"/>
            <a:ext cx="109800" cy="1098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5705320" y="3017625"/>
            <a:ext cx="221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users likely to purchase premium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892040" y="3337560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Future Business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892040" y="3611880"/>
            <a:ext cx="1737300" cy="347400"/>
          </a:xfrm>
          <a:prstGeom prst="rect">
            <a:avLst/>
          </a:prstGeom>
          <a:solidFill>
            <a:srgbClr val="0D1A2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4965192" y="3630168"/>
            <a:ext cx="1591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Launch loyalty rewards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6903720" y="3611880"/>
            <a:ext cx="1737300" cy="347400"/>
          </a:xfrm>
          <a:prstGeom prst="rect">
            <a:avLst/>
          </a:prstGeom>
          <a:solidFill>
            <a:srgbClr val="0D1A2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6976872" y="3630168"/>
            <a:ext cx="1591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VIP wallet tiers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892040" y="4069080"/>
            <a:ext cx="1737300" cy="347400"/>
          </a:xfrm>
          <a:prstGeom prst="rect">
            <a:avLst/>
          </a:prstGeom>
          <a:solidFill>
            <a:srgbClr val="0D1A2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965192" y="4087368"/>
            <a:ext cx="1591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Cashback incentives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903720" y="4069080"/>
            <a:ext cx="1737300" cy="347400"/>
          </a:xfrm>
          <a:prstGeom prst="rect">
            <a:avLst/>
          </a:prstGeom>
          <a:solidFill>
            <a:srgbClr val="0D1A2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976872" y="4087368"/>
            <a:ext cx="1591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Priority support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250" y="277350"/>
            <a:ext cx="3414658" cy="2109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FF6B9D">
              <a:alpha val="25098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SECTION 6 — FRAUD &amp; SECURITY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365754" y="521200"/>
            <a:ext cx="435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High-Risk Transfer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65750" y="1115575"/>
            <a:ext cx="4572000" cy="21918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365760" y="1115568"/>
            <a:ext cx="45720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475506" y="1133850"/>
            <a:ext cx="68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 - </a:t>
            </a:r>
            <a:r>
              <a:rPr b="1" lang="en-US" sz="8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1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4805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46085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7365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475500" y="1344175"/>
            <a:ext cx="4352400" cy="1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CREATE VIEW FraudMonitoring AS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SELECT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t.txn_id,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u.full_name,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u.email,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t.txn_type,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t.amount,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t.note,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t.txn_date,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    'Flagged - Exceeds PKR 50,000' AS alert_reason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FROM Transactions t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INNER JOIN Wallets w ON t.wallet_id = w.wallet_id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INNER JOIN Users   u ON w.user_id   = u.user_id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WHERE t.amount &gt; 50000;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>
                <a:solidFill>
                  <a:srgbClr val="79C0FF"/>
                </a:solidFill>
              </a:rPr>
              <a:t>GO</a:t>
            </a:r>
            <a:endParaRPr b="1" sz="8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50">
              <a:solidFill>
                <a:srgbClr val="79C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t/>
            </a:r>
            <a:endParaRPr b="1" sz="850">
              <a:solidFill>
                <a:srgbClr val="79C0FF"/>
              </a:solidFill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365750" y="4408796"/>
            <a:ext cx="2678700" cy="2337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365746" y="4408799"/>
            <a:ext cx="73200" cy="233700"/>
          </a:xfrm>
          <a:prstGeom prst="rect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548650" y="4427095"/>
            <a:ext cx="249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Large outgoing transfers are highest-risk events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154050" y="4408800"/>
            <a:ext cx="2678700" cy="2337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3154053" y="4408806"/>
            <a:ext cx="54900" cy="233700"/>
          </a:xfrm>
          <a:prstGeom prst="rect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3336936" y="4421115"/>
            <a:ext cx="24957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Automatic fraud scoring is essential at scale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096751" y="1133835"/>
            <a:ext cx="3812700" cy="17112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Harris's PKR 60K outgoing business transfer is the only seeded transaction that meets the high-risk threshold. This is also what triggers </a:t>
            </a:r>
            <a:r>
              <a:rPr b="1" lang="en-U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WarnLargeAmount</a:t>
            </a:r>
            <a:r>
              <a:rPr b="1" lang="en-US" sz="1100">
                <a:solidFill>
                  <a:schemeClr val="lt1"/>
                </a:solidFill>
              </a:rPr>
              <a:t> to log into </a:t>
            </a:r>
            <a:r>
              <a:rPr b="1" lang="en-US" sz="1100">
                <a:solidFill>
                  <a:srgbClr val="FFD700"/>
                </a:solidFill>
              </a:rPr>
              <a:t>AuditLog </a:t>
            </a:r>
            <a:r>
              <a:rPr b="1" lang="en-US" sz="1100">
                <a:solidFill>
                  <a:schemeClr val="lt1"/>
                </a:solidFill>
              </a:rPr>
              <a:t>(when the trigger is active for </a:t>
            </a:r>
            <a:r>
              <a:rPr b="1" i="1" lang="en-US" sz="1100">
                <a:solidFill>
                  <a:schemeClr val="lt1"/>
                </a:solidFill>
              </a:rPr>
              <a:t>new</a:t>
            </a:r>
            <a:r>
              <a:rPr b="1" lang="en-US" sz="1100">
                <a:solidFill>
                  <a:schemeClr val="lt1"/>
                </a:solidFill>
              </a:rPr>
              <a:t> inserts — note the trigger wasn't yet created when this row was inserted in Step 4, so no audit row exists for it; the Step 15 test deposit is what actually produces audit entries) 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041841" y="1133811"/>
            <a:ext cx="73200" cy="1711200"/>
          </a:xfrm>
          <a:prstGeom prst="rect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5735600" y="241225"/>
            <a:ext cx="1065300" cy="6672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5799800" y="256400"/>
            <a:ext cx="93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800"/>
              <a:buFont typeface="Calibri"/>
              <a:buNone/>
            </a:pPr>
            <a:r>
              <a:rPr b="1" i="0" lang="en-US" sz="21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₨50K+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855750" y="711975"/>
            <a:ext cx="825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RISK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882800" y="282375"/>
            <a:ext cx="1065300" cy="5943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060119" y="241225"/>
            <a:ext cx="688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489986" y="66543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FLAGGED TRANSFERS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040189" y="4082807"/>
            <a:ext cx="1783800" cy="8724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021664" y="4126968"/>
            <a:ext cx="1486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800"/>
              <a:buFont typeface="Calibri"/>
              <a:buNone/>
            </a:pPr>
            <a:r>
              <a:rPr b="1" lang="en-US" sz="12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Future Business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136564" y="4336128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Supports: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Fraud Prevention</a:t>
            </a:r>
            <a:endParaRPr sz="9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Compliance Monitoring</a:t>
            </a:r>
            <a:endParaRPr sz="9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Transaction Auditing</a:t>
            </a:r>
            <a:endParaRPr sz="9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96112" y="2939046"/>
            <a:ext cx="2969400" cy="1017900"/>
          </a:xfrm>
          <a:prstGeom prst="rect">
            <a:avLst/>
          </a:prstGeom>
          <a:solidFill>
            <a:srgbClr val="141830"/>
          </a:solidFill>
          <a:ln cap="flat" cmpd="sng" w="254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5612962" y="3021246"/>
            <a:ext cx="2270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600"/>
              <a:buFont typeface="Calibri"/>
              <a:buNone/>
            </a:pPr>
            <a:r>
              <a:rPr b="1" lang="en-US" sz="1200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Cross Functional Benefit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427762" y="3261771"/>
            <a:ext cx="29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Suports regulatory benefits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Improves Fraud Detection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Management -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Enhances Operational oversight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25" y="3375562"/>
            <a:ext cx="4873350" cy="96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365760" y="201168"/>
            <a:ext cx="2011800" cy="274200"/>
          </a:xfrm>
          <a:prstGeom prst="roundRect">
            <a:avLst>
              <a:gd fmla="val 16667" name="adj"/>
            </a:avLst>
          </a:prstGeom>
          <a:solidFill>
            <a:srgbClr val="00FF94">
              <a:alpha val="25098"/>
            </a:srgbClr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365760" y="20116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SECTION 4 — MERCHANT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365760" y="521208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Popular Merchant Categories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365750" y="1115575"/>
            <a:ext cx="4114800" cy="27273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365760" y="1115568"/>
            <a:ext cx="4114800" cy="2013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475488" y="1133856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 - </a:t>
            </a:r>
            <a:r>
              <a:rPr b="1" lang="en-US" sz="8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CTE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4023360" y="1179576"/>
            <a:ext cx="73200" cy="73200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4151376" y="1179576"/>
            <a:ext cx="73200" cy="73200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4279392" y="1179576"/>
            <a:ext cx="73200" cy="73200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475500" y="1344174"/>
            <a:ext cx="38952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lang="en-US" sz="1050">
                <a:solidFill>
                  <a:srgbClr val="79C0FF"/>
                </a:solidFill>
              </a:rPr>
              <a:t>WITH MerchantPerformance AS (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SELECT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m.category,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COUNT(p.payment_id) AS payment_count,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SUM(p.amount) AS category_revenue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FROM Merchants m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LEFT JOIN Payments p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ON m.merchant_id = p.merchant_id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GROUP BY m.category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)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SELECT *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FROM MerchantPerformance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ORDER BY total_payment_value DESC;</a:t>
            </a:r>
            <a:endParaRPr b="1" sz="1050">
              <a:solidFill>
                <a:srgbClr val="79C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;</a:t>
            </a:r>
            <a:endParaRPr b="1"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65760" y="3940891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365760" y="3940891"/>
            <a:ext cx="54900" cy="3474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548640" y="3959179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Target ads around top categories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365760" y="4398091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365760" y="4398091"/>
            <a:ext cx="54900" cy="3474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548640" y="4416379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Expand partnerships in high-performing sectors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634800" y="2651858"/>
            <a:ext cx="4023300" cy="6342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634801" y="2651861"/>
            <a:ext cx="120300" cy="6342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4812950" y="2744233"/>
            <a:ext cx="37491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Food &amp; Dining is the clear popularity winner with 7 of the 16 payments (40%), but Utilities generates almost twice the revenue from only 2 payments — that's the bill-pay effect again. 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634800" y="3428775"/>
            <a:ext cx="4069800" cy="1126800"/>
          </a:xfrm>
          <a:prstGeom prst="rect">
            <a:avLst/>
          </a:prstGeom>
          <a:solidFill>
            <a:srgbClr val="141830"/>
          </a:solidFill>
          <a:ln cap="flat" cmpd="sng" w="254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751650" y="3510992"/>
            <a:ext cx="378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600"/>
              <a:buFont typeface="Calibri"/>
              <a:buNone/>
            </a:pPr>
            <a:r>
              <a:rPr b="1" lang="en-US" sz="1200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Cross Functional Benefit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675850" y="3712300"/>
            <a:ext cx="42663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Business Development -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Targets profitable merchant sectors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Marketing -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Creates category-specific campaigns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 -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 merchant-driven revenue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950" y="1176408"/>
            <a:ext cx="3316331" cy="132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00FF94">
              <a:alpha val="25098"/>
            </a:srgbClr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SECTION 4 — MERCHANT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Merchant Revenue Performance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365750" y="1115577"/>
            <a:ext cx="4023300" cy="16128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365760" y="1115568"/>
            <a:ext cx="402336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475488" y="1133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393192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405993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418795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475500" y="1344177"/>
            <a:ext cx="38040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SELECT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merchant_name,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category,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total_revenue,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total_payments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FROM MerchantPerformance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ORDER BY total_revenue DESC;</a:t>
            </a:r>
            <a:endParaRPr b="1"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365760" y="2728440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365760" y="2728440"/>
            <a:ext cx="54900" cy="3474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548640" y="2746728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Certain merchants dominate payment revenue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365760" y="3185640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365760" y="3185640"/>
            <a:ext cx="54900" cy="3474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548640" y="3203928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Top merchants are critical strategic partners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365760" y="37342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DECISIONS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65760" y="4008600"/>
            <a:ext cx="1243500" cy="502800"/>
          </a:xfrm>
          <a:prstGeom prst="rect">
            <a:avLst/>
          </a:prstGeom>
          <a:solidFill>
            <a:srgbClr val="001A0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438912" y="4026888"/>
            <a:ext cx="1097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Featured Partnerships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1755648" y="4008600"/>
            <a:ext cx="1243500" cy="502800"/>
          </a:xfrm>
          <a:prstGeom prst="rect">
            <a:avLst/>
          </a:prstGeom>
          <a:solidFill>
            <a:srgbClr val="001A0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1828800" y="4026888"/>
            <a:ext cx="1097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Co-Branded Promos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3145536" y="4008600"/>
            <a:ext cx="1243500" cy="502800"/>
          </a:xfrm>
          <a:prstGeom prst="rect">
            <a:avLst/>
          </a:prstGeom>
          <a:solidFill>
            <a:srgbClr val="001A0A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3218688" y="4026888"/>
            <a:ext cx="1097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Priority Onboarding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4579300" y="3386910"/>
            <a:ext cx="4023300" cy="15273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4579295" y="3386909"/>
            <a:ext cx="73200" cy="148110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4762200" y="3405140"/>
            <a:ext cx="3749100" cy="14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Utilities (Telenor, Lesco) sit at the top with high per-payment averages but low frequency — people pay bills once and they're done. Daily Deli is the opposite: small ticket sizes (~PKR 2K each) but the highest payment count of any merchant. From a platform-economics view, Daily Deli is more valuable than Lesco even though its total revenue is lower — those 3 payments show repeat-customer behavior, which is what you want. 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1520" y="1176528"/>
            <a:ext cx="4123848" cy="2057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FFD700">
              <a:alpha val="25098"/>
            </a:srgbClr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SECTION 5 — WALLET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365754" y="558200"/>
            <a:ext cx="419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Wallet Balance Distribution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65750" y="1115575"/>
            <a:ext cx="4114800" cy="22233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475508" y="1133850"/>
            <a:ext cx="76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 - </a:t>
            </a:r>
            <a:r>
              <a:rPr b="1" i="0" lang="en-US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0233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41513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42793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475500" y="1344176"/>
            <a:ext cx="3895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CREATE VIEW WalletDistribution AS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SELECT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u.full_name,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w.balance,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CASE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WHEN w.balance &gt;= 100000 THEN 'HIGH'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WHEN w.balance &gt;= 20000  THEN 'MEDIUM'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ELSE                          'LOW'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END AS balance_tier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FROM Users u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INNER JOIN Wallets w ON u.user_id = w.user_id;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GO</a:t>
            </a:r>
            <a:endParaRPr b="1" sz="1050">
              <a:solidFill>
                <a:srgbClr val="79C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t/>
            </a:r>
            <a:endParaRPr b="1" sz="1050">
              <a:solidFill>
                <a:srgbClr val="79C0FF"/>
              </a:solidFill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5070488" y="315757"/>
            <a:ext cx="1029600" cy="1208700"/>
          </a:xfrm>
          <a:prstGeom prst="rect">
            <a:avLst/>
          </a:prstGeom>
          <a:solidFill>
            <a:srgbClr val="141830"/>
          </a:solidFill>
          <a:ln cap="flat" cmpd="sng" w="19725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  <a:effectLst>
            <a:outerShdw blurRad="118340" rotWithShape="0" algn="bl" dir="8100000" dist="39447">
              <a:srgbClr val="000000">
                <a:alpha val="34901"/>
              </a:srgbClr>
            </a:outerShdw>
          </a:effectLst>
        </p:spPr>
        <p:txBody>
          <a:bodyPr anchorCtr="0" anchor="ctr" bIns="71000" lIns="71000" spcFirstLastPara="1" rIns="71000" wrap="square" tIns="7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7"/>
          </a:p>
        </p:txBody>
      </p:sp>
      <p:sp>
        <p:nvSpPr>
          <p:cNvPr id="303" name="Google Shape;303;p15"/>
          <p:cNvSpPr/>
          <p:nvPr/>
        </p:nvSpPr>
        <p:spPr>
          <a:xfrm>
            <a:off x="4949548" y="315765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HIGH 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5105984" y="538872"/>
            <a:ext cx="958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2485"/>
              <a:buFont typeface="Calibri"/>
              <a:buNone/>
            </a:pPr>
            <a:r>
              <a:rPr b="1" i="0" lang="en-US" sz="2485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23%</a:t>
            </a:r>
            <a:endParaRPr b="0" i="0" sz="2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5105984" y="1029137"/>
            <a:ext cx="958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of users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5"/>
          <p:cNvCxnSpPr/>
          <p:nvPr/>
        </p:nvCxnSpPr>
        <p:spPr>
          <a:xfrm>
            <a:off x="5158486" y="1277654"/>
            <a:ext cx="816600" cy="0"/>
          </a:xfrm>
          <a:prstGeom prst="straightConnector1">
            <a:avLst/>
          </a:prstGeom>
          <a:noFill/>
          <a:ln cap="flat" cmpd="sng" w="9850">
            <a:solidFill>
              <a:srgbClr val="00FF9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5"/>
          <p:cNvSpPr/>
          <p:nvPr/>
        </p:nvSpPr>
        <p:spPr>
          <a:xfrm>
            <a:off x="5076834" y="1277658"/>
            <a:ext cx="958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Premium users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6220763" y="315757"/>
            <a:ext cx="1029600" cy="1281300"/>
          </a:xfrm>
          <a:prstGeom prst="rect">
            <a:avLst/>
          </a:prstGeom>
          <a:solidFill>
            <a:srgbClr val="141830"/>
          </a:solidFill>
          <a:ln cap="flat" cmpd="sng" w="197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18340" rotWithShape="0" algn="bl" dir="8100000" dist="39447">
              <a:srgbClr val="000000">
                <a:alpha val="34901"/>
              </a:srgbClr>
            </a:outerShdw>
          </a:effectLst>
        </p:spPr>
        <p:txBody>
          <a:bodyPr anchorCtr="0" anchor="ctr" bIns="71000" lIns="71000" spcFirstLastPara="1" rIns="71000" wrap="square" tIns="7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7"/>
          </a:p>
        </p:txBody>
      </p:sp>
      <p:sp>
        <p:nvSpPr>
          <p:cNvPr id="309" name="Google Shape;309;p15"/>
          <p:cNvSpPr/>
          <p:nvPr/>
        </p:nvSpPr>
        <p:spPr>
          <a:xfrm>
            <a:off x="6216351" y="315764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MID 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6256248" y="538872"/>
            <a:ext cx="958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485"/>
              <a:buFont typeface="Calibri"/>
              <a:buNone/>
            </a:pPr>
            <a:r>
              <a:rPr b="1" i="0" lang="en-US" sz="24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2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6256248" y="1029137"/>
            <a:ext cx="958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of users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5"/>
          <p:cNvCxnSpPr/>
          <p:nvPr/>
        </p:nvCxnSpPr>
        <p:spPr>
          <a:xfrm>
            <a:off x="6308750" y="1277654"/>
            <a:ext cx="816600" cy="0"/>
          </a:xfrm>
          <a:prstGeom prst="straightConnector1">
            <a:avLst/>
          </a:prstGeom>
          <a:noFill/>
          <a:ln cap="flat" cmpd="sng" w="985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5"/>
          <p:cNvSpPr/>
          <p:nvPr/>
        </p:nvSpPr>
        <p:spPr>
          <a:xfrm>
            <a:off x="6237788" y="1286130"/>
            <a:ext cx="9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Active users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7371013" y="315607"/>
            <a:ext cx="1029600" cy="1281300"/>
          </a:xfrm>
          <a:prstGeom prst="rect">
            <a:avLst/>
          </a:prstGeom>
          <a:solidFill>
            <a:srgbClr val="141830"/>
          </a:solidFill>
          <a:ln cap="flat" cmpd="sng" w="19725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18340" rotWithShape="0" algn="bl" dir="8100000" dist="39447">
              <a:srgbClr val="000000">
                <a:alpha val="34901"/>
              </a:srgbClr>
            </a:outerShdw>
          </a:effectLst>
        </p:spPr>
        <p:txBody>
          <a:bodyPr anchorCtr="0" anchor="ctr" bIns="71000" lIns="71000" spcFirstLastPara="1" rIns="71000" wrap="square" tIns="7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7214504" y="315766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LOW 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7406513" y="589156"/>
            <a:ext cx="958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485"/>
              <a:buFont typeface="Calibri"/>
              <a:buNone/>
            </a:pPr>
            <a:r>
              <a:rPr b="1" i="0" lang="en-US" sz="2485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32%</a:t>
            </a:r>
            <a:endParaRPr b="0" i="0" sz="2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7406513" y="1029137"/>
            <a:ext cx="958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of users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5"/>
          <p:cNvCxnSpPr/>
          <p:nvPr/>
        </p:nvCxnSpPr>
        <p:spPr>
          <a:xfrm>
            <a:off x="7459015" y="1277654"/>
            <a:ext cx="816600" cy="0"/>
          </a:xfrm>
          <a:prstGeom prst="straightConnector1">
            <a:avLst/>
          </a:prstGeom>
          <a:noFill/>
          <a:ln cap="flat" cmpd="sng" w="9850">
            <a:solidFill>
              <a:srgbClr val="FF6B9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5"/>
          <p:cNvSpPr/>
          <p:nvPr/>
        </p:nvSpPr>
        <p:spPr>
          <a:xfrm>
            <a:off x="7352505" y="1277619"/>
            <a:ext cx="958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At-risk users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5007910" y="3375246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5007910" y="3398046"/>
            <a:ext cx="54900" cy="3474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5190790" y="3393534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HIGH-tier users hold significant liquidity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5007910" y="3832446"/>
            <a:ext cx="40233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 flipH="1">
            <a:off x="5007890" y="3809638"/>
            <a:ext cx="54900" cy="3474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5190790" y="3850734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LOW-tier users risk inactivity &amp; churn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365760" y="3540011"/>
            <a:ext cx="1243500" cy="502800"/>
          </a:xfrm>
          <a:prstGeom prst="rect">
            <a:avLst/>
          </a:prstGeom>
          <a:solidFill>
            <a:srgbClr val="1A14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438912" y="3558299"/>
            <a:ext cx="1097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Savings Products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1755648" y="3540011"/>
            <a:ext cx="1243500" cy="502800"/>
          </a:xfrm>
          <a:prstGeom prst="rect">
            <a:avLst/>
          </a:prstGeom>
          <a:solidFill>
            <a:srgbClr val="1A14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828800" y="3558299"/>
            <a:ext cx="1097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Investment Features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3145536" y="3540011"/>
            <a:ext cx="1243500" cy="502800"/>
          </a:xfrm>
          <a:prstGeom prst="rect">
            <a:avLst/>
          </a:prstGeom>
          <a:solidFill>
            <a:srgbClr val="1A14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3218688" y="3558299"/>
            <a:ext cx="1097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Top-up Rewards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65748" y="4244029"/>
            <a:ext cx="5000700" cy="6702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365744" y="4244029"/>
            <a:ext cx="73200" cy="6702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548653" y="4262291"/>
            <a:ext cx="4794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20% of users (Harris + Ibrahim) hold ~57% of the platform's funds (370K out of 646K). The LOW tier has 40% of users but just 7.5% of total balance — these are the engagement-risk accounts to target with top-up incentives. 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538" y="1949900"/>
            <a:ext cx="296227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7680950" y="-2821925"/>
            <a:ext cx="4572000" cy="4572000"/>
          </a:xfrm>
          <a:prstGeom prst="ellipse">
            <a:avLst/>
          </a:prstGeom>
          <a:solidFill>
            <a:srgbClr val="FF6B9D">
              <a:alpha val="7843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FF6B9D">
              <a:alpha val="25098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SECTION 3 — SPENDING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Spending Behavior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342900" y="1069826"/>
            <a:ext cx="4572000" cy="19020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365760" y="1115568"/>
            <a:ext cx="45720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475488" y="1133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44805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6085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47365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475500" y="1344176"/>
            <a:ext cx="4352400" cy="15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SELECT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u.full_name,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SUM(t.amount) AS total_spent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FROM Users u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INNER JOIN Wallets w ON u.user_id = w.user_id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INNER JOIN Transactions t ON w.wallet_id = t.wallet_id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WHERE t.txn_type IN ('debit', 'transfer_out')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GROUP BY u.user_id, u.full_name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ORDER BY total_spent DESC;</a:t>
            </a:r>
            <a:endParaRPr b="1"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365760" y="2971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Heavy spenders are highly valuable users.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365760" y="3291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Spending patterns reveal customer behavior segments.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365760" y="3794760"/>
            <a:ext cx="1417320" cy="77724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438912" y="3813048"/>
            <a:ext cx="127101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Merchant Discount Partnerships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920240" y="3794760"/>
            <a:ext cx="1417320" cy="77724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1993392" y="3813048"/>
            <a:ext cx="127101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Cashback Campaigns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3474720" y="3794760"/>
            <a:ext cx="1417320" cy="77724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3547872" y="3813048"/>
            <a:ext cx="127101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Personalized Promotions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5102375" y="3291850"/>
            <a:ext cx="3841500" cy="13986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5195750" y="3217825"/>
            <a:ext cx="38415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</a:rPr>
              <a:t>Harris's PKR 60K business payment + PKR 2,500 shopping debit makes him the heaviest spender. Ezaan and Shameer don't appear because they have no debits or outgoing transfers in the seed data. Real takeaway — volume rankings flatter users who just receive money; spending rankings show who's actually using the wallet to </a:t>
            </a:r>
            <a:r>
              <a:rPr b="1" i="1" lang="en-US" sz="1000">
                <a:solidFill>
                  <a:schemeClr val="lt1"/>
                </a:solidFill>
              </a:rPr>
              <a:t>pay</a:t>
            </a:r>
            <a:r>
              <a:rPr b="1" lang="en-US" sz="1000">
                <a:solidFill>
                  <a:schemeClr val="lt1"/>
                </a:solidFill>
              </a:rPr>
              <a:t> for things. </a:t>
            </a:r>
            <a:endParaRPr b="1" i="0" sz="9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5591235" y="841368"/>
            <a:ext cx="2011800" cy="274200"/>
          </a:xfrm>
          <a:prstGeom prst="roundRect">
            <a:avLst>
              <a:gd fmla="val 16667" name="adj"/>
            </a:avLst>
          </a:prstGeom>
          <a:solidFill>
            <a:srgbClr val="FF6B9D">
              <a:alpha val="25099"/>
            </a:srgbClr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5591235" y="84136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Debit + transfer_out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785" y="1344168"/>
            <a:ext cx="2102685" cy="179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"/>
          <p:cNvSpPr/>
          <p:nvPr/>
        </p:nvSpPr>
        <p:spPr>
          <a:xfrm>
            <a:off x="7310825" y="-3547875"/>
            <a:ext cx="4572000" cy="4572000"/>
          </a:xfrm>
          <a:prstGeom prst="ellipse">
            <a:avLst/>
          </a:prstGeom>
          <a:solidFill>
            <a:srgbClr val="00D4FF">
              <a:alpha val="7843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SECTION 7 — MONTHLY TREND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Platform Growth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365750" y="1115572"/>
            <a:ext cx="3657600" cy="23874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365760" y="1115568"/>
            <a:ext cx="36576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475488" y="1133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 - </a:t>
            </a:r>
            <a:r>
              <a:rPr b="1" i="0" lang="en-US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CTE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35661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36941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38221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475500" y="1344191"/>
            <a:ext cx="34380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WITH MonthlyTransactions AS (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SELECT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YEAR(txn_date)  AS transaction_year,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MONTH(txn_date) AS transaction_month,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COUNT(txn_id)   AS total_transactions,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    SUM(amount)     AS total_volume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FROM Transactions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    GROUP BY YEAR(txn_date), MONTH(txn_date)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)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SELECT *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FROM MonthlyTransactions</a:t>
            </a:r>
            <a:endParaRPr b="1" sz="1050">
              <a:solidFill>
                <a:srgbClr val="79C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</a:rPr>
              <a:t>ORDER BY transaction_year, transaction_month;</a:t>
            </a:r>
            <a:endParaRPr b="1" sz="1050">
              <a:solidFill>
                <a:srgbClr val="79C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t/>
            </a:r>
            <a:endParaRPr b="1" sz="1050">
              <a:solidFill>
                <a:srgbClr val="79C0FF"/>
              </a:solidFill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365760" y="3611157"/>
            <a:ext cx="36120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365760" y="3611157"/>
            <a:ext cx="54900" cy="347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548640" y="3629445"/>
            <a:ext cx="333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950"/>
              <a:buFont typeface="Calibri"/>
              <a:buNone/>
            </a:pPr>
            <a:r>
              <a:rPr b="1" i="0" lang="en-US" sz="105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Transaction volume &amp; active users grow monthly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65760" y="4068357"/>
            <a:ext cx="3612000" cy="3474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365760" y="4068357"/>
            <a:ext cx="54900" cy="347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548640" y="4086645"/>
            <a:ext cx="333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950"/>
              <a:buFont typeface="Calibri"/>
              <a:buNone/>
            </a:pPr>
            <a:r>
              <a:rPr b="1" i="0" lang="en-US" sz="105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Strong growth momentum validates platform-market fit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668435" y="2883140"/>
            <a:ext cx="1097400" cy="502800"/>
          </a:xfrm>
          <a:prstGeom prst="rect">
            <a:avLst/>
          </a:prstGeom>
          <a:solidFill>
            <a:srgbClr val="001022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4741587" y="2901428"/>
            <a:ext cx="95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Scale Infrastructure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5930307" y="2883140"/>
            <a:ext cx="1097400" cy="502800"/>
          </a:xfrm>
          <a:prstGeom prst="rect">
            <a:avLst/>
          </a:prstGeom>
          <a:solidFill>
            <a:srgbClr val="001022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6003459" y="2901428"/>
            <a:ext cx="95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Growth Marketing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7192179" y="2883140"/>
            <a:ext cx="1097400" cy="502800"/>
          </a:xfrm>
          <a:prstGeom prst="rect">
            <a:avLst/>
          </a:prstGeom>
          <a:solidFill>
            <a:srgbClr val="001022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7265331" y="2901428"/>
            <a:ext cx="95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Expand Support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4400125" y="2132502"/>
            <a:ext cx="4367100" cy="589500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1A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4326928" y="2132502"/>
            <a:ext cx="108000" cy="589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4583125" y="2195950"/>
            <a:ext cx="4184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950"/>
              <a:buFont typeface="Calibri"/>
              <a:buNone/>
            </a:pPr>
            <a:r>
              <a:rPr b="1" lang="en-US" sz="1050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Consistent positive growth across every metric, every month — that's the picture you want.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4666823" y="3606950"/>
            <a:ext cx="3636300" cy="1017900"/>
          </a:xfrm>
          <a:prstGeom prst="rect">
            <a:avLst/>
          </a:prstGeom>
          <a:solidFill>
            <a:srgbClr val="141830"/>
          </a:solidFill>
          <a:ln cap="flat" cmpd="sng" w="254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4809916" y="3689150"/>
            <a:ext cx="2780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600"/>
              <a:buFont typeface="Calibri"/>
              <a:buNone/>
            </a:pPr>
            <a:r>
              <a:rPr b="1" lang="en-US" sz="1200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Cross Functional Benefit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4583122" y="3929675"/>
            <a:ext cx="363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Tracks platform financial growth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Prepares Infrastructure for high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periods.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●"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Executives -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Supports strategic forecasting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913" y="831799"/>
            <a:ext cx="3734725" cy="120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SECTION 7 — MONTHLY TREND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City-Level Performance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365750" y="1115576"/>
            <a:ext cx="3657600" cy="10887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365760" y="1115568"/>
            <a:ext cx="3657600" cy="20116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475488" y="1133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3566160" y="1179576"/>
            <a:ext cx="73152" cy="73152"/>
          </a:xfrm>
          <a:prstGeom prst="ellipse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3694176" y="1179576"/>
            <a:ext cx="73152" cy="7315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3822192" y="1179576"/>
            <a:ext cx="73152" cy="73152"/>
          </a:xfrm>
          <a:prstGeom prst="ellipse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475488" y="1344168"/>
            <a:ext cx="34381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SELECT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city_name,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transaction_month,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  transaction_volume</a:t>
            </a:r>
            <a:endParaRPr b="1"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8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9C0FF"/>
                </a:solidFill>
              </a:rPr>
              <a:t>FROM CityTransactions;</a:t>
            </a:r>
            <a:endParaRPr b="1"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365750" y="2481340"/>
            <a:ext cx="3566100" cy="243270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393349" y="2535043"/>
            <a:ext cx="3510900" cy="25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Karachi alone contributes ~38% of total platform volume (2.6M out of 6.7M cumulative).Bigger cities aren't just bigger — they're slightly more </a:t>
            </a:r>
            <a:r>
              <a:rPr b="1" i="1" lang="en-US" sz="1000">
                <a:solidFill>
                  <a:schemeClr val="lt1"/>
                </a:solidFill>
              </a:rPr>
              <a:t>intensive</a:t>
            </a:r>
            <a:r>
              <a:rPr b="1" lang="en-US" sz="1000">
                <a:solidFill>
                  <a:schemeClr val="lt1"/>
                </a:solidFill>
              </a:rPr>
              <a:t> per user, which suggests urban network effects (more merchants accepting PayLoop locally → more reasons for each user to transact).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Faisalabad and Rawalpindi are the under-penetrated markets. If marketing budget is constrained, doubling down on Karachi makes sense for short-term volume; expanding aggressively in Faisalabad makes sense for long-term</a:t>
            </a:r>
            <a:endParaRPr b="1" sz="1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1710808" y="2260461"/>
            <a:ext cx="876000" cy="164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4"/>
                </a:solidFill>
              </a:rPr>
              <a:t>Insight</a:t>
            </a:r>
            <a:endParaRPr b="1">
              <a:solidFill>
                <a:schemeClr val="accent4"/>
              </a:solidFill>
            </a:endParaRPr>
          </a:p>
        </p:txBody>
      </p:sp>
      <p:pic>
        <p:nvPicPr>
          <p:cNvPr id="418" name="Google Shape;4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250" y="1179575"/>
            <a:ext cx="3720125" cy="26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C63FF">
              <a:alpha val="10196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6C63FF">
              <a:alpha val="25098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SECTION 9 — FINAL BUSINESS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Strategic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365760" y="1188720"/>
            <a:ext cx="4160520" cy="96012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548640" y="12618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High-Value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548640" y="157276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Drive majority of platform liquidity and transactions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4800600" y="1188720"/>
            <a:ext cx="4160520" cy="96012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4800600" y="1188720"/>
            <a:ext cx="64008" cy="960120"/>
          </a:xfrm>
          <a:prstGeom prst="rect">
            <a:avLst/>
          </a:prstGeom>
          <a:solidFill>
            <a:srgbClr val="00FF94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4983480" y="12618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Merchant Partners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4983480" y="157276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Strategic relationships fuel revenue growth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365760" y="2286000"/>
            <a:ext cx="4160520" cy="96012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365760" y="2286000"/>
            <a:ext cx="64008" cy="960120"/>
          </a:xfrm>
          <a:prstGeom prst="rect">
            <a:avLst/>
          </a:prstGeom>
          <a:solidFill>
            <a:srgbClr val="FF6B9D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548640" y="235915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Fraud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48640" y="267004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Large transfers require automated risk scoring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4800600" y="2286000"/>
            <a:ext cx="4160520" cy="96012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4800600" y="2286000"/>
            <a:ext cx="64008" cy="960120"/>
          </a:xfrm>
          <a:prstGeom prst="rect">
            <a:avLst/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4983480" y="235915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Monthly Growth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4983480" y="267004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Transaction volume accelerating month-over-month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365760" y="3383280"/>
            <a:ext cx="4160520" cy="96012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365760" y="3383280"/>
            <a:ext cx="64008" cy="96012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548640" y="34564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Wallet Segments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548640" y="37673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Tier-based personalization enables targeted products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800600" y="3383280"/>
            <a:ext cx="4160520" cy="960120"/>
          </a:xfrm>
          <a:prstGeom prst="rect">
            <a:avLst/>
          </a:prstGeom>
          <a:solidFill>
            <a:srgbClr val="141830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4800600" y="3383280"/>
            <a:ext cx="64008" cy="9601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4983480" y="34564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Regional 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4983480" y="37673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Karachi &amp; Lahore present biggest growth opportunities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0D4FF">
              <a:alpha val="7843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365760" y="201168"/>
            <a:ext cx="2011680" cy="274320"/>
          </a:xfrm>
          <a:prstGeom prst="roundRect">
            <a:avLst>
              <a:gd fmla="val 16667" name="adj"/>
            </a:avLst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SECTION 9 — STRATEGIC 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365760" y="5212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320040" y="1188720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>
            <a:off x="411480" y="123444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20"/>
          <p:cNvCxnSpPr/>
          <p:nvPr/>
        </p:nvCxnSpPr>
        <p:spPr>
          <a:xfrm>
            <a:off x="868680" y="1298448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6C63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20"/>
          <p:cNvSpPr/>
          <p:nvPr/>
        </p:nvSpPr>
        <p:spPr>
          <a:xfrm>
            <a:off x="978408" y="124358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Loyalty Programs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978408" y="151790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Launch VIP tiers with cashback, rewards points, and premium support for top users.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4754880" y="1188720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4846320" y="123444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20"/>
          <p:cNvCxnSpPr/>
          <p:nvPr/>
        </p:nvCxnSpPr>
        <p:spPr>
          <a:xfrm>
            <a:off x="5303520" y="1298448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00FF9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20"/>
          <p:cNvSpPr/>
          <p:nvPr/>
        </p:nvSpPr>
        <p:spPr>
          <a:xfrm>
            <a:off x="5413248" y="124358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Merchant Partnerships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5413248" y="151790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Co-branded promotions and featured placement for top-performing merchant categories.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320040" y="2084832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411480" y="2130552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20"/>
          <p:cNvCxnSpPr/>
          <p:nvPr/>
        </p:nvCxnSpPr>
        <p:spPr>
          <a:xfrm>
            <a:off x="868680" y="2194560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20"/>
          <p:cNvSpPr/>
          <p:nvPr/>
        </p:nvSpPr>
        <p:spPr>
          <a:xfrm>
            <a:off x="978408" y="213969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Regional Expansion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978408" y="24140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Prioritize Karachi &amp; Lahore with localized marketing and city-specific campaigns.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4754880" y="2084832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>
            <a:off x="4846320" y="2130552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20"/>
          <p:cNvCxnSpPr/>
          <p:nvPr/>
        </p:nvCxnSpPr>
        <p:spPr>
          <a:xfrm>
            <a:off x="5303520" y="2194560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FF6B9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20"/>
          <p:cNvSpPr/>
          <p:nvPr/>
        </p:nvSpPr>
        <p:spPr>
          <a:xfrm>
            <a:off x="5413248" y="213969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9D"/>
                </a:solidFill>
                <a:latin typeface="Calibri"/>
                <a:ea typeface="Calibri"/>
                <a:cs typeface="Calibri"/>
                <a:sym typeface="Calibri"/>
              </a:rPr>
              <a:t>AI Fraud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5413248" y="24140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Deploy ML-powered fraud scoring for real-time risk assessment on large transfers.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320040" y="2980944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411480" y="3026664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20"/>
          <p:cNvCxnSpPr/>
          <p:nvPr/>
        </p:nvCxnSpPr>
        <p:spPr>
          <a:xfrm>
            <a:off x="868680" y="3090672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FFD7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20"/>
          <p:cNvSpPr/>
          <p:nvPr/>
        </p:nvSpPr>
        <p:spPr>
          <a:xfrm>
            <a:off x="978408" y="303580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Financial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978408" y="331012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Introduce interest-bearing wallets, savings products, and micro-investment features.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4754880" y="2980944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4846320" y="3026664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p20"/>
          <p:cNvCxnSpPr/>
          <p:nvPr/>
        </p:nvCxnSpPr>
        <p:spPr>
          <a:xfrm>
            <a:off x="5303520" y="3090672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6C63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20"/>
          <p:cNvSpPr/>
          <p:nvPr/>
        </p:nvSpPr>
        <p:spPr>
          <a:xfrm>
            <a:off x="5413248" y="303580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Onboarding Campaigns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5413248" y="331012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Activate inactive users via push notifications, tutorials, and first-transaction bonuses.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320040" y="3877056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411480" y="3922776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20"/>
          <p:cNvCxnSpPr/>
          <p:nvPr/>
        </p:nvCxnSpPr>
        <p:spPr>
          <a:xfrm>
            <a:off x="868680" y="3986784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20"/>
          <p:cNvSpPr/>
          <p:nvPr/>
        </p:nvSpPr>
        <p:spPr>
          <a:xfrm>
            <a:off x="978408" y="393192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Infra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978408" y="42062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Scale cloud infrastructure to support accelerating monthly transaction growth.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4754880" y="3877056"/>
            <a:ext cx="4206240" cy="749808"/>
          </a:xfrm>
          <a:prstGeom prst="rect">
            <a:avLst/>
          </a:prstGeom>
          <a:solidFill>
            <a:srgbClr val="141830"/>
          </a:solidFill>
          <a:ln cap="flat" cmpd="sng" w="12700">
            <a:solidFill>
              <a:srgbClr val="00FF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0"/>
          <p:cNvSpPr/>
          <p:nvPr/>
        </p:nvSpPr>
        <p:spPr>
          <a:xfrm>
            <a:off x="4846320" y="3922776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0"/>
          <p:cNvCxnSpPr/>
          <p:nvPr/>
        </p:nvCxnSpPr>
        <p:spPr>
          <a:xfrm>
            <a:off x="5303520" y="3986784"/>
            <a:ext cx="0" cy="530352"/>
          </a:xfrm>
          <a:prstGeom prst="straightConnector1">
            <a:avLst/>
          </a:prstGeom>
          <a:noFill/>
          <a:ln cap="flat" cmpd="sng" w="12700">
            <a:solidFill>
              <a:srgbClr val="00FF9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20"/>
          <p:cNvSpPr/>
          <p:nvPr/>
        </p:nvSpPr>
        <p:spPr>
          <a:xfrm>
            <a:off x="5413248" y="393192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FF94"/>
                </a:solidFill>
                <a:latin typeface="Calibri"/>
                <a:ea typeface="Calibri"/>
                <a:cs typeface="Calibri"/>
                <a:sym typeface="Calibri"/>
              </a:rPr>
              <a:t>BI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5413248" y="42062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Build real-time executive dashboard powered by live SQL views and KPI monitoring.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6" name="Google Shape;506;p21"/>
          <p:cNvCxnSpPr/>
          <p:nvPr/>
        </p:nvCxnSpPr>
        <p:spPr>
          <a:xfrm>
            <a:off x="0" y="548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21"/>
          <p:cNvCxnSpPr/>
          <p:nvPr/>
        </p:nvCxnSpPr>
        <p:spPr>
          <a:xfrm>
            <a:off x="0" y="11887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21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21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21"/>
          <p:cNvCxnSpPr/>
          <p:nvPr/>
        </p:nvCxnSpPr>
        <p:spPr>
          <a:xfrm>
            <a:off x="0" y="3108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21"/>
          <p:cNvCxnSpPr/>
          <p:nvPr/>
        </p:nvCxnSpPr>
        <p:spPr>
          <a:xfrm>
            <a:off x="0" y="3749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21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21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6C63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21"/>
          <p:cNvSpPr/>
          <p:nvPr/>
        </p:nvSpPr>
        <p:spPr>
          <a:xfrm>
            <a:off x="548640" y="457200"/>
            <a:ext cx="8046720" cy="4206240"/>
          </a:xfrm>
          <a:prstGeom prst="rect">
            <a:avLst/>
          </a:prstGeom>
          <a:solidFill>
            <a:srgbClr val="08080F">
              <a:alpha val="70196"/>
            </a:srgbClr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PAYLOOP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21"/>
          <p:cNvCxnSpPr/>
          <p:nvPr/>
        </p:nvCxnSpPr>
        <p:spPr>
          <a:xfrm>
            <a:off x="1828800" y="141732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6C63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21"/>
          <p:cNvSpPr/>
          <p:nvPr/>
        </p:nvSpPr>
        <p:spPr>
          <a:xfrm>
            <a:off x="914400" y="1572768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2E8FF"/>
                </a:solidFill>
                <a:latin typeface="Calibri"/>
                <a:ea typeface="Calibri"/>
                <a:cs typeface="Calibri"/>
                <a:sym typeface="Calibri"/>
              </a:rPr>
              <a:t>PAYLOOP demonstrates how SQL-driven analytics and business intelligence can transform raw transactional data into meaningful strategic insights for digital wallet platforms.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21"/>
          <p:cNvCxnSpPr/>
          <p:nvPr/>
        </p:nvCxnSpPr>
        <p:spPr>
          <a:xfrm>
            <a:off x="1828800" y="2652383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p21"/>
          <p:cNvSpPr/>
          <p:nvPr/>
        </p:nvSpPr>
        <p:spPr>
          <a:xfrm>
            <a:off x="548650" y="2766049"/>
            <a:ext cx="8046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659725" y="3211223"/>
            <a:ext cx="80466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Muhammad Musa Faisal </a:t>
            </a:r>
            <a:r>
              <a:rPr b="1" i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- 24L-5522</a:t>
            </a:r>
            <a:endParaRPr b="1" i="1" sz="1500">
              <a:solidFill>
                <a:srgbClr val="6C63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Ibrahim Haider - </a:t>
            </a:r>
            <a:r>
              <a:rPr b="1" i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24L-5602</a:t>
            </a:r>
            <a:endParaRPr b="1" i="1" sz="1500">
              <a:solidFill>
                <a:srgbClr val="6C63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Muhammad Ahmed - </a:t>
            </a:r>
            <a:r>
              <a:rPr b="1" i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24L-5566</a:t>
            </a:r>
            <a:endParaRPr b="1" i="1" sz="1500">
              <a:solidFill>
                <a:srgbClr val="6C63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Muhammad Ismaeel  - </a:t>
            </a:r>
            <a:r>
              <a:rPr b="1" i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24L-5709</a:t>
            </a:r>
            <a:endParaRPr b="1" i="1" sz="1500">
              <a:solidFill>
                <a:srgbClr val="6C63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200"/>
              <a:buFont typeface="Calibri"/>
              <a:buNone/>
            </a:pPr>
            <a:r>
              <a:rPr b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Zaka Khan </a:t>
            </a:r>
            <a:r>
              <a:rPr b="1" i="1" lang="en-US" sz="1500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- 24L-5756</a:t>
            </a:r>
            <a:endParaRPr b="1" i="1" sz="1500">
              <a:solidFill>
                <a:srgbClr val="6C63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