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Montserrat"/>
      <p:regular r:id="rId40"/>
      <p:bold r:id="rId41"/>
      <p:italic r:id="rId42"/>
      <p:boldItalic r:id="rId43"/>
    </p:embeddedFont>
    <p:embeddedFont>
      <p:font typeface="Lato"/>
      <p:regular r:id="rId44"/>
      <p:bold r:id="rId45"/>
      <p:italic r:id="rId46"/>
      <p:boldItalic r:id="rId47"/>
    </p:embeddedFont>
    <p:embeddedFont>
      <p:font typeface="Arial Black"/>
      <p:regular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878187-B97F-4DE6-AE90-1C80BA82AF72}">
  <a:tblStyle styleId="{12878187-B97F-4DE6-AE90-1C80BA82AF7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20" Type="http://schemas.openxmlformats.org/officeDocument/2006/relationships/slide" Target="slides/slide14.xml"/><Relationship Id="rId42" Type="http://schemas.openxmlformats.org/officeDocument/2006/relationships/font" Target="fonts/Montserrat-italic.fntdata"/><Relationship Id="rId41" Type="http://schemas.openxmlformats.org/officeDocument/2006/relationships/font" Target="fonts/Montserrat-bold.fntdata"/><Relationship Id="rId22" Type="http://schemas.openxmlformats.org/officeDocument/2006/relationships/slide" Target="slides/slide16.xml"/><Relationship Id="rId44" Type="http://schemas.openxmlformats.org/officeDocument/2006/relationships/font" Target="fonts/Lato-regular.fntdata"/><Relationship Id="rId21" Type="http://schemas.openxmlformats.org/officeDocument/2006/relationships/slide" Target="slides/slide15.xml"/><Relationship Id="rId43" Type="http://schemas.openxmlformats.org/officeDocument/2006/relationships/font" Target="fonts/Montserrat-boldItalic.fntdata"/><Relationship Id="rId24" Type="http://schemas.openxmlformats.org/officeDocument/2006/relationships/slide" Target="slides/slide18.xml"/><Relationship Id="rId46" Type="http://schemas.openxmlformats.org/officeDocument/2006/relationships/font" Target="fonts/Lato-italic.fntdata"/><Relationship Id="rId23" Type="http://schemas.openxmlformats.org/officeDocument/2006/relationships/slide" Target="slides/slide17.xml"/><Relationship Id="rId45"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ArialBlack-regular.fntdata"/><Relationship Id="rId25" Type="http://schemas.openxmlformats.org/officeDocument/2006/relationships/slide" Target="slides/slide19.xml"/><Relationship Id="rId47" Type="http://schemas.openxmlformats.org/officeDocument/2006/relationships/font" Target="fonts/Lato-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Welcome everyone. Today we're presenting PayLoop, a complete MySQL-based digital wallet system. This is our final project for Introduction to DBMS. Our team spent significant time designing and implementing a database that handles user accounts, wallets, transactions, and merchant payments. Let's dive in.</a:t>
            </a:r>
            <a:endParaRPr/>
          </a:p>
        </p:txBody>
      </p:sp>
      <p:sp>
        <p:nvSpPr>
          <p:cNvPr id="134" name="Google Shape;134;p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Digital wallets have transformed how we handle money. They let users store funds electronically and make payments without touching physical cash. PayLoop captures the core concepts of real-world systems like PayPal and JazzCash — secure balance storage, authenticated transfers, and complete transaction histories. We're modeling the database layer that makes these platforms work.</a:t>
            </a:r>
            <a:endParaRPr/>
          </a:p>
        </p:txBody>
      </p:sp>
      <p:sp>
        <p:nvSpPr>
          <p:cNvPr id="145" name="Google Shape;145;p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The core challenge we're tackling is designing a database that accurately represents financial transactions. In financial systems, database design isn't just important — it's critical. A single data integrity issue could mean lost money or broken transactions. That's why we need constraints, proper normalization, and atomic operations. Our goal is to build something that handles real-world scenarios correctly.</a:t>
            </a:r>
            <a:endParaRPr/>
          </a:p>
        </p:txBody>
      </p:sp>
      <p:sp>
        <p:nvSpPr>
          <p:cNvPr id="168" name="Google Shape;168;p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Our objectives are clear. First, demonstrate comprehensive DBMS knowledge — we're using DDL for schema creation, DML for operations, joins for queries, plus stored procedures, triggers, and views. Second, build a properly normalized database following third normal form. Third, implement actual features users would expect: registration, transfers, payments, balance checks. And fourth, enforce data integrity at every level through constraints and validation logic.</a:t>
            </a:r>
            <a:endParaRPr/>
          </a:p>
        </p:txBody>
      </p:sp>
      <p:sp>
        <p:nvSpPr>
          <p:cNvPr id="178" name="Google Shape;178;p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Our domain is digital wallets — electronic payment systems that store monetary value and enable transactions. We're modeling the same concepts used by PayPal, Apple Pay, JazzCash, and EasyPaisa. PayLoop includes user registration, wallet management, fund deposits, peer-to-peer transfers, merchant payments, transaction history, and admin controls. It's a complete ecosystem for handling digital money.</a:t>
            </a:r>
            <a:endParaRPr/>
          </a:p>
        </p:txBody>
      </p:sp>
      <p:sp>
        <p:nvSpPr>
          <p:cNvPr id="201" name="Google Shape;201;p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These are our functional requirements — the specific operations the system must support. Users can register with unique credentials. Each user gets exactly one wallet. They can deposit funds, transfer money to other users atomically, pay merchants, check their balance, and view their complete transaction history. Every operation is recorded and traceable.</a:t>
            </a:r>
            <a:endParaRPr/>
          </a:p>
        </p:txBody>
      </p:sp>
      <p:sp>
        <p:nvSpPr>
          <p:cNvPr id="233" name="Google Shape;233;p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Non-functional requirements define how the system performs. We enforce data integrity through database constraints. Security comes from hashed passwords and access control. Reliability means atomic operations — transfers either fully succeed or fully fail. Performance is handled by automatic indexing on all keys. The normalized schema supports scalability. And maintainability comes from encapsulating logic in views and stored procedures.</a:t>
            </a:r>
            <a:endParaRPr/>
          </a:p>
        </p:txBody>
      </p:sp>
      <p:sp>
        <p:nvSpPr>
          <p:cNvPr id="268" name="Google Shape;268;p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Let's clarify our assumptions and scope. Each user gets exactly one wallet — that's a hard rule. Balances can't go negative thanks to CHECK constraints. We don't integrate with real banks or payment gateways — this is a pure database project. There's no frontend or mobile app. We support only one currency. And passwords are assumed to be hashed by an application layer before they reach the database. These constraints keep the project focused and academically appropriate.</a:t>
            </a:r>
            <a:endParaRPr/>
          </a:p>
        </p:txBody>
      </p:sp>
      <p:sp>
        <p:nvSpPr>
          <p:cNvPr id="299" name="Google Shape;299;p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Here's our entity-relationship structure. We have six core entities: Users, Wallets, Transactions, Merchants, Payments, and Admins. The key relationships are: one user to one wallet, one wallet to many transactions, one wallet to many payments, and one merchant to many payments. Every relationship is enforced through foreign keys with proper constraints.</a:t>
            </a:r>
            <a:endParaRPr/>
          </a:p>
        </p:txBody>
      </p:sp>
      <p:sp>
        <p:nvSpPr>
          <p:cNvPr id="306" name="Google Shape;306;p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Let's break down each entity. Users store account information. Wallets maintain balance for each user. Transactions log every financial event with type, amount, and timestamp. Merchants represent businesses that accept payments. Payments link customers to merchants. And Admins are privileged users with special access. Each entity has a clear purpose and well-defined attributes.</a:t>
            </a:r>
            <a:endParaRPr/>
          </a:p>
        </p:txBody>
      </p:sp>
      <p:sp>
        <p:nvSpPr>
          <p:cNvPr id="340" name="Google Shape;340;p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1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Our database schema consists of six tables. Each has a primary key, relevant foreign keys, and constraints. Users and Merchants require unique emails. Wallets enforce non-negative balances. Transactions and Payments require positive amounts. Everything is connected through proper foreign key relationships. This design follows third normal form.</a:t>
            </a:r>
            <a:endParaRPr/>
          </a:p>
        </p:txBody>
      </p:sp>
      <p:sp>
        <p:nvSpPr>
          <p:cNvPr id="370" name="Google Shape;370;p1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Business rules are enforced at the database level, not in application code. Balances can't go negative. Transaction amounts must be positive. Emails and phone numbers are unique. Foreign keys validate all relationships. We have a trigger that flags large transactions over 50,000 rupees for admin review. And default values keep the database consistent.</a:t>
            </a:r>
            <a:endParaRPr/>
          </a:p>
        </p:txBody>
      </p:sp>
      <p:sp>
        <p:nvSpPr>
          <p:cNvPr id="377" name="Google Shape;377;p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Here's how the system works step-by-step. Registration inserts a user and auto-creates their wallet. Deposits update the balance and log a credit transaction. Peer-to-peer transfers use a stored procedure that debits the sender and credits the receiver atomically. Merchant payments update the wallet and create entries in both Payments and Transactions. Balance inquiries join Users and Wallets. And transaction history is a simple SELECT with filters.</a:t>
            </a:r>
            <a:endParaRPr/>
          </a:p>
        </p:txBody>
      </p:sp>
      <p:sp>
        <p:nvSpPr>
          <p:cNvPr id="404" name="Google Shape;404;p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Here's the code for user registration. Step one inserts the user with their details. The email and phone must be unique — the database will reject duplicates. Step two creates their wallet by selecting the newly inserted user_id and setting the currency to PKR. The balance defaults to zero. It's a two-step process that happens together.</a:t>
            </a:r>
            <a:endParaRPr/>
          </a:p>
        </p:txBody>
      </p:sp>
      <p:sp>
        <p:nvSpPr>
          <p:cNvPr id="434" name="Google Shape;434;p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1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This is our transfer stored procedure. You call it with sender wallet, receiver wallet, and amount. Inside, it first checks if the sender has enough money. Then it debits the sender, credits the receiver, and logs both transactions. The key here is atomicity — either all five steps succeed or none of them do. That's how we prevent money from vanishing or appearing out of thin air.</a:t>
            </a:r>
            <a:endParaRPr/>
          </a:p>
        </p:txBody>
      </p:sp>
      <p:sp>
        <p:nvSpPr>
          <p:cNvPr id="445" name="Google Shape;445;p1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dc05a5afb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g3dc05a5afb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dc05a5afb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g3dc05a5afb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3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3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We faced several key challenges. Maintaining atomicity meant using stored procedures to group operations. Preventing overdrafts required both CHECK constraints and runtime validation. Consistency came from foreign key constraints. Normalization meant carefully designing tables to eliminate redundancy. And keeping transaction history clean meant using a single table with a type field instead of separate debit and credit tables.</a:t>
            </a:r>
            <a:endParaRPr/>
          </a:p>
        </p:txBody>
      </p:sp>
      <p:sp>
        <p:nvSpPr>
          <p:cNvPr id="589" name="Google Shape;589;p3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3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Looking forward, we have both short-term and long-term improvements. Short-term: wrap critical operations in START TRANSACTION blocks, add indexing for performance, and implement audit logging. Long-term: build a backend API, create a mobile or web frontend, integrate with real payment gateways, add multi-currency support, and enhance access control. The foundation is solid — PayLoop is ready to grow.</a:t>
            </a:r>
            <a:endParaRPr/>
          </a:p>
        </p:txBody>
      </p:sp>
      <p:sp>
        <p:nvSpPr>
          <p:cNvPr id="620" name="Google Shape;620;p3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p3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That's PayLoop — a complete MySQL-based digital wallet system. We've demonstrated comprehensive database knowledge, built a normalized schema, implemented real-world features, and created a foundation that's ready to scale. Thanks for listening, and we're happy to answer any questions.</a:t>
            </a:r>
            <a:endParaRPr/>
          </a:p>
        </p:txBody>
      </p:sp>
      <p:sp>
        <p:nvSpPr>
          <p:cNvPr id="633" name="Google Shape;633;p3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p:nvPr/>
        </p:nvSpPr>
        <p:spPr>
          <a:xfrm rot="5400000">
            <a:off x="7500300" y="505"/>
            <a:ext cx="1643700" cy="1643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 name="Google Shape;12;p3"/>
          <p:cNvGrpSpPr/>
          <p:nvPr/>
        </p:nvGrpSpPr>
        <p:grpSpPr>
          <a:xfrm>
            <a:off x="0" y="490"/>
            <a:ext cx="5153705" cy="5134399"/>
            <a:chOff x="0" y="75"/>
            <a:chExt cx="5153705" cy="5152950"/>
          </a:xfrm>
        </p:grpSpPr>
        <p:sp>
          <p:nvSpPr>
            <p:cNvPr id="13" name="Google Shape;13;p3"/>
            <p:cNvSpPr/>
            <p:nvPr/>
          </p:nvSpPr>
          <p:spPr>
            <a:xfrm rot="-5400000">
              <a:off x="455" y="-225"/>
              <a:ext cx="5152800" cy="5153700"/>
            </a:xfrm>
            <a:prstGeom prst="diagStripe">
              <a:avLst>
                <a:gd fmla="val 5000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
            <p:cNvSpPr/>
            <p:nvPr/>
          </p:nvSpPr>
          <p:spPr>
            <a:xfrm rot="-5400000">
              <a:off x="150" y="1145825"/>
              <a:ext cx="3996600" cy="3996900"/>
            </a:xfrm>
            <a:prstGeom prst="diagStripe">
              <a:avLst>
                <a:gd fmla="val 58774"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 name="Google Shape;17;p3"/>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18" name="Google Shape;18;p3"/>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9" name="Google Shape;19;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grpSp>
        <p:nvGrpSpPr>
          <p:cNvPr id="21" name="Google Shape;21;p4"/>
          <p:cNvGrpSpPr/>
          <p:nvPr/>
        </p:nvGrpSpPr>
        <p:grpSpPr>
          <a:xfrm>
            <a:off x="4406400" y="0"/>
            <a:ext cx="4737600" cy="5143065"/>
            <a:chOff x="4406400" y="0"/>
            <a:chExt cx="4737600" cy="5143065"/>
          </a:xfrm>
        </p:grpSpPr>
        <p:sp>
          <p:nvSpPr>
            <p:cNvPr id="22" name="Google Shape;22;p4"/>
            <p:cNvSpPr/>
            <p:nvPr/>
          </p:nvSpPr>
          <p:spPr>
            <a:xfrm rot="5400000">
              <a:off x="4408200" y="-1800"/>
              <a:ext cx="4734000" cy="4737600"/>
            </a:xfrm>
            <a:prstGeom prst="diagStripe">
              <a:avLst>
                <a:gd fmla="val 49469" name="adj"/>
              </a:avLst>
            </a:prstGeom>
            <a:solidFill>
              <a:schemeClr val="lt1">
                <a:alpha val="352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
            <p:cNvSpPr/>
            <p:nvPr/>
          </p:nvSpPr>
          <p:spPr>
            <a:xfrm rot="5400000">
              <a:off x="4841125" y="5700"/>
              <a:ext cx="4298100" cy="4286700"/>
            </a:xfrm>
            <a:prstGeom prst="diagStripe">
              <a:avLst>
                <a:gd fmla="val 0" name="adj"/>
              </a:avLst>
            </a:prstGeom>
            <a:solidFill>
              <a:schemeClr val="lt1">
                <a:alpha val="352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4"/>
            <p:cNvSpPr/>
            <p:nvPr/>
          </p:nvSpPr>
          <p:spPr>
            <a:xfrm rot="-5400000">
              <a:off x="5618399" y="1236468"/>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4"/>
            <p:cNvSpPr/>
            <p:nvPr/>
          </p:nvSpPr>
          <p:spPr>
            <a:xfrm flipH="1">
              <a:off x="5849857" y="1443956"/>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4"/>
            <p:cNvSpPr/>
            <p:nvPr/>
          </p:nvSpPr>
          <p:spPr>
            <a:xfrm rot="-5400000">
              <a:off x="5987081" y="2469465"/>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4"/>
            <p:cNvSpPr/>
            <p:nvPr/>
          </p:nvSpPr>
          <p:spPr>
            <a:xfrm flipH="1">
              <a:off x="6222115" y="2676953"/>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
            <p:cNvSpPr/>
            <p:nvPr/>
          </p:nvSpPr>
          <p:spPr>
            <a:xfrm rot="-5400000">
              <a:off x="6675341" y="1862018"/>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
            <p:cNvSpPr/>
            <p:nvPr/>
          </p:nvSpPr>
          <p:spPr>
            <a:xfrm rot="-5400000">
              <a:off x="6861141" y="2477810"/>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
            <p:cNvSpPr/>
            <p:nvPr/>
          </p:nvSpPr>
          <p:spPr>
            <a:xfrm flipH="1">
              <a:off x="7965266" y="2692963"/>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
            <p:cNvSpPr/>
            <p:nvPr/>
          </p:nvSpPr>
          <p:spPr>
            <a:xfrm flipH="1">
              <a:off x="8145082" y="3308755"/>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4"/>
            <p:cNvSpPr/>
            <p:nvPr/>
          </p:nvSpPr>
          <p:spPr>
            <a:xfrm rot="-5400000">
              <a:off x="7047599" y="3095015"/>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
            <p:cNvSpPr/>
            <p:nvPr/>
          </p:nvSpPr>
          <p:spPr>
            <a:xfrm flipH="1">
              <a:off x="7276649" y="3302502"/>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4"/>
            <p:cNvSpPr/>
            <p:nvPr/>
          </p:nvSpPr>
          <p:spPr>
            <a:xfrm flipH="1">
              <a:off x="7462448" y="3918294"/>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
            <p:cNvSpPr/>
            <p:nvPr/>
          </p:nvSpPr>
          <p:spPr>
            <a:xfrm rot="-5400000">
              <a:off x="8102491" y="3718473"/>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4"/>
            <p:cNvSpPr/>
            <p:nvPr/>
          </p:nvSpPr>
          <p:spPr>
            <a:xfrm flipH="1">
              <a:off x="8334533" y="3925960"/>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
            <p:cNvSpPr/>
            <p:nvPr/>
          </p:nvSpPr>
          <p:spPr>
            <a:xfrm rot="-5400000">
              <a:off x="8288290" y="4334265"/>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 name="Google Shape;40;p4"/>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2" name="Shape 42"/>
        <p:cNvGrpSpPr/>
        <p:nvPr/>
      </p:nvGrpSpPr>
      <p:grpSpPr>
        <a:xfrm>
          <a:off x="0" y="0"/>
          <a:ext cx="0" cy="0"/>
          <a:chOff x="0" y="0"/>
          <a:chExt cx="0" cy="0"/>
        </a:xfrm>
      </p:grpSpPr>
      <p:grpSp>
        <p:nvGrpSpPr>
          <p:cNvPr id="43" name="Google Shape;43;p5"/>
          <p:cNvGrpSpPr/>
          <p:nvPr/>
        </p:nvGrpSpPr>
        <p:grpSpPr>
          <a:xfrm>
            <a:off x="0" y="381001"/>
            <a:ext cx="1037850" cy="1016288"/>
            <a:chOff x="0" y="381001"/>
            <a:chExt cx="1037850" cy="1016288"/>
          </a:xfrm>
        </p:grpSpPr>
        <p:sp>
          <p:nvSpPr>
            <p:cNvPr id="44" name="Google Shape;44;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7" name="Google Shape;47;p5"/>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grpSp>
        <p:nvGrpSpPr>
          <p:cNvPr id="50" name="Google Shape;50;p6"/>
          <p:cNvGrpSpPr/>
          <p:nvPr/>
        </p:nvGrpSpPr>
        <p:grpSpPr>
          <a:xfrm>
            <a:off x="0" y="381001"/>
            <a:ext cx="1037850" cy="1016288"/>
            <a:chOff x="0" y="381001"/>
            <a:chExt cx="1037850" cy="1016288"/>
          </a:xfrm>
        </p:grpSpPr>
        <p:sp>
          <p:nvSpPr>
            <p:cNvPr id="51" name="Google Shape;51;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4" name="Google Shape;54;p6"/>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 name="Google Shape;55;p6"/>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6" name="Google Shape;5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grpSp>
        <p:nvGrpSpPr>
          <p:cNvPr id="58" name="Google Shape;58;p7"/>
          <p:cNvGrpSpPr/>
          <p:nvPr/>
        </p:nvGrpSpPr>
        <p:grpSpPr>
          <a:xfrm>
            <a:off x="0" y="381001"/>
            <a:ext cx="1037850" cy="1016288"/>
            <a:chOff x="0" y="381001"/>
            <a:chExt cx="1037850" cy="1016288"/>
          </a:xfrm>
        </p:grpSpPr>
        <p:sp>
          <p:nvSpPr>
            <p:cNvPr id="59" name="Google Shape;59;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2" name="Google Shape;6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3" name="Shape 63"/>
        <p:cNvGrpSpPr/>
        <p:nvPr/>
      </p:nvGrpSpPr>
      <p:grpSpPr>
        <a:xfrm>
          <a:off x="0" y="0"/>
          <a:ext cx="0" cy="0"/>
          <a:chOff x="0" y="0"/>
          <a:chExt cx="0" cy="0"/>
        </a:xfrm>
      </p:grpSpPr>
      <p:grpSp>
        <p:nvGrpSpPr>
          <p:cNvPr id="64" name="Google Shape;64;p8"/>
          <p:cNvGrpSpPr/>
          <p:nvPr/>
        </p:nvGrpSpPr>
        <p:grpSpPr>
          <a:xfrm>
            <a:off x="0" y="381001"/>
            <a:ext cx="1037850" cy="1016288"/>
            <a:chOff x="0" y="381001"/>
            <a:chExt cx="1037850" cy="1016288"/>
          </a:xfrm>
        </p:grpSpPr>
        <p:sp>
          <p:nvSpPr>
            <p:cNvPr id="65" name="Google Shape;65;p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7" name="Google Shape;67;p8"/>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8" name="Google Shape;68;p8"/>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0" name="Shape 70"/>
        <p:cNvGrpSpPr/>
        <p:nvPr/>
      </p:nvGrpSpPr>
      <p:grpSpPr>
        <a:xfrm>
          <a:off x="0" y="0"/>
          <a:ext cx="0" cy="0"/>
          <a:chOff x="0" y="0"/>
          <a:chExt cx="0" cy="0"/>
        </a:xfrm>
      </p:grpSpPr>
      <p:grpSp>
        <p:nvGrpSpPr>
          <p:cNvPr id="71" name="Google Shape;71;p9"/>
          <p:cNvGrpSpPr/>
          <p:nvPr/>
        </p:nvGrpSpPr>
        <p:grpSpPr>
          <a:xfrm>
            <a:off x="4406400" y="0"/>
            <a:ext cx="4737600" cy="5143500"/>
            <a:chOff x="4406400" y="0"/>
            <a:chExt cx="4737600" cy="5143500"/>
          </a:xfrm>
        </p:grpSpPr>
        <p:sp>
          <p:nvSpPr>
            <p:cNvPr id="72" name="Google Shape;72;p9"/>
            <p:cNvSpPr/>
            <p:nvPr/>
          </p:nvSpPr>
          <p:spPr>
            <a:xfrm rot="5400000">
              <a:off x="4407900" y="-1500"/>
              <a:ext cx="4734600" cy="4737600"/>
            </a:xfrm>
            <a:prstGeom prst="diagStripe">
              <a:avLst>
                <a:gd fmla="val 49469" name="adj"/>
              </a:avLst>
            </a:prstGeom>
            <a:solidFill>
              <a:schemeClr val="lt1">
                <a:alpha val="352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9"/>
            <p:cNvSpPr/>
            <p:nvPr/>
          </p:nvSpPr>
          <p:spPr>
            <a:xfrm rot="5400000">
              <a:off x="4840825" y="6000"/>
              <a:ext cx="4298700" cy="4286700"/>
            </a:xfrm>
            <a:prstGeom prst="diagStripe">
              <a:avLst>
                <a:gd fmla="val 0" name="adj"/>
              </a:avLst>
            </a:prstGeom>
            <a:solidFill>
              <a:schemeClr val="lt1">
                <a:alpha val="352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9"/>
            <p:cNvSpPr/>
            <p:nvPr/>
          </p:nvSpPr>
          <p:spPr>
            <a:xfrm rot="-5400000">
              <a:off x="5618399" y="1236641"/>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9"/>
            <p:cNvSpPr/>
            <p:nvPr/>
          </p:nvSpPr>
          <p:spPr>
            <a:xfrm flipH="1">
              <a:off x="5849857" y="1444078"/>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9"/>
            <p:cNvSpPr/>
            <p:nvPr/>
          </p:nvSpPr>
          <p:spPr>
            <a:xfrm rot="-5400000">
              <a:off x="5987081" y="2469743"/>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9"/>
            <p:cNvSpPr/>
            <p:nvPr/>
          </p:nvSpPr>
          <p:spPr>
            <a:xfrm flipH="1">
              <a:off x="6222115" y="2677179"/>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9"/>
            <p:cNvSpPr/>
            <p:nvPr/>
          </p:nvSpPr>
          <p:spPr>
            <a:xfrm rot="-5400000">
              <a:off x="6675341" y="1862244"/>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9"/>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9"/>
            <p:cNvSpPr/>
            <p:nvPr/>
          </p:nvSpPr>
          <p:spPr>
            <a:xfrm rot="-5400000">
              <a:off x="6861141" y="2478088"/>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9"/>
            <p:cNvSpPr/>
            <p:nvPr/>
          </p:nvSpPr>
          <p:spPr>
            <a:xfrm flipH="1">
              <a:off x="7965266" y="2693191"/>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9"/>
            <p:cNvSpPr/>
            <p:nvPr/>
          </p:nvSpPr>
          <p:spPr>
            <a:xfrm flipH="1">
              <a:off x="8145082" y="3309036"/>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9"/>
            <p:cNvSpPr/>
            <p:nvPr/>
          </p:nvSpPr>
          <p:spPr>
            <a:xfrm rot="-5400000">
              <a:off x="7047599" y="3095345"/>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9"/>
            <p:cNvSpPr/>
            <p:nvPr/>
          </p:nvSpPr>
          <p:spPr>
            <a:xfrm flipH="1">
              <a:off x="7276649" y="3302781"/>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9"/>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9"/>
            <p:cNvSpPr/>
            <p:nvPr/>
          </p:nvSpPr>
          <p:spPr>
            <a:xfrm flipH="1">
              <a:off x="7462448" y="3918625"/>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9"/>
            <p:cNvSpPr/>
            <p:nvPr/>
          </p:nvSpPr>
          <p:spPr>
            <a:xfrm rot="-5400000">
              <a:off x="8102491" y="3718856"/>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9"/>
            <p:cNvSpPr/>
            <p:nvPr/>
          </p:nvSpPr>
          <p:spPr>
            <a:xfrm flipH="1">
              <a:off x="8334533" y="3926292"/>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9"/>
            <p:cNvSpPr/>
            <p:nvPr/>
          </p:nvSpPr>
          <p:spPr>
            <a:xfrm rot="-5400000">
              <a:off x="8288290" y="4334700"/>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p9"/>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1" name="Google Shape;91;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2" name="Shape 92"/>
        <p:cNvGrpSpPr/>
        <p:nvPr/>
      </p:nvGrpSpPr>
      <p:grpSpPr>
        <a:xfrm>
          <a:off x="0" y="0"/>
          <a:ext cx="0" cy="0"/>
          <a:chOff x="0" y="0"/>
          <a:chExt cx="0" cy="0"/>
        </a:xfrm>
      </p:grpSpPr>
      <p:grpSp>
        <p:nvGrpSpPr>
          <p:cNvPr id="93" name="Google Shape;93;p10"/>
          <p:cNvGrpSpPr/>
          <p:nvPr/>
        </p:nvGrpSpPr>
        <p:grpSpPr>
          <a:xfrm>
            <a:off x="0" y="381001"/>
            <a:ext cx="1037850" cy="1016288"/>
            <a:chOff x="0" y="381001"/>
            <a:chExt cx="1037850" cy="1016288"/>
          </a:xfrm>
        </p:grpSpPr>
        <p:sp>
          <p:nvSpPr>
            <p:cNvPr id="94" name="Google Shape;94;p1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 name="Google Shape;96;p10"/>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7" name="Google Shape;97;p10"/>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98" name="Google Shape;98;p10"/>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9" name="Google Shape;99;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grpSp>
        <p:nvGrpSpPr>
          <p:cNvPr id="101" name="Google Shape;101;p11"/>
          <p:cNvGrpSpPr/>
          <p:nvPr/>
        </p:nvGrpSpPr>
        <p:grpSpPr>
          <a:xfrm>
            <a:off x="0" y="4128572"/>
            <a:ext cx="698925" cy="684657"/>
            <a:chOff x="0" y="3785672"/>
            <a:chExt cx="698925" cy="684657"/>
          </a:xfrm>
        </p:grpSpPr>
        <p:sp>
          <p:nvSpPr>
            <p:cNvPr id="102" name="Google Shape;102;p11"/>
            <p:cNvSpPr/>
            <p:nvPr/>
          </p:nvSpPr>
          <p:spPr>
            <a:xfrm rot="-5400000">
              <a:off x="0" y="3785672"/>
              <a:ext cx="544800" cy="544800"/>
            </a:xfrm>
            <a:prstGeom prst="diagStripe">
              <a:avLst>
                <a:gd fmla="val 50000" name="adj"/>
              </a:avLst>
            </a:prstGeom>
            <a:solidFill>
              <a:schemeClr val="lt1">
                <a:alpha val="980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1"/>
            <p:cNvSpPr/>
            <p:nvPr/>
          </p:nvSpPr>
          <p:spPr>
            <a:xfrm flipH="1">
              <a:off x="154125" y="3925529"/>
              <a:ext cx="544800" cy="544800"/>
            </a:xfrm>
            <a:prstGeom prst="diagStripe">
              <a:avLst>
                <a:gd fmla="val 50000" name="adj"/>
              </a:avLst>
            </a:prstGeom>
            <a:solidFill>
              <a:schemeClr val="lt1">
                <a:alpha val="980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4" name="Google Shape;104;p11"/>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5" name="Google Shape;10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6" name="Shape 106"/>
        <p:cNvGrpSpPr/>
        <p:nvPr/>
      </p:nvGrpSpPr>
      <p:grpSpPr>
        <a:xfrm>
          <a:off x="0" y="0"/>
          <a:ext cx="0" cy="0"/>
          <a:chOff x="0" y="0"/>
          <a:chExt cx="0" cy="0"/>
        </a:xfrm>
      </p:grpSpPr>
      <p:grpSp>
        <p:nvGrpSpPr>
          <p:cNvPr id="107" name="Google Shape;107;p12"/>
          <p:cNvGrpSpPr/>
          <p:nvPr/>
        </p:nvGrpSpPr>
        <p:grpSpPr>
          <a:xfrm>
            <a:off x="4406400" y="0"/>
            <a:ext cx="4737600" cy="5143065"/>
            <a:chOff x="4406400" y="0"/>
            <a:chExt cx="4737600" cy="5143065"/>
          </a:xfrm>
        </p:grpSpPr>
        <p:sp>
          <p:nvSpPr>
            <p:cNvPr id="108" name="Google Shape;108;p12"/>
            <p:cNvSpPr/>
            <p:nvPr/>
          </p:nvSpPr>
          <p:spPr>
            <a:xfrm rot="5400000">
              <a:off x="4408200" y="-1800"/>
              <a:ext cx="4734000" cy="4737600"/>
            </a:xfrm>
            <a:prstGeom prst="diagStripe">
              <a:avLst>
                <a:gd fmla="val 49469" name="adj"/>
              </a:avLst>
            </a:prstGeom>
            <a:solidFill>
              <a:schemeClr val="lt1">
                <a:alpha val="352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2"/>
            <p:cNvSpPr/>
            <p:nvPr/>
          </p:nvSpPr>
          <p:spPr>
            <a:xfrm rot="5400000">
              <a:off x="4841125" y="5700"/>
              <a:ext cx="4298100" cy="4286700"/>
            </a:xfrm>
            <a:prstGeom prst="diagStripe">
              <a:avLst>
                <a:gd fmla="val 0" name="adj"/>
              </a:avLst>
            </a:prstGeom>
            <a:solidFill>
              <a:schemeClr val="lt1">
                <a:alpha val="352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2"/>
            <p:cNvSpPr/>
            <p:nvPr/>
          </p:nvSpPr>
          <p:spPr>
            <a:xfrm rot="-5400000">
              <a:off x="5618399" y="1236468"/>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2"/>
            <p:cNvSpPr/>
            <p:nvPr/>
          </p:nvSpPr>
          <p:spPr>
            <a:xfrm flipH="1">
              <a:off x="5849857" y="1443956"/>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2"/>
            <p:cNvSpPr/>
            <p:nvPr/>
          </p:nvSpPr>
          <p:spPr>
            <a:xfrm rot="-5400000">
              <a:off x="5987081" y="2469465"/>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2"/>
            <p:cNvSpPr/>
            <p:nvPr/>
          </p:nvSpPr>
          <p:spPr>
            <a:xfrm flipH="1">
              <a:off x="6222115" y="2676953"/>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2"/>
            <p:cNvSpPr/>
            <p:nvPr/>
          </p:nvSpPr>
          <p:spPr>
            <a:xfrm rot="-5400000">
              <a:off x="6675341" y="1862018"/>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2"/>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2"/>
            <p:cNvSpPr/>
            <p:nvPr/>
          </p:nvSpPr>
          <p:spPr>
            <a:xfrm rot="-5400000">
              <a:off x="6861141" y="2477810"/>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2"/>
            <p:cNvSpPr/>
            <p:nvPr/>
          </p:nvSpPr>
          <p:spPr>
            <a:xfrm flipH="1">
              <a:off x="7965266" y="2692963"/>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2"/>
            <p:cNvSpPr/>
            <p:nvPr/>
          </p:nvSpPr>
          <p:spPr>
            <a:xfrm flipH="1">
              <a:off x="8145082" y="3308755"/>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2"/>
            <p:cNvSpPr/>
            <p:nvPr/>
          </p:nvSpPr>
          <p:spPr>
            <a:xfrm rot="-5400000">
              <a:off x="7047599" y="3095015"/>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2"/>
            <p:cNvSpPr/>
            <p:nvPr/>
          </p:nvSpPr>
          <p:spPr>
            <a:xfrm flipH="1">
              <a:off x="7276649" y="3302502"/>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2"/>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2"/>
            <p:cNvSpPr/>
            <p:nvPr/>
          </p:nvSpPr>
          <p:spPr>
            <a:xfrm flipH="1">
              <a:off x="7462448" y="3918294"/>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2"/>
            <p:cNvSpPr/>
            <p:nvPr/>
          </p:nvSpPr>
          <p:spPr>
            <a:xfrm rot="-5400000">
              <a:off x="8102491" y="3718473"/>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2"/>
            <p:cNvSpPr/>
            <p:nvPr/>
          </p:nvSpPr>
          <p:spPr>
            <a:xfrm flipH="1">
              <a:off x="8334533" y="3925960"/>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2"/>
            <p:cNvSpPr/>
            <p:nvPr/>
          </p:nvSpPr>
          <p:spPr>
            <a:xfrm rot="-5400000">
              <a:off x="8288290" y="4334265"/>
              <a:ext cx="808800" cy="808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6" name="Google Shape;126;p12"/>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27" name="Google Shape;127;p12"/>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28" name="Google Shape;12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0"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3.png"/><Relationship Id="rId8"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2.png"/><Relationship Id="rId8"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13.png"/><Relationship Id="rId7" Type="http://schemas.openxmlformats.org/officeDocument/2006/relationships/image" Target="../media/image3.png"/><Relationship Id="rId8"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13.png"/><Relationship Id="rId7" Type="http://schemas.openxmlformats.org/officeDocument/2006/relationships/image" Target="../media/image3.png"/><Relationship Id="rId8"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drive.google.com/file/d/1zTT8JPwgzc3y6HstGtqepdFDexNt8H5D/view" TargetMode="Externa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4"/>
          <p:cNvSpPr/>
          <p:nvPr/>
        </p:nvSpPr>
        <p:spPr>
          <a:xfrm>
            <a:off x="0" y="0"/>
            <a:ext cx="9144000" cy="2286000"/>
          </a:xfrm>
          <a:prstGeom prst="rect">
            <a:avLst/>
          </a:prstGeom>
          <a:solidFill>
            <a:srgbClr val="02809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7" name="Google Shape;137;p14"/>
          <p:cNvPicPr preferRelativeResize="0"/>
          <p:nvPr/>
        </p:nvPicPr>
        <p:blipFill rotWithShape="1">
          <a:blip r:embed="rId3">
            <a:alphaModFix/>
          </a:blip>
          <a:srcRect b="0" l="0" r="0" t="0"/>
          <a:stretch/>
        </p:blipFill>
        <p:spPr>
          <a:xfrm>
            <a:off x="4206240" y="1066626"/>
            <a:ext cx="731520" cy="731520"/>
          </a:xfrm>
          <a:prstGeom prst="rect">
            <a:avLst/>
          </a:prstGeom>
          <a:noFill/>
          <a:ln>
            <a:noFill/>
          </a:ln>
        </p:spPr>
      </p:pic>
      <p:sp>
        <p:nvSpPr>
          <p:cNvPr id="138" name="Google Shape;138;p14"/>
          <p:cNvSpPr/>
          <p:nvPr/>
        </p:nvSpPr>
        <p:spPr>
          <a:xfrm>
            <a:off x="457200" y="1868278"/>
            <a:ext cx="8229600" cy="731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6000"/>
              <a:buFont typeface="Arial Black"/>
              <a:buNone/>
            </a:pPr>
            <a:r>
              <a:rPr b="1" i="0" lang="en-GB" sz="6000" u="none" cap="none" strike="noStrike">
                <a:solidFill>
                  <a:srgbClr val="FFFFFF"/>
                </a:solidFill>
                <a:latin typeface="Arial Black"/>
                <a:ea typeface="Arial Black"/>
                <a:cs typeface="Arial Black"/>
                <a:sym typeface="Arial Black"/>
              </a:rPr>
              <a:t>PayLoop</a:t>
            </a:r>
            <a:endParaRPr b="0" i="0" sz="6000" u="none" cap="none" strike="noStrike">
              <a:solidFill>
                <a:schemeClr val="dk1"/>
              </a:solidFill>
              <a:latin typeface="Calibri"/>
              <a:ea typeface="Calibri"/>
              <a:cs typeface="Calibri"/>
              <a:sym typeface="Calibri"/>
            </a:endParaRPr>
          </a:p>
        </p:txBody>
      </p:sp>
      <p:sp>
        <p:nvSpPr>
          <p:cNvPr id="139" name="Google Shape;139;p14"/>
          <p:cNvSpPr/>
          <p:nvPr/>
        </p:nvSpPr>
        <p:spPr>
          <a:xfrm>
            <a:off x="457200" y="2785887"/>
            <a:ext cx="82296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C39A"/>
              </a:buClr>
              <a:buSzPts val="2400"/>
              <a:buFont typeface="Arial"/>
              <a:buNone/>
            </a:pPr>
            <a:r>
              <a:rPr b="0" i="0" lang="en-GB" sz="2400" u="none" cap="none" strike="noStrike">
                <a:solidFill>
                  <a:srgbClr val="02C39A"/>
                </a:solidFill>
                <a:latin typeface="Arial"/>
                <a:ea typeface="Arial"/>
                <a:cs typeface="Arial"/>
                <a:sym typeface="Arial"/>
              </a:rPr>
              <a:t>Digital Wallet System</a:t>
            </a:r>
            <a:endParaRPr b="0" i="0" sz="2400" u="none" cap="none" strike="noStrike">
              <a:solidFill>
                <a:srgbClr val="02C39A"/>
              </a:solidFill>
              <a:latin typeface="Calibri"/>
              <a:ea typeface="Calibri"/>
              <a:cs typeface="Calibri"/>
              <a:sym typeface="Calibri"/>
            </a:endParaRPr>
          </a:p>
        </p:txBody>
      </p:sp>
      <p:sp>
        <p:nvSpPr>
          <p:cNvPr id="140" name="Google Shape;140;p14"/>
          <p:cNvSpPr/>
          <p:nvPr/>
        </p:nvSpPr>
        <p:spPr>
          <a:xfrm>
            <a:off x="457200" y="3298278"/>
            <a:ext cx="82296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1600"/>
              <a:buFont typeface="Calibri"/>
              <a:buNone/>
            </a:pPr>
            <a:r>
              <a:rPr b="0" i="1" lang="en-GB" sz="1600" u="none" cap="none" strike="noStrike">
                <a:solidFill>
                  <a:srgbClr val="00A896"/>
                </a:solidFill>
                <a:latin typeface="Calibri"/>
                <a:ea typeface="Calibri"/>
                <a:cs typeface="Calibri"/>
                <a:sym typeface="Calibri"/>
              </a:rPr>
              <a:t>Introduction to Database Management Systems</a:t>
            </a:r>
            <a:endParaRPr b="0" i="0" sz="1600" u="none" cap="none" strike="noStrike">
              <a:solidFill>
                <a:schemeClr val="dk1"/>
              </a:solidFill>
              <a:latin typeface="Calibri"/>
              <a:ea typeface="Calibri"/>
              <a:cs typeface="Calibri"/>
              <a:sym typeface="Calibri"/>
            </a:endParaRPr>
          </a:p>
        </p:txBody>
      </p:sp>
      <p:sp>
        <p:nvSpPr>
          <p:cNvPr id="141" name="Google Shape;141;p14"/>
          <p:cNvSpPr/>
          <p:nvPr/>
        </p:nvSpPr>
        <p:spPr>
          <a:xfrm>
            <a:off x="401725" y="4019103"/>
            <a:ext cx="8229600" cy="640200"/>
          </a:xfrm>
          <a:prstGeom prst="rect">
            <a:avLst/>
          </a:prstGeom>
          <a:noFill/>
          <a:ln>
            <a:noFill/>
          </a:ln>
        </p:spPr>
        <p:txBody>
          <a:bodyPr anchorCtr="0" anchor="ctr" bIns="45700" lIns="91425" spcFirstLastPara="1" rIns="91425" wrap="square" tIns="45700">
            <a:noAutofit/>
          </a:bodyPr>
          <a:lstStyle/>
          <a:p>
            <a:pPr indent="0" lvl="0" marL="0" marR="0" rtl="0" algn="r">
              <a:lnSpc>
                <a:spcPct val="145454"/>
              </a:lnSpc>
              <a:spcBef>
                <a:spcPts val="0"/>
              </a:spcBef>
              <a:spcAft>
                <a:spcPts val="0"/>
              </a:spcAft>
              <a:buClr>
                <a:srgbClr val="F5F5F5"/>
              </a:buClr>
              <a:buSzPts val="1100"/>
              <a:buFont typeface="Calibri"/>
              <a:buNone/>
            </a:pPr>
            <a:r>
              <a:rPr b="0" i="0" lang="en-GB" sz="1100" u="none" cap="none" strike="noStrike">
                <a:solidFill>
                  <a:srgbClr val="F5F5F5"/>
                </a:solidFill>
                <a:latin typeface="Calibri"/>
                <a:ea typeface="Calibri"/>
                <a:cs typeface="Calibri"/>
                <a:sym typeface="Calibri"/>
              </a:rPr>
              <a:t>Muhammad Musa Faisal (24L-5522)</a:t>
            </a:r>
            <a:endParaRPr b="0" i="0" sz="1100" u="none" cap="none" strike="noStrike">
              <a:solidFill>
                <a:schemeClr val="dk1"/>
              </a:solidFill>
              <a:latin typeface="Calibri"/>
              <a:ea typeface="Calibri"/>
              <a:cs typeface="Calibri"/>
              <a:sym typeface="Calibri"/>
            </a:endParaRPr>
          </a:p>
          <a:p>
            <a:pPr indent="0" lvl="0" marL="0" marR="0" rtl="0" algn="r">
              <a:lnSpc>
                <a:spcPct val="145454"/>
              </a:lnSpc>
              <a:spcBef>
                <a:spcPts val="0"/>
              </a:spcBef>
              <a:spcAft>
                <a:spcPts val="0"/>
              </a:spcAft>
              <a:buClr>
                <a:srgbClr val="F5F5F5"/>
              </a:buClr>
              <a:buSzPts val="1100"/>
              <a:buFont typeface="Calibri"/>
              <a:buNone/>
            </a:pPr>
            <a:r>
              <a:rPr b="0" i="0" lang="en-GB" sz="1100" u="none" cap="none" strike="noStrike">
                <a:solidFill>
                  <a:srgbClr val="F5F5F5"/>
                </a:solidFill>
                <a:latin typeface="Calibri"/>
                <a:ea typeface="Calibri"/>
                <a:cs typeface="Calibri"/>
                <a:sym typeface="Calibri"/>
              </a:rPr>
              <a:t>Muhammad Ahmed (24L-5566)</a:t>
            </a:r>
            <a:endParaRPr b="0" i="0" sz="1100" u="none" cap="none" strike="noStrike">
              <a:solidFill>
                <a:schemeClr val="dk1"/>
              </a:solidFill>
              <a:latin typeface="Calibri"/>
              <a:ea typeface="Calibri"/>
              <a:cs typeface="Calibri"/>
              <a:sym typeface="Calibri"/>
            </a:endParaRPr>
          </a:p>
          <a:p>
            <a:pPr indent="0" lvl="0" marL="0" marR="0" rtl="0" algn="r">
              <a:lnSpc>
                <a:spcPct val="145454"/>
              </a:lnSpc>
              <a:spcBef>
                <a:spcPts val="0"/>
              </a:spcBef>
              <a:spcAft>
                <a:spcPts val="0"/>
              </a:spcAft>
              <a:buClr>
                <a:srgbClr val="F5F5F5"/>
              </a:buClr>
              <a:buSzPts val="1100"/>
              <a:buFont typeface="Calibri"/>
              <a:buNone/>
            </a:pPr>
            <a:r>
              <a:rPr b="0" i="0" lang="en-GB" sz="1100" u="none" cap="none" strike="noStrike">
                <a:solidFill>
                  <a:srgbClr val="F5F5F5"/>
                </a:solidFill>
                <a:latin typeface="Calibri"/>
                <a:ea typeface="Calibri"/>
                <a:cs typeface="Calibri"/>
                <a:sym typeface="Calibri"/>
              </a:rPr>
              <a:t>Malik Muhammad Ibrahim Haider (24L-5602)</a:t>
            </a:r>
            <a:endParaRPr b="0" i="0" sz="1100" u="none" cap="none" strike="noStrike">
              <a:solidFill>
                <a:schemeClr val="dk1"/>
              </a:solidFill>
              <a:latin typeface="Calibri"/>
              <a:ea typeface="Calibri"/>
              <a:cs typeface="Calibri"/>
              <a:sym typeface="Calibri"/>
            </a:endParaRPr>
          </a:p>
          <a:p>
            <a:pPr indent="0" lvl="0" marL="0" marR="0" rtl="0" algn="r">
              <a:lnSpc>
                <a:spcPct val="145454"/>
              </a:lnSpc>
              <a:spcBef>
                <a:spcPts val="0"/>
              </a:spcBef>
              <a:spcAft>
                <a:spcPts val="0"/>
              </a:spcAft>
              <a:buClr>
                <a:srgbClr val="F5F5F5"/>
              </a:buClr>
              <a:buSzPts val="1100"/>
              <a:buFont typeface="Calibri"/>
              <a:buNone/>
            </a:pPr>
            <a:r>
              <a:rPr b="0" i="0" lang="en-GB" sz="1100" u="none" cap="none" strike="noStrike">
                <a:solidFill>
                  <a:srgbClr val="F5F5F5"/>
                </a:solidFill>
                <a:latin typeface="Calibri"/>
                <a:ea typeface="Calibri"/>
                <a:cs typeface="Calibri"/>
                <a:sym typeface="Calibri"/>
              </a:rPr>
              <a:t>Zakaullah Khan (24L-5756)</a:t>
            </a:r>
            <a:endParaRPr b="0" i="0" sz="1100" u="none" cap="none" strike="noStrike">
              <a:solidFill>
                <a:schemeClr val="dk1"/>
              </a:solidFill>
              <a:latin typeface="Calibri"/>
              <a:ea typeface="Calibri"/>
              <a:cs typeface="Calibri"/>
              <a:sym typeface="Calibri"/>
            </a:endParaRPr>
          </a:p>
          <a:p>
            <a:pPr indent="0" lvl="0" marL="0" marR="0" rtl="0" algn="r">
              <a:lnSpc>
                <a:spcPct val="145454"/>
              </a:lnSpc>
              <a:spcBef>
                <a:spcPts val="0"/>
              </a:spcBef>
              <a:spcAft>
                <a:spcPts val="0"/>
              </a:spcAft>
              <a:buClr>
                <a:srgbClr val="F5F5F5"/>
              </a:buClr>
              <a:buSzPts val="1100"/>
              <a:buFont typeface="Calibri"/>
              <a:buNone/>
            </a:pPr>
            <a:r>
              <a:rPr b="0" i="0" lang="en-GB" sz="1100" u="none" cap="none" strike="noStrike">
                <a:solidFill>
                  <a:srgbClr val="F5F5F5"/>
                </a:solidFill>
                <a:latin typeface="Calibri"/>
                <a:ea typeface="Calibri"/>
                <a:cs typeface="Calibri"/>
                <a:sym typeface="Calibri"/>
              </a:rPr>
              <a:t>Muhammad Ismaeel (24L-5709)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What is a Digital Wallet?</a:t>
            </a:r>
            <a:endParaRPr b="0" i="0" sz="3600" u="none" cap="none" strike="noStrike">
              <a:solidFill>
                <a:srgbClr val="02C39A"/>
              </a:solidFill>
              <a:latin typeface="Calibri"/>
              <a:ea typeface="Calibri"/>
              <a:cs typeface="Calibri"/>
              <a:sym typeface="Calibri"/>
            </a:endParaRPr>
          </a:p>
        </p:txBody>
      </p:sp>
      <p:pic>
        <p:nvPicPr>
          <p:cNvPr descr="preencoded.png" id="148" name="Google Shape;148;p15"/>
          <p:cNvPicPr preferRelativeResize="0"/>
          <p:nvPr/>
        </p:nvPicPr>
        <p:blipFill rotWithShape="1">
          <a:blip r:embed="rId3">
            <a:alphaModFix/>
          </a:blip>
          <a:srcRect b="0" l="0" r="0" t="0"/>
          <a:stretch/>
        </p:blipFill>
        <p:spPr>
          <a:xfrm>
            <a:off x="7498080" y="1188720"/>
            <a:ext cx="1097280" cy="1097280"/>
          </a:xfrm>
          <a:prstGeom prst="rect">
            <a:avLst/>
          </a:prstGeom>
          <a:noFill/>
          <a:ln>
            <a:noFill/>
          </a:ln>
        </p:spPr>
      </p:pic>
      <p:sp>
        <p:nvSpPr>
          <p:cNvPr id="149" name="Google Shape;149;p15"/>
          <p:cNvSpPr/>
          <p:nvPr/>
        </p:nvSpPr>
        <p:spPr>
          <a:xfrm>
            <a:off x="457200" y="1188720"/>
            <a:ext cx="6400800" cy="9144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5"/>
          <p:cNvSpPr/>
          <p:nvPr/>
        </p:nvSpPr>
        <p:spPr>
          <a:xfrm>
            <a:off x="457200" y="1188720"/>
            <a:ext cx="73152" cy="914400"/>
          </a:xfrm>
          <a:prstGeom prst="rect">
            <a:avLst/>
          </a:prstGeom>
          <a:solidFill>
            <a:srgbClr val="0280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1" name="Google Shape;151;p15"/>
          <p:cNvPicPr preferRelativeResize="0"/>
          <p:nvPr/>
        </p:nvPicPr>
        <p:blipFill rotWithShape="1">
          <a:blip r:embed="rId4">
            <a:alphaModFix/>
          </a:blip>
          <a:srcRect b="0" l="0" r="0" t="0"/>
          <a:stretch/>
        </p:blipFill>
        <p:spPr>
          <a:xfrm>
            <a:off x="731520" y="1417320"/>
            <a:ext cx="457200" cy="457200"/>
          </a:xfrm>
          <a:prstGeom prst="rect">
            <a:avLst/>
          </a:prstGeom>
          <a:noFill/>
          <a:ln>
            <a:noFill/>
          </a:ln>
        </p:spPr>
      </p:pic>
      <p:sp>
        <p:nvSpPr>
          <p:cNvPr id="152" name="Google Shape;152;p15"/>
          <p:cNvSpPr/>
          <p:nvPr/>
        </p:nvSpPr>
        <p:spPr>
          <a:xfrm>
            <a:off x="1371600" y="1325880"/>
            <a:ext cx="5029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600"/>
              <a:buFont typeface="Calibri"/>
              <a:buNone/>
            </a:pPr>
            <a:r>
              <a:rPr b="1" i="0" lang="en-GB" sz="1600" u="none" cap="none" strike="noStrike">
                <a:solidFill>
                  <a:srgbClr val="2C3E50"/>
                </a:solidFill>
                <a:latin typeface="Calibri"/>
                <a:ea typeface="Calibri"/>
                <a:cs typeface="Calibri"/>
                <a:sym typeface="Calibri"/>
              </a:rPr>
              <a:t>Cashless Payments</a:t>
            </a:r>
            <a:endParaRPr b="0" i="0" sz="1600" u="none" cap="none" strike="noStrike">
              <a:solidFill>
                <a:schemeClr val="dk1"/>
              </a:solidFill>
              <a:latin typeface="Calibri"/>
              <a:ea typeface="Calibri"/>
              <a:cs typeface="Calibri"/>
              <a:sym typeface="Calibri"/>
            </a:endParaRPr>
          </a:p>
        </p:txBody>
      </p:sp>
      <p:sp>
        <p:nvSpPr>
          <p:cNvPr id="153" name="Google Shape;153;p15"/>
          <p:cNvSpPr/>
          <p:nvPr/>
        </p:nvSpPr>
        <p:spPr>
          <a:xfrm>
            <a:off x="1371600" y="1645920"/>
            <a:ext cx="50292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200"/>
              <a:buFont typeface="Calibri"/>
              <a:buNone/>
            </a:pPr>
            <a:r>
              <a:rPr b="1" i="0" lang="en-GB" sz="1300" u="none" cap="none" strike="noStrike">
                <a:solidFill>
                  <a:schemeClr val="dk1"/>
                </a:solidFill>
                <a:latin typeface="Calibri"/>
                <a:ea typeface="Calibri"/>
                <a:cs typeface="Calibri"/>
                <a:sym typeface="Calibri"/>
              </a:rPr>
              <a:t>Store money electronically without physical cash</a:t>
            </a:r>
            <a:endParaRPr b="1" i="0" sz="1300" u="none" cap="none" strike="noStrike">
              <a:solidFill>
                <a:schemeClr val="dk1"/>
              </a:solidFill>
              <a:latin typeface="Calibri"/>
              <a:ea typeface="Calibri"/>
              <a:cs typeface="Calibri"/>
              <a:sym typeface="Calibri"/>
            </a:endParaRPr>
          </a:p>
        </p:txBody>
      </p:sp>
      <p:sp>
        <p:nvSpPr>
          <p:cNvPr id="154" name="Google Shape;154;p15"/>
          <p:cNvSpPr/>
          <p:nvPr/>
        </p:nvSpPr>
        <p:spPr>
          <a:xfrm>
            <a:off x="457200" y="2286000"/>
            <a:ext cx="6400800" cy="9144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5"/>
          <p:cNvSpPr/>
          <p:nvPr/>
        </p:nvSpPr>
        <p:spPr>
          <a:xfrm>
            <a:off x="457200" y="2286000"/>
            <a:ext cx="73152" cy="914400"/>
          </a:xfrm>
          <a:prstGeom prst="rect">
            <a:avLst/>
          </a:prstGeom>
          <a:solidFill>
            <a:srgbClr val="0280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6" name="Google Shape;156;p15"/>
          <p:cNvPicPr preferRelativeResize="0"/>
          <p:nvPr/>
        </p:nvPicPr>
        <p:blipFill rotWithShape="1">
          <a:blip r:embed="rId5">
            <a:alphaModFix/>
          </a:blip>
          <a:srcRect b="0" l="0" r="0" t="0"/>
          <a:stretch/>
        </p:blipFill>
        <p:spPr>
          <a:xfrm>
            <a:off x="731520" y="2514600"/>
            <a:ext cx="457200" cy="457200"/>
          </a:xfrm>
          <a:prstGeom prst="rect">
            <a:avLst/>
          </a:prstGeom>
          <a:noFill/>
          <a:ln>
            <a:noFill/>
          </a:ln>
        </p:spPr>
      </p:pic>
      <p:sp>
        <p:nvSpPr>
          <p:cNvPr id="157" name="Google Shape;157;p15"/>
          <p:cNvSpPr/>
          <p:nvPr/>
        </p:nvSpPr>
        <p:spPr>
          <a:xfrm>
            <a:off x="1371600" y="2423160"/>
            <a:ext cx="5029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600"/>
              <a:buFont typeface="Calibri"/>
              <a:buNone/>
            </a:pPr>
            <a:r>
              <a:rPr b="1" i="0" lang="en-GB" sz="1600" u="none" cap="none" strike="noStrike">
                <a:solidFill>
                  <a:srgbClr val="2C3E50"/>
                </a:solidFill>
                <a:latin typeface="Calibri"/>
                <a:ea typeface="Calibri"/>
                <a:cs typeface="Calibri"/>
                <a:sym typeface="Calibri"/>
              </a:rPr>
              <a:t>Instant Transfers</a:t>
            </a:r>
            <a:endParaRPr b="0" i="0" sz="1600" u="none" cap="none" strike="noStrike">
              <a:solidFill>
                <a:schemeClr val="dk1"/>
              </a:solidFill>
              <a:latin typeface="Calibri"/>
              <a:ea typeface="Calibri"/>
              <a:cs typeface="Calibri"/>
              <a:sym typeface="Calibri"/>
            </a:endParaRPr>
          </a:p>
        </p:txBody>
      </p:sp>
      <p:sp>
        <p:nvSpPr>
          <p:cNvPr id="158" name="Google Shape;158;p15"/>
          <p:cNvSpPr/>
          <p:nvPr/>
        </p:nvSpPr>
        <p:spPr>
          <a:xfrm>
            <a:off x="1371600" y="2743200"/>
            <a:ext cx="50292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200"/>
              <a:buFont typeface="Calibri"/>
              <a:buNone/>
            </a:pPr>
            <a:r>
              <a:rPr b="1" i="0" lang="en-GB" sz="1300" u="none" cap="none" strike="noStrike">
                <a:solidFill>
                  <a:schemeClr val="dk1"/>
                </a:solidFill>
                <a:latin typeface="Calibri"/>
                <a:ea typeface="Calibri"/>
                <a:cs typeface="Calibri"/>
                <a:sym typeface="Calibri"/>
              </a:rPr>
              <a:t>Send and receive money in real-time</a:t>
            </a:r>
            <a:endParaRPr b="1" i="0" sz="1300" u="none" cap="none" strike="noStrike">
              <a:solidFill>
                <a:schemeClr val="dk1"/>
              </a:solidFill>
              <a:latin typeface="Calibri"/>
              <a:ea typeface="Calibri"/>
              <a:cs typeface="Calibri"/>
              <a:sym typeface="Calibri"/>
            </a:endParaRPr>
          </a:p>
        </p:txBody>
      </p:sp>
      <p:sp>
        <p:nvSpPr>
          <p:cNvPr id="159" name="Google Shape;159;p15"/>
          <p:cNvSpPr/>
          <p:nvPr/>
        </p:nvSpPr>
        <p:spPr>
          <a:xfrm>
            <a:off x="457200" y="3383280"/>
            <a:ext cx="6400800" cy="9144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5"/>
          <p:cNvSpPr/>
          <p:nvPr/>
        </p:nvSpPr>
        <p:spPr>
          <a:xfrm>
            <a:off x="457200" y="3383280"/>
            <a:ext cx="73152" cy="914400"/>
          </a:xfrm>
          <a:prstGeom prst="rect">
            <a:avLst/>
          </a:prstGeom>
          <a:solidFill>
            <a:srgbClr val="0280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1" name="Google Shape;161;p15"/>
          <p:cNvPicPr preferRelativeResize="0"/>
          <p:nvPr/>
        </p:nvPicPr>
        <p:blipFill rotWithShape="1">
          <a:blip r:embed="rId6">
            <a:alphaModFix/>
          </a:blip>
          <a:srcRect b="0" l="0" r="0" t="0"/>
          <a:stretch/>
        </p:blipFill>
        <p:spPr>
          <a:xfrm>
            <a:off x="731520" y="3611880"/>
            <a:ext cx="457200" cy="457200"/>
          </a:xfrm>
          <a:prstGeom prst="rect">
            <a:avLst/>
          </a:prstGeom>
          <a:noFill/>
          <a:ln>
            <a:noFill/>
          </a:ln>
        </p:spPr>
      </p:pic>
      <p:sp>
        <p:nvSpPr>
          <p:cNvPr id="162" name="Google Shape;162;p15"/>
          <p:cNvSpPr/>
          <p:nvPr/>
        </p:nvSpPr>
        <p:spPr>
          <a:xfrm>
            <a:off x="1371600" y="3520440"/>
            <a:ext cx="5029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600"/>
              <a:buFont typeface="Calibri"/>
              <a:buNone/>
            </a:pPr>
            <a:r>
              <a:rPr b="1" i="0" lang="en-GB" sz="1600" u="none" cap="none" strike="noStrike">
                <a:solidFill>
                  <a:srgbClr val="2C3E50"/>
                </a:solidFill>
                <a:latin typeface="Calibri"/>
                <a:ea typeface="Calibri"/>
                <a:cs typeface="Calibri"/>
                <a:sym typeface="Calibri"/>
              </a:rPr>
              <a:t>Transaction History</a:t>
            </a:r>
            <a:endParaRPr b="0" i="0" sz="1600" u="none" cap="none" strike="noStrike">
              <a:solidFill>
                <a:schemeClr val="dk1"/>
              </a:solidFill>
              <a:latin typeface="Calibri"/>
              <a:ea typeface="Calibri"/>
              <a:cs typeface="Calibri"/>
              <a:sym typeface="Calibri"/>
            </a:endParaRPr>
          </a:p>
        </p:txBody>
      </p:sp>
      <p:sp>
        <p:nvSpPr>
          <p:cNvPr id="163" name="Google Shape;163;p15"/>
          <p:cNvSpPr/>
          <p:nvPr/>
        </p:nvSpPr>
        <p:spPr>
          <a:xfrm>
            <a:off x="1371600" y="3840480"/>
            <a:ext cx="50292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200"/>
              <a:buFont typeface="Calibri"/>
              <a:buNone/>
            </a:pPr>
            <a:r>
              <a:rPr b="1" i="0" lang="en-GB" sz="1300" u="none" cap="none" strike="noStrike">
                <a:solidFill>
                  <a:schemeClr val="dk1"/>
                </a:solidFill>
                <a:latin typeface="Calibri"/>
                <a:ea typeface="Calibri"/>
                <a:cs typeface="Calibri"/>
                <a:sym typeface="Calibri"/>
              </a:rPr>
              <a:t>Complete audit trail of all financial events</a:t>
            </a:r>
            <a:endParaRPr b="1" i="0" sz="1300" u="none" cap="none" strike="noStrike">
              <a:solidFill>
                <a:schemeClr val="dk1"/>
              </a:solidFill>
              <a:latin typeface="Calibri"/>
              <a:ea typeface="Calibri"/>
              <a:cs typeface="Calibri"/>
              <a:sym typeface="Calibri"/>
            </a:endParaRPr>
          </a:p>
        </p:txBody>
      </p:sp>
      <p:sp>
        <p:nvSpPr>
          <p:cNvPr id="164" name="Google Shape;164;p15"/>
          <p:cNvSpPr/>
          <p:nvPr/>
        </p:nvSpPr>
        <p:spPr>
          <a:xfrm>
            <a:off x="457200" y="4389120"/>
            <a:ext cx="822960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400"/>
              <a:buFont typeface="Calibri"/>
              <a:buNone/>
            </a:pPr>
            <a:r>
              <a:rPr b="0" i="1" lang="en-GB" sz="1400" u="none" cap="none" strike="noStrike">
                <a:solidFill>
                  <a:srgbClr val="02C39A"/>
                </a:solidFill>
                <a:latin typeface="Calibri"/>
                <a:ea typeface="Calibri"/>
                <a:cs typeface="Calibri"/>
                <a:sym typeface="Calibri"/>
              </a:rPr>
              <a:t>PayLoop models the essential database logic that powers platforms like PayPal, JazzCash, and EasyPaisa</a:t>
            </a:r>
            <a:endParaRPr b="0" i="0" sz="1400" u="none" cap="none" strike="noStrike">
              <a:solidFill>
                <a:srgbClr val="02C39A"/>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6"/>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Problem Statement</a:t>
            </a:r>
            <a:endParaRPr b="0" i="0" sz="3600" u="none" cap="none" strike="noStrike">
              <a:solidFill>
                <a:srgbClr val="02C39A"/>
              </a:solidFill>
              <a:latin typeface="Calibri"/>
              <a:ea typeface="Calibri"/>
              <a:cs typeface="Calibri"/>
              <a:sym typeface="Calibri"/>
            </a:endParaRPr>
          </a:p>
        </p:txBody>
      </p:sp>
      <p:sp>
        <p:nvSpPr>
          <p:cNvPr id="171" name="Google Shape;171;p16"/>
          <p:cNvSpPr/>
          <p:nvPr/>
        </p:nvSpPr>
        <p:spPr>
          <a:xfrm>
            <a:off x="457200" y="1188720"/>
            <a:ext cx="8229600" cy="1371600"/>
          </a:xfrm>
          <a:prstGeom prst="rect">
            <a:avLst/>
          </a:prstGeom>
          <a:solidFill>
            <a:srgbClr val="D0E0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6"/>
          <p:cNvSpPr/>
          <p:nvPr/>
        </p:nvSpPr>
        <p:spPr>
          <a:xfrm>
            <a:off x="914400" y="1463040"/>
            <a:ext cx="73152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600"/>
              <a:buFont typeface="Calibri"/>
              <a:buNone/>
            </a:pPr>
            <a:r>
              <a:rPr b="1" i="0" lang="en-GB" sz="1600" u="none" cap="none" strike="noStrike">
                <a:solidFill>
                  <a:srgbClr val="028090"/>
                </a:solidFill>
                <a:latin typeface="Calibri"/>
                <a:ea typeface="Calibri"/>
                <a:cs typeface="Calibri"/>
                <a:sym typeface="Calibri"/>
              </a:rPr>
              <a:t>Challenge: </a:t>
            </a:r>
            <a:r>
              <a:rPr b="1" i="1" lang="en-GB" sz="1600" u="none" cap="none" strike="noStrike">
                <a:solidFill>
                  <a:srgbClr val="2C3E50"/>
                </a:solidFill>
                <a:latin typeface="Calibri"/>
                <a:ea typeface="Calibri"/>
                <a:cs typeface="Calibri"/>
                <a:sym typeface="Calibri"/>
              </a:rPr>
              <a:t>Design a relational database system that accurately models real-world financial transactions while maintaining data integrity, security, and consistency.</a:t>
            </a:r>
            <a:endParaRPr b="1" i="1" sz="1600" u="none" cap="none" strike="noStrike">
              <a:solidFill>
                <a:schemeClr val="dk1"/>
              </a:solidFill>
              <a:latin typeface="Calibri"/>
              <a:ea typeface="Calibri"/>
              <a:cs typeface="Calibri"/>
              <a:sym typeface="Calibri"/>
            </a:endParaRPr>
          </a:p>
        </p:txBody>
      </p:sp>
      <p:sp>
        <p:nvSpPr>
          <p:cNvPr id="173" name="Google Shape;173;p16"/>
          <p:cNvSpPr/>
          <p:nvPr/>
        </p:nvSpPr>
        <p:spPr>
          <a:xfrm>
            <a:off x="457200" y="2834640"/>
            <a:ext cx="82296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000"/>
              <a:buFont typeface="Calibri"/>
              <a:buNone/>
            </a:pPr>
            <a:r>
              <a:rPr b="1" i="0" lang="en-GB" sz="2000" u="none" cap="none" strike="noStrike">
                <a:solidFill>
                  <a:srgbClr val="02C39A"/>
                </a:solidFill>
                <a:latin typeface="Calibri"/>
                <a:ea typeface="Calibri"/>
                <a:cs typeface="Calibri"/>
                <a:sym typeface="Calibri"/>
              </a:rPr>
              <a:t>Why Database Design Matters in Financial Systems</a:t>
            </a:r>
            <a:endParaRPr b="0" i="0" sz="2000" u="none" cap="none" strike="noStrike">
              <a:solidFill>
                <a:srgbClr val="02C39A"/>
              </a:solidFill>
              <a:latin typeface="Calibri"/>
              <a:ea typeface="Calibri"/>
              <a:cs typeface="Calibri"/>
              <a:sym typeface="Calibri"/>
            </a:endParaRPr>
          </a:p>
        </p:txBody>
      </p:sp>
      <p:sp>
        <p:nvSpPr>
          <p:cNvPr id="174" name="Google Shape;174;p16"/>
          <p:cNvSpPr/>
          <p:nvPr/>
        </p:nvSpPr>
        <p:spPr>
          <a:xfrm>
            <a:off x="1371600" y="3291840"/>
            <a:ext cx="6400800" cy="13716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chemeClr val="lt1"/>
              </a:buClr>
              <a:buSzPts val="1500"/>
              <a:buFont typeface="Calibri"/>
              <a:buChar char="•"/>
            </a:pPr>
            <a:r>
              <a:rPr b="0" i="0" lang="en-GB" sz="1500" u="none" cap="none" strike="noStrike">
                <a:solidFill>
                  <a:schemeClr val="lt1"/>
                </a:solidFill>
                <a:latin typeface="Calibri"/>
                <a:ea typeface="Calibri"/>
                <a:cs typeface="Calibri"/>
                <a:sym typeface="Calibri"/>
              </a:rPr>
              <a:t>Data integrity prevents financial inconsistencies</a:t>
            </a:r>
            <a:endParaRPr b="0" i="0" sz="15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1500"/>
              <a:buFont typeface="Calibri"/>
              <a:buChar char="•"/>
            </a:pPr>
            <a:r>
              <a:rPr b="0" i="0" lang="en-GB" sz="1500" u="none" cap="none" strike="noStrike">
                <a:solidFill>
                  <a:schemeClr val="lt1"/>
                </a:solidFill>
                <a:latin typeface="Calibri"/>
                <a:ea typeface="Calibri"/>
                <a:cs typeface="Calibri"/>
                <a:sym typeface="Calibri"/>
              </a:rPr>
              <a:t>Constraints enforce business rules at the database level</a:t>
            </a:r>
            <a:endParaRPr b="0" i="0" sz="15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1500"/>
              <a:buFont typeface="Calibri"/>
              <a:buChar char="•"/>
            </a:pPr>
            <a:r>
              <a:rPr b="0" i="0" lang="en-GB" sz="1500" u="none" cap="none" strike="noStrike">
                <a:solidFill>
                  <a:schemeClr val="lt1"/>
                </a:solidFill>
                <a:latin typeface="Calibri"/>
                <a:ea typeface="Calibri"/>
                <a:cs typeface="Calibri"/>
                <a:sym typeface="Calibri"/>
              </a:rPr>
              <a:t>Proper normalization eliminates redundancy and anomalies</a:t>
            </a:r>
            <a:endParaRPr b="0" i="0" sz="15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1500"/>
              <a:buFont typeface="Calibri"/>
              <a:buChar char="•"/>
            </a:pPr>
            <a:r>
              <a:rPr b="0" i="0" lang="en-GB" sz="1500" u="none" cap="none" strike="noStrike">
                <a:solidFill>
                  <a:schemeClr val="lt1"/>
                </a:solidFill>
                <a:latin typeface="Calibri"/>
                <a:ea typeface="Calibri"/>
                <a:cs typeface="Calibri"/>
                <a:sym typeface="Calibri"/>
              </a:rPr>
              <a:t>Transaction atomicity ensures all-or-nothing operations</a:t>
            </a:r>
            <a:endParaRPr b="0" i="0" sz="15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Project Objectives</a:t>
            </a:r>
            <a:endParaRPr b="0" i="0" sz="3600" u="none" cap="none" strike="noStrike">
              <a:solidFill>
                <a:srgbClr val="02C39A"/>
              </a:solidFill>
              <a:latin typeface="Calibri"/>
              <a:ea typeface="Calibri"/>
              <a:cs typeface="Calibri"/>
              <a:sym typeface="Calibri"/>
            </a:endParaRPr>
          </a:p>
        </p:txBody>
      </p:sp>
      <p:pic>
        <p:nvPicPr>
          <p:cNvPr descr="preencoded.png" id="181" name="Google Shape;181;p17"/>
          <p:cNvPicPr preferRelativeResize="0"/>
          <p:nvPr/>
        </p:nvPicPr>
        <p:blipFill rotWithShape="1">
          <a:blip r:embed="rId3">
            <a:alphaModFix/>
          </a:blip>
          <a:srcRect b="0" l="0" r="0" t="0"/>
          <a:stretch/>
        </p:blipFill>
        <p:spPr>
          <a:xfrm>
            <a:off x="7772400" y="320040"/>
            <a:ext cx="640080" cy="640080"/>
          </a:xfrm>
          <a:prstGeom prst="rect">
            <a:avLst/>
          </a:prstGeom>
          <a:noFill/>
          <a:ln>
            <a:noFill/>
          </a:ln>
        </p:spPr>
      </p:pic>
      <p:sp>
        <p:nvSpPr>
          <p:cNvPr id="182" name="Google Shape;182;p17"/>
          <p:cNvSpPr/>
          <p:nvPr/>
        </p:nvSpPr>
        <p:spPr>
          <a:xfrm>
            <a:off x="457200" y="1188720"/>
            <a:ext cx="8229600" cy="77724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7"/>
          <p:cNvSpPr/>
          <p:nvPr/>
        </p:nvSpPr>
        <p:spPr>
          <a:xfrm>
            <a:off x="731520" y="132588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2400"/>
              <a:buFont typeface="Calibri"/>
              <a:buNone/>
            </a:pPr>
            <a:r>
              <a:rPr b="1" i="0" lang="en-GB" sz="2400" u="none" cap="none" strike="noStrike">
                <a:solidFill>
                  <a:srgbClr val="028090"/>
                </a:solidFill>
                <a:latin typeface="Calibri"/>
                <a:ea typeface="Calibri"/>
                <a:cs typeface="Calibri"/>
                <a:sym typeface="Calibri"/>
              </a:rPr>
              <a:t>1</a:t>
            </a:r>
            <a:endParaRPr b="0" i="0" sz="2400" u="none" cap="none" strike="noStrike">
              <a:solidFill>
                <a:schemeClr val="dk1"/>
              </a:solidFill>
              <a:latin typeface="Calibri"/>
              <a:ea typeface="Calibri"/>
              <a:cs typeface="Calibri"/>
              <a:sym typeface="Calibri"/>
            </a:endParaRPr>
          </a:p>
        </p:txBody>
      </p:sp>
      <p:sp>
        <p:nvSpPr>
          <p:cNvPr id="184" name="Google Shape;184;p17"/>
          <p:cNvSpPr/>
          <p:nvPr/>
        </p:nvSpPr>
        <p:spPr>
          <a:xfrm>
            <a:off x="1371600" y="1298448"/>
            <a:ext cx="68580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500"/>
              <a:buFont typeface="Calibri"/>
              <a:buNone/>
            </a:pPr>
            <a:r>
              <a:rPr b="1" i="0" lang="en-GB" sz="1500" u="none" cap="none" strike="noStrike">
                <a:solidFill>
                  <a:srgbClr val="2C3E50"/>
                </a:solidFill>
                <a:latin typeface="Calibri"/>
                <a:ea typeface="Calibri"/>
                <a:cs typeface="Calibri"/>
                <a:sym typeface="Calibri"/>
              </a:rPr>
              <a:t>Complete DBMS Implementation</a:t>
            </a:r>
            <a:endParaRPr b="0" i="0" sz="1500" u="none" cap="none" strike="noStrike">
              <a:solidFill>
                <a:schemeClr val="dk1"/>
              </a:solidFill>
              <a:latin typeface="Calibri"/>
              <a:ea typeface="Calibri"/>
              <a:cs typeface="Calibri"/>
              <a:sym typeface="Calibri"/>
            </a:endParaRPr>
          </a:p>
        </p:txBody>
      </p:sp>
      <p:sp>
        <p:nvSpPr>
          <p:cNvPr id="185" name="Google Shape;185;p17"/>
          <p:cNvSpPr/>
          <p:nvPr/>
        </p:nvSpPr>
        <p:spPr>
          <a:xfrm>
            <a:off x="1371600" y="1600200"/>
            <a:ext cx="68580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200"/>
              <a:buFont typeface="Calibri"/>
              <a:buNone/>
            </a:pPr>
            <a:r>
              <a:rPr b="1" i="1" lang="en-GB" sz="1300" u="none" cap="none" strike="noStrike">
                <a:solidFill>
                  <a:schemeClr val="dk1"/>
                </a:solidFill>
                <a:latin typeface="Calibri"/>
                <a:ea typeface="Calibri"/>
                <a:cs typeface="Calibri"/>
                <a:sym typeface="Calibri"/>
              </a:rPr>
              <a:t>Demonstrate DDL, DML, joins, subqueries, stored procedures, triggers, and views</a:t>
            </a:r>
            <a:endParaRPr b="1" i="1" sz="1300" u="none" cap="none" strike="noStrike">
              <a:solidFill>
                <a:schemeClr val="dk1"/>
              </a:solidFill>
              <a:latin typeface="Calibri"/>
              <a:ea typeface="Calibri"/>
              <a:cs typeface="Calibri"/>
              <a:sym typeface="Calibri"/>
            </a:endParaRPr>
          </a:p>
        </p:txBody>
      </p:sp>
      <p:sp>
        <p:nvSpPr>
          <p:cNvPr id="186" name="Google Shape;186;p17"/>
          <p:cNvSpPr/>
          <p:nvPr/>
        </p:nvSpPr>
        <p:spPr>
          <a:xfrm>
            <a:off x="457200" y="2057400"/>
            <a:ext cx="8229600" cy="77724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7"/>
          <p:cNvSpPr/>
          <p:nvPr/>
        </p:nvSpPr>
        <p:spPr>
          <a:xfrm>
            <a:off x="731520" y="219456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2400"/>
              <a:buFont typeface="Calibri"/>
              <a:buNone/>
            </a:pPr>
            <a:r>
              <a:rPr b="1" i="0" lang="en-GB" sz="2400" u="none" cap="none" strike="noStrike">
                <a:solidFill>
                  <a:srgbClr val="028090"/>
                </a:solidFill>
                <a:latin typeface="Calibri"/>
                <a:ea typeface="Calibri"/>
                <a:cs typeface="Calibri"/>
                <a:sym typeface="Calibri"/>
              </a:rPr>
              <a:t>2</a:t>
            </a:r>
            <a:endParaRPr b="0" i="0" sz="2400" u="none" cap="none" strike="noStrike">
              <a:solidFill>
                <a:schemeClr val="dk1"/>
              </a:solidFill>
              <a:latin typeface="Calibri"/>
              <a:ea typeface="Calibri"/>
              <a:cs typeface="Calibri"/>
              <a:sym typeface="Calibri"/>
            </a:endParaRPr>
          </a:p>
        </p:txBody>
      </p:sp>
      <p:sp>
        <p:nvSpPr>
          <p:cNvPr id="188" name="Google Shape;188;p17"/>
          <p:cNvSpPr/>
          <p:nvPr/>
        </p:nvSpPr>
        <p:spPr>
          <a:xfrm>
            <a:off x="1371600" y="2167128"/>
            <a:ext cx="68580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500"/>
              <a:buFont typeface="Calibri"/>
              <a:buNone/>
            </a:pPr>
            <a:r>
              <a:rPr b="1" i="0" lang="en-GB" sz="1500" u="none" cap="none" strike="noStrike">
                <a:solidFill>
                  <a:srgbClr val="2C3E50"/>
                </a:solidFill>
                <a:latin typeface="Calibri"/>
                <a:ea typeface="Calibri"/>
                <a:cs typeface="Calibri"/>
                <a:sym typeface="Calibri"/>
              </a:rPr>
              <a:t>Normalized Schema Design</a:t>
            </a:r>
            <a:endParaRPr b="0" i="0" sz="1500" u="none" cap="none" strike="noStrike">
              <a:solidFill>
                <a:schemeClr val="dk1"/>
              </a:solidFill>
              <a:latin typeface="Calibri"/>
              <a:ea typeface="Calibri"/>
              <a:cs typeface="Calibri"/>
              <a:sym typeface="Calibri"/>
            </a:endParaRPr>
          </a:p>
        </p:txBody>
      </p:sp>
      <p:sp>
        <p:nvSpPr>
          <p:cNvPr id="189" name="Google Shape;189;p17"/>
          <p:cNvSpPr/>
          <p:nvPr/>
        </p:nvSpPr>
        <p:spPr>
          <a:xfrm>
            <a:off x="1371600" y="2468880"/>
            <a:ext cx="68580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200"/>
              <a:buFont typeface="Calibri"/>
              <a:buNone/>
            </a:pPr>
            <a:r>
              <a:rPr b="1" i="1" lang="en-GB" sz="1300" u="none" cap="none" strike="noStrike">
                <a:solidFill>
                  <a:schemeClr val="dk1"/>
                </a:solidFill>
                <a:latin typeface="Calibri"/>
                <a:ea typeface="Calibri"/>
                <a:cs typeface="Calibri"/>
                <a:sym typeface="Calibri"/>
              </a:rPr>
              <a:t>Build a 3NF database with proper entity relationships and constraints</a:t>
            </a:r>
            <a:endParaRPr b="1" i="1" sz="1300" u="none" cap="none" strike="noStrike">
              <a:solidFill>
                <a:schemeClr val="dk1"/>
              </a:solidFill>
              <a:latin typeface="Calibri"/>
              <a:ea typeface="Calibri"/>
              <a:cs typeface="Calibri"/>
              <a:sym typeface="Calibri"/>
            </a:endParaRPr>
          </a:p>
        </p:txBody>
      </p:sp>
      <p:sp>
        <p:nvSpPr>
          <p:cNvPr id="190" name="Google Shape;190;p17"/>
          <p:cNvSpPr/>
          <p:nvPr/>
        </p:nvSpPr>
        <p:spPr>
          <a:xfrm>
            <a:off x="457200" y="2926080"/>
            <a:ext cx="8229600" cy="77724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7"/>
          <p:cNvSpPr/>
          <p:nvPr/>
        </p:nvSpPr>
        <p:spPr>
          <a:xfrm>
            <a:off x="731520" y="306324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2400"/>
              <a:buFont typeface="Calibri"/>
              <a:buNone/>
            </a:pPr>
            <a:r>
              <a:rPr b="1" i="0" lang="en-GB" sz="2400" u="none" cap="none" strike="noStrike">
                <a:solidFill>
                  <a:srgbClr val="028090"/>
                </a:solidFill>
                <a:latin typeface="Calibri"/>
                <a:ea typeface="Calibri"/>
                <a:cs typeface="Calibri"/>
                <a:sym typeface="Calibri"/>
              </a:rPr>
              <a:t>3</a:t>
            </a:r>
            <a:endParaRPr b="0" i="0" sz="2400" u="none" cap="none" strike="noStrike">
              <a:solidFill>
                <a:schemeClr val="dk1"/>
              </a:solidFill>
              <a:latin typeface="Calibri"/>
              <a:ea typeface="Calibri"/>
              <a:cs typeface="Calibri"/>
              <a:sym typeface="Calibri"/>
            </a:endParaRPr>
          </a:p>
        </p:txBody>
      </p:sp>
      <p:sp>
        <p:nvSpPr>
          <p:cNvPr id="192" name="Google Shape;192;p17"/>
          <p:cNvSpPr/>
          <p:nvPr/>
        </p:nvSpPr>
        <p:spPr>
          <a:xfrm>
            <a:off x="1371600" y="3035808"/>
            <a:ext cx="68580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500"/>
              <a:buFont typeface="Calibri"/>
              <a:buNone/>
            </a:pPr>
            <a:r>
              <a:rPr b="1" i="0" lang="en-GB" sz="1500" u="none" cap="none" strike="noStrike">
                <a:solidFill>
                  <a:srgbClr val="2C3E50"/>
                </a:solidFill>
                <a:latin typeface="Calibri"/>
                <a:ea typeface="Calibri"/>
                <a:cs typeface="Calibri"/>
                <a:sym typeface="Calibri"/>
              </a:rPr>
              <a:t>Real-World Functionality</a:t>
            </a:r>
            <a:endParaRPr b="0" i="0" sz="1500" u="none" cap="none" strike="noStrike">
              <a:solidFill>
                <a:schemeClr val="dk1"/>
              </a:solidFill>
              <a:latin typeface="Calibri"/>
              <a:ea typeface="Calibri"/>
              <a:cs typeface="Calibri"/>
              <a:sym typeface="Calibri"/>
            </a:endParaRPr>
          </a:p>
        </p:txBody>
      </p:sp>
      <p:sp>
        <p:nvSpPr>
          <p:cNvPr id="193" name="Google Shape;193;p17"/>
          <p:cNvSpPr/>
          <p:nvPr/>
        </p:nvSpPr>
        <p:spPr>
          <a:xfrm>
            <a:off x="1371600" y="3337560"/>
            <a:ext cx="68580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200"/>
              <a:buFont typeface="Calibri"/>
              <a:buNone/>
            </a:pPr>
            <a:r>
              <a:rPr b="1" i="1" lang="en-GB" sz="1300" u="none" cap="none" strike="noStrike">
                <a:solidFill>
                  <a:schemeClr val="dk1"/>
                </a:solidFill>
                <a:latin typeface="Calibri"/>
                <a:ea typeface="Calibri"/>
                <a:cs typeface="Calibri"/>
                <a:sym typeface="Calibri"/>
              </a:rPr>
              <a:t>Support user registration, fund transfers, merchant payments, and transaction history</a:t>
            </a:r>
            <a:endParaRPr b="1" i="1" sz="1300" u="none" cap="none" strike="noStrike">
              <a:solidFill>
                <a:schemeClr val="dk1"/>
              </a:solidFill>
              <a:latin typeface="Calibri"/>
              <a:ea typeface="Calibri"/>
              <a:cs typeface="Calibri"/>
              <a:sym typeface="Calibri"/>
            </a:endParaRPr>
          </a:p>
        </p:txBody>
      </p:sp>
      <p:sp>
        <p:nvSpPr>
          <p:cNvPr id="194" name="Google Shape;194;p17"/>
          <p:cNvSpPr/>
          <p:nvPr/>
        </p:nvSpPr>
        <p:spPr>
          <a:xfrm>
            <a:off x="457200" y="3794760"/>
            <a:ext cx="8229600" cy="77724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7"/>
          <p:cNvSpPr/>
          <p:nvPr/>
        </p:nvSpPr>
        <p:spPr>
          <a:xfrm>
            <a:off x="731520" y="393192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2400"/>
              <a:buFont typeface="Calibri"/>
              <a:buNone/>
            </a:pPr>
            <a:r>
              <a:rPr b="1" i="0" lang="en-GB" sz="2400" u="none" cap="none" strike="noStrike">
                <a:solidFill>
                  <a:srgbClr val="028090"/>
                </a:solidFill>
                <a:latin typeface="Calibri"/>
                <a:ea typeface="Calibri"/>
                <a:cs typeface="Calibri"/>
                <a:sym typeface="Calibri"/>
              </a:rPr>
              <a:t>4</a:t>
            </a:r>
            <a:endParaRPr b="0" i="0" sz="2400" u="none" cap="none" strike="noStrike">
              <a:solidFill>
                <a:schemeClr val="dk1"/>
              </a:solidFill>
              <a:latin typeface="Calibri"/>
              <a:ea typeface="Calibri"/>
              <a:cs typeface="Calibri"/>
              <a:sym typeface="Calibri"/>
            </a:endParaRPr>
          </a:p>
        </p:txBody>
      </p:sp>
      <p:sp>
        <p:nvSpPr>
          <p:cNvPr id="196" name="Google Shape;196;p17"/>
          <p:cNvSpPr/>
          <p:nvPr/>
        </p:nvSpPr>
        <p:spPr>
          <a:xfrm>
            <a:off x="1371600" y="3904488"/>
            <a:ext cx="68580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500"/>
              <a:buFont typeface="Calibri"/>
              <a:buNone/>
            </a:pPr>
            <a:r>
              <a:rPr b="1" i="0" lang="en-GB" sz="1500" u="none" cap="none" strike="noStrike">
                <a:solidFill>
                  <a:srgbClr val="2C3E50"/>
                </a:solidFill>
                <a:latin typeface="Calibri"/>
                <a:ea typeface="Calibri"/>
                <a:cs typeface="Calibri"/>
                <a:sym typeface="Calibri"/>
              </a:rPr>
              <a:t>Data Integrity Enforcement</a:t>
            </a:r>
            <a:endParaRPr b="0" i="0" sz="1500" u="none" cap="none" strike="noStrike">
              <a:solidFill>
                <a:schemeClr val="dk1"/>
              </a:solidFill>
              <a:latin typeface="Calibri"/>
              <a:ea typeface="Calibri"/>
              <a:cs typeface="Calibri"/>
              <a:sym typeface="Calibri"/>
            </a:endParaRPr>
          </a:p>
        </p:txBody>
      </p:sp>
      <p:sp>
        <p:nvSpPr>
          <p:cNvPr id="197" name="Google Shape;197;p17"/>
          <p:cNvSpPr/>
          <p:nvPr/>
        </p:nvSpPr>
        <p:spPr>
          <a:xfrm>
            <a:off x="1371600" y="4206240"/>
            <a:ext cx="68580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200"/>
              <a:buFont typeface="Calibri"/>
              <a:buNone/>
            </a:pPr>
            <a:r>
              <a:rPr b="1" i="1" lang="en-GB" sz="1300" u="none" cap="none" strike="noStrike">
                <a:solidFill>
                  <a:schemeClr val="dk1"/>
                </a:solidFill>
                <a:latin typeface="Calibri"/>
                <a:ea typeface="Calibri"/>
                <a:cs typeface="Calibri"/>
                <a:sym typeface="Calibri"/>
              </a:rPr>
              <a:t>Use constraints, triggers, and stored procedures to maintain consistency</a:t>
            </a:r>
            <a:endParaRPr b="1" i="1"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8"/>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Domain: Digital Wallets</a:t>
            </a:r>
            <a:endParaRPr b="0" i="0" sz="3600" u="none" cap="none" strike="noStrike">
              <a:solidFill>
                <a:srgbClr val="02C39A"/>
              </a:solidFill>
              <a:latin typeface="Calibri"/>
              <a:ea typeface="Calibri"/>
              <a:cs typeface="Calibri"/>
              <a:sym typeface="Calibri"/>
            </a:endParaRPr>
          </a:p>
        </p:txBody>
      </p:sp>
      <p:sp>
        <p:nvSpPr>
          <p:cNvPr id="204" name="Google Shape;204;p18"/>
          <p:cNvSpPr/>
          <p:nvPr/>
        </p:nvSpPr>
        <p:spPr>
          <a:xfrm>
            <a:off x="457200" y="1097280"/>
            <a:ext cx="3657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800"/>
              <a:buFont typeface="Calibri"/>
              <a:buNone/>
            </a:pPr>
            <a:r>
              <a:rPr b="1" i="0" lang="en-GB" sz="1800" u="none" cap="none" strike="noStrike">
                <a:solidFill>
                  <a:srgbClr val="028090"/>
                </a:solidFill>
                <a:latin typeface="Calibri"/>
                <a:ea typeface="Calibri"/>
                <a:cs typeface="Calibri"/>
                <a:sym typeface="Calibri"/>
              </a:rPr>
              <a:t>Real-World Examples</a:t>
            </a:r>
            <a:endParaRPr b="0" i="0" sz="1800" u="none" cap="none" strike="noStrike">
              <a:solidFill>
                <a:schemeClr val="dk1"/>
              </a:solidFill>
              <a:latin typeface="Calibri"/>
              <a:ea typeface="Calibri"/>
              <a:cs typeface="Calibri"/>
              <a:sym typeface="Calibri"/>
            </a:endParaRPr>
          </a:p>
        </p:txBody>
      </p:sp>
      <p:sp>
        <p:nvSpPr>
          <p:cNvPr id="205" name="Google Shape;205;p18"/>
          <p:cNvSpPr/>
          <p:nvPr/>
        </p:nvSpPr>
        <p:spPr>
          <a:xfrm>
            <a:off x="457200" y="1463040"/>
            <a:ext cx="914400" cy="457200"/>
          </a:xfrm>
          <a:prstGeom prst="rect">
            <a:avLst/>
          </a:prstGeom>
          <a:solidFill>
            <a:srgbClr val="00A896">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8"/>
          <p:cNvSpPr/>
          <p:nvPr/>
        </p:nvSpPr>
        <p:spPr>
          <a:xfrm>
            <a:off x="457200" y="1463040"/>
            <a:ext cx="914400" cy="457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100"/>
              <a:buFont typeface="Calibri"/>
              <a:buNone/>
            </a:pPr>
            <a:r>
              <a:rPr b="1" i="0" lang="en-GB" sz="1100" u="none" cap="none" strike="noStrike">
                <a:solidFill>
                  <a:srgbClr val="2C3E50"/>
                </a:solidFill>
                <a:latin typeface="Calibri"/>
                <a:ea typeface="Calibri"/>
                <a:cs typeface="Calibri"/>
                <a:sym typeface="Calibri"/>
              </a:rPr>
              <a:t>PayPal</a:t>
            </a:r>
            <a:endParaRPr b="0" i="0" sz="1100" u="none" cap="none" strike="noStrike">
              <a:solidFill>
                <a:schemeClr val="dk1"/>
              </a:solidFill>
              <a:latin typeface="Calibri"/>
              <a:ea typeface="Calibri"/>
              <a:cs typeface="Calibri"/>
              <a:sym typeface="Calibri"/>
            </a:endParaRPr>
          </a:p>
        </p:txBody>
      </p:sp>
      <p:sp>
        <p:nvSpPr>
          <p:cNvPr id="207" name="Google Shape;207;p18"/>
          <p:cNvSpPr/>
          <p:nvPr/>
        </p:nvSpPr>
        <p:spPr>
          <a:xfrm>
            <a:off x="1463040" y="1463040"/>
            <a:ext cx="914400" cy="457200"/>
          </a:xfrm>
          <a:prstGeom prst="rect">
            <a:avLst/>
          </a:prstGeom>
          <a:solidFill>
            <a:srgbClr val="00A896">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8"/>
          <p:cNvSpPr/>
          <p:nvPr/>
        </p:nvSpPr>
        <p:spPr>
          <a:xfrm>
            <a:off x="1463040" y="1463040"/>
            <a:ext cx="914400" cy="457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100"/>
              <a:buFont typeface="Calibri"/>
              <a:buNone/>
            </a:pPr>
            <a:r>
              <a:rPr b="1" i="0" lang="en-GB" sz="1100" u="none" cap="none" strike="noStrike">
                <a:solidFill>
                  <a:srgbClr val="2C3E50"/>
                </a:solidFill>
                <a:latin typeface="Calibri"/>
                <a:ea typeface="Calibri"/>
                <a:cs typeface="Calibri"/>
                <a:sym typeface="Calibri"/>
              </a:rPr>
              <a:t>Apple Pay</a:t>
            </a:r>
            <a:endParaRPr b="0" i="0" sz="1100" u="none" cap="none" strike="noStrike">
              <a:solidFill>
                <a:schemeClr val="dk1"/>
              </a:solidFill>
              <a:latin typeface="Calibri"/>
              <a:ea typeface="Calibri"/>
              <a:cs typeface="Calibri"/>
              <a:sym typeface="Calibri"/>
            </a:endParaRPr>
          </a:p>
        </p:txBody>
      </p:sp>
      <p:sp>
        <p:nvSpPr>
          <p:cNvPr id="209" name="Google Shape;209;p18"/>
          <p:cNvSpPr/>
          <p:nvPr/>
        </p:nvSpPr>
        <p:spPr>
          <a:xfrm>
            <a:off x="2468880" y="1463040"/>
            <a:ext cx="914400" cy="457200"/>
          </a:xfrm>
          <a:prstGeom prst="rect">
            <a:avLst/>
          </a:prstGeom>
          <a:solidFill>
            <a:srgbClr val="00A896">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8"/>
          <p:cNvSpPr/>
          <p:nvPr/>
        </p:nvSpPr>
        <p:spPr>
          <a:xfrm>
            <a:off x="2468880" y="1463040"/>
            <a:ext cx="914400" cy="457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100"/>
              <a:buFont typeface="Calibri"/>
              <a:buNone/>
            </a:pPr>
            <a:r>
              <a:rPr b="1" i="0" lang="en-GB" sz="1100" u="none" cap="none" strike="noStrike">
                <a:solidFill>
                  <a:srgbClr val="2C3E50"/>
                </a:solidFill>
                <a:latin typeface="Calibri"/>
                <a:ea typeface="Calibri"/>
                <a:cs typeface="Calibri"/>
                <a:sym typeface="Calibri"/>
              </a:rPr>
              <a:t>JazzCash</a:t>
            </a:r>
            <a:endParaRPr b="0" i="0" sz="1100" u="none" cap="none" strike="noStrike">
              <a:solidFill>
                <a:schemeClr val="dk1"/>
              </a:solidFill>
              <a:latin typeface="Calibri"/>
              <a:ea typeface="Calibri"/>
              <a:cs typeface="Calibri"/>
              <a:sym typeface="Calibri"/>
            </a:endParaRPr>
          </a:p>
        </p:txBody>
      </p:sp>
      <p:sp>
        <p:nvSpPr>
          <p:cNvPr id="211" name="Google Shape;211;p18"/>
          <p:cNvSpPr/>
          <p:nvPr/>
        </p:nvSpPr>
        <p:spPr>
          <a:xfrm>
            <a:off x="3474720" y="1463040"/>
            <a:ext cx="914400" cy="457200"/>
          </a:xfrm>
          <a:prstGeom prst="rect">
            <a:avLst/>
          </a:prstGeom>
          <a:solidFill>
            <a:srgbClr val="00A896">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8"/>
          <p:cNvSpPr/>
          <p:nvPr/>
        </p:nvSpPr>
        <p:spPr>
          <a:xfrm>
            <a:off x="3474720" y="1463040"/>
            <a:ext cx="914400" cy="457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100"/>
              <a:buFont typeface="Calibri"/>
              <a:buNone/>
            </a:pPr>
            <a:r>
              <a:rPr b="1" i="0" lang="en-GB" sz="1100" u="none" cap="none" strike="noStrike">
                <a:solidFill>
                  <a:srgbClr val="2C3E50"/>
                </a:solidFill>
                <a:latin typeface="Calibri"/>
                <a:ea typeface="Calibri"/>
                <a:cs typeface="Calibri"/>
                <a:sym typeface="Calibri"/>
              </a:rPr>
              <a:t>EasyPaisa</a:t>
            </a:r>
            <a:endParaRPr b="0" i="0" sz="1100" u="none" cap="none" strike="noStrike">
              <a:solidFill>
                <a:schemeClr val="dk1"/>
              </a:solidFill>
              <a:latin typeface="Calibri"/>
              <a:ea typeface="Calibri"/>
              <a:cs typeface="Calibri"/>
              <a:sym typeface="Calibri"/>
            </a:endParaRPr>
          </a:p>
        </p:txBody>
      </p:sp>
      <p:sp>
        <p:nvSpPr>
          <p:cNvPr id="213" name="Google Shape;213;p18"/>
          <p:cNvSpPr/>
          <p:nvPr/>
        </p:nvSpPr>
        <p:spPr>
          <a:xfrm>
            <a:off x="457200" y="2194560"/>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800"/>
              <a:buFont typeface="Calibri"/>
              <a:buNone/>
            </a:pPr>
            <a:r>
              <a:rPr b="1" i="0" lang="en-GB" sz="1800" u="none" cap="none" strike="noStrike">
                <a:solidFill>
                  <a:srgbClr val="028090"/>
                </a:solidFill>
                <a:latin typeface="Calibri"/>
                <a:ea typeface="Calibri"/>
                <a:cs typeface="Calibri"/>
                <a:sym typeface="Calibri"/>
              </a:rPr>
              <a:t>PayLoop Features</a:t>
            </a:r>
            <a:endParaRPr b="0" i="0" sz="1800" u="none" cap="none" strike="noStrike">
              <a:solidFill>
                <a:schemeClr val="dk1"/>
              </a:solidFill>
              <a:latin typeface="Calibri"/>
              <a:ea typeface="Calibri"/>
              <a:cs typeface="Calibri"/>
              <a:sym typeface="Calibri"/>
            </a:endParaRPr>
          </a:p>
        </p:txBody>
      </p:sp>
      <p:pic>
        <p:nvPicPr>
          <p:cNvPr descr="preencoded.png" id="214" name="Google Shape;214;p18"/>
          <p:cNvPicPr preferRelativeResize="0"/>
          <p:nvPr/>
        </p:nvPicPr>
        <p:blipFill rotWithShape="1">
          <a:blip r:embed="rId3">
            <a:alphaModFix/>
          </a:blip>
          <a:srcRect b="0" l="0" r="0" t="0"/>
          <a:stretch/>
        </p:blipFill>
        <p:spPr>
          <a:xfrm>
            <a:off x="457200" y="2651760"/>
            <a:ext cx="320040" cy="320040"/>
          </a:xfrm>
          <a:prstGeom prst="rect">
            <a:avLst/>
          </a:prstGeom>
          <a:noFill/>
          <a:ln>
            <a:noFill/>
          </a:ln>
        </p:spPr>
      </p:pic>
      <p:sp>
        <p:nvSpPr>
          <p:cNvPr id="215" name="Google Shape;215;p18"/>
          <p:cNvSpPr/>
          <p:nvPr/>
        </p:nvSpPr>
        <p:spPr>
          <a:xfrm>
            <a:off x="868680" y="2651760"/>
            <a:ext cx="34747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lt1"/>
                </a:solidFill>
                <a:latin typeface="Calibri"/>
                <a:ea typeface="Calibri"/>
                <a:cs typeface="Calibri"/>
                <a:sym typeface="Calibri"/>
              </a:rPr>
              <a:t>User Registration &amp; Authentication</a:t>
            </a:r>
            <a:endParaRPr b="1" i="0" sz="1300" u="none" cap="none" strike="noStrike">
              <a:solidFill>
                <a:schemeClr val="lt1"/>
              </a:solidFill>
              <a:latin typeface="Calibri"/>
              <a:ea typeface="Calibri"/>
              <a:cs typeface="Calibri"/>
              <a:sym typeface="Calibri"/>
            </a:endParaRPr>
          </a:p>
        </p:txBody>
      </p:sp>
      <p:pic>
        <p:nvPicPr>
          <p:cNvPr descr="preencoded.png" id="216" name="Google Shape;216;p18"/>
          <p:cNvPicPr preferRelativeResize="0"/>
          <p:nvPr/>
        </p:nvPicPr>
        <p:blipFill rotWithShape="1">
          <a:blip r:embed="rId4">
            <a:alphaModFix/>
          </a:blip>
          <a:srcRect b="0" l="0" r="0" t="0"/>
          <a:stretch/>
        </p:blipFill>
        <p:spPr>
          <a:xfrm>
            <a:off x="4754880" y="2651760"/>
            <a:ext cx="320040" cy="320040"/>
          </a:xfrm>
          <a:prstGeom prst="rect">
            <a:avLst/>
          </a:prstGeom>
          <a:noFill/>
          <a:ln>
            <a:noFill/>
          </a:ln>
        </p:spPr>
      </p:pic>
      <p:sp>
        <p:nvSpPr>
          <p:cNvPr id="217" name="Google Shape;217;p18"/>
          <p:cNvSpPr/>
          <p:nvPr/>
        </p:nvSpPr>
        <p:spPr>
          <a:xfrm>
            <a:off x="5166360" y="2651760"/>
            <a:ext cx="34747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lt1"/>
                </a:solidFill>
                <a:latin typeface="Calibri"/>
                <a:ea typeface="Calibri"/>
                <a:cs typeface="Calibri"/>
                <a:sym typeface="Calibri"/>
              </a:rPr>
              <a:t>Wallet Management &amp; Balance Tracking</a:t>
            </a:r>
            <a:endParaRPr b="1" i="0" sz="1300" u="none" cap="none" strike="noStrike">
              <a:solidFill>
                <a:schemeClr val="lt1"/>
              </a:solidFill>
              <a:latin typeface="Calibri"/>
              <a:ea typeface="Calibri"/>
              <a:cs typeface="Calibri"/>
              <a:sym typeface="Calibri"/>
            </a:endParaRPr>
          </a:p>
        </p:txBody>
      </p:sp>
      <p:pic>
        <p:nvPicPr>
          <p:cNvPr descr="preencoded.png" id="218" name="Google Shape;218;p18"/>
          <p:cNvPicPr preferRelativeResize="0"/>
          <p:nvPr/>
        </p:nvPicPr>
        <p:blipFill rotWithShape="1">
          <a:blip r:embed="rId5">
            <a:alphaModFix/>
          </a:blip>
          <a:srcRect b="0" l="0" r="0" t="0"/>
          <a:stretch/>
        </p:blipFill>
        <p:spPr>
          <a:xfrm>
            <a:off x="457210" y="4298410"/>
            <a:ext cx="320040" cy="320040"/>
          </a:xfrm>
          <a:prstGeom prst="rect">
            <a:avLst/>
          </a:prstGeom>
          <a:noFill/>
          <a:ln>
            <a:noFill/>
          </a:ln>
        </p:spPr>
      </p:pic>
      <p:sp>
        <p:nvSpPr>
          <p:cNvPr id="219" name="Google Shape;219;p18"/>
          <p:cNvSpPr/>
          <p:nvPr/>
        </p:nvSpPr>
        <p:spPr>
          <a:xfrm>
            <a:off x="868678" y="4251960"/>
            <a:ext cx="34746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100" u="none" cap="none" strike="noStrike">
                <a:solidFill>
                  <a:schemeClr val="lt1"/>
                </a:solidFill>
                <a:latin typeface="Calibri"/>
                <a:ea typeface="Calibri"/>
                <a:cs typeface="Calibri"/>
                <a:sym typeface="Calibri"/>
              </a:rPr>
              <a:t>Fund Deposits &amp; Withdrawals</a:t>
            </a:r>
            <a:endParaRPr b="1" i="0" sz="1100" u="none" cap="none" strike="noStrike">
              <a:solidFill>
                <a:schemeClr val="lt1"/>
              </a:solidFill>
              <a:latin typeface="Calibri"/>
              <a:ea typeface="Calibri"/>
              <a:cs typeface="Calibri"/>
              <a:sym typeface="Calibri"/>
            </a:endParaRPr>
          </a:p>
        </p:txBody>
      </p:sp>
      <p:pic>
        <p:nvPicPr>
          <p:cNvPr descr="preencoded.png" id="220" name="Google Shape;220;p18"/>
          <p:cNvPicPr preferRelativeResize="0"/>
          <p:nvPr/>
        </p:nvPicPr>
        <p:blipFill rotWithShape="1">
          <a:blip r:embed="rId6">
            <a:alphaModFix/>
          </a:blip>
          <a:srcRect b="0" l="0" r="0" t="0"/>
          <a:stretch/>
        </p:blipFill>
        <p:spPr>
          <a:xfrm>
            <a:off x="13350240" y="2651760"/>
            <a:ext cx="320040" cy="320040"/>
          </a:xfrm>
          <a:prstGeom prst="rect">
            <a:avLst/>
          </a:prstGeom>
          <a:noFill/>
          <a:ln>
            <a:noFill/>
          </a:ln>
        </p:spPr>
      </p:pic>
      <p:sp>
        <p:nvSpPr>
          <p:cNvPr id="221" name="Google Shape;221;p18"/>
          <p:cNvSpPr/>
          <p:nvPr/>
        </p:nvSpPr>
        <p:spPr>
          <a:xfrm>
            <a:off x="13761720" y="2651760"/>
            <a:ext cx="34747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0" i="0" lang="en-GB" sz="1100" u="none" cap="none" strike="noStrike">
                <a:solidFill>
                  <a:srgbClr val="2C3E50"/>
                </a:solidFill>
                <a:latin typeface="Calibri"/>
                <a:ea typeface="Calibri"/>
                <a:cs typeface="Calibri"/>
                <a:sym typeface="Calibri"/>
              </a:rPr>
              <a:t>Peer-to-Peer Money Transfers</a:t>
            </a:r>
            <a:endParaRPr b="0" i="0" sz="1100" u="none" cap="none" strike="noStrike">
              <a:solidFill>
                <a:schemeClr val="dk1"/>
              </a:solidFill>
              <a:latin typeface="Calibri"/>
              <a:ea typeface="Calibri"/>
              <a:cs typeface="Calibri"/>
              <a:sym typeface="Calibri"/>
            </a:endParaRPr>
          </a:p>
        </p:txBody>
      </p:sp>
      <p:pic>
        <p:nvPicPr>
          <p:cNvPr descr="preencoded.png" id="222" name="Google Shape;222;p18"/>
          <p:cNvPicPr preferRelativeResize="0"/>
          <p:nvPr/>
        </p:nvPicPr>
        <p:blipFill rotWithShape="1">
          <a:blip r:embed="rId7">
            <a:alphaModFix/>
          </a:blip>
          <a:srcRect b="0" l="0" r="0" t="0"/>
          <a:stretch/>
        </p:blipFill>
        <p:spPr>
          <a:xfrm>
            <a:off x="457200" y="3657600"/>
            <a:ext cx="320040" cy="320040"/>
          </a:xfrm>
          <a:prstGeom prst="rect">
            <a:avLst/>
          </a:prstGeom>
          <a:noFill/>
          <a:ln>
            <a:noFill/>
          </a:ln>
        </p:spPr>
      </p:pic>
      <p:sp>
        <p:nvSpPr>
          <p:cNvPr id="223" name="Google Shape;223;p18"/>
          <p:cNvSpPr/>
          <p:nvPr/>
        </p:nvSpPr>
        <p:spPr>
          <a:xfrm>
            <a:off x="868680" y="3657600"/>
            <a:ext cx="34747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rgbClr val="F5F5F5"/>
                </a:solidFill>
                <a:latin typeface="Calibri"/>
                <a:ea typeface="Calibri"/>
                <a:cs typeface="Calibri"/>
                <a:sym typeface="Calibri"/>
              </a:rPr>
              <a:t>Merchant Payment Processing</a:t>
            </a:r>
            <a:endParaRPr b="1" i="0" sz="1300" u="none" cap="none" strike="noStrike">
              <a:solidFill>
                <a:srgbClr val="F5F5F5"/>
              </a:solidFill>
              <a:latin typeface="Calibri"/>
              <a:ea typeface="Calibri"/>
              <a:cs typeface="Calibri"/>
              <a:sym typeface="Calibri"/>
            </a:endParaRPr>
          </a:p>
        </p:txBody>
      </p:sp>
      <p:pic>
        <p:nvPicPr>
          <p:cNvPr descr="preencoded.png" id="224" name="Google Shape;224;p18"/>
          <p:cNvPicPr preferRelativeResize="0"/>
          <p:nvPr/>
        </p:nvPicPr>
        <p:blipFill rotWithShape="1">
          <a:blip r:embed="rId8">
            <a:alphaModFix/>
          </a:blip>
          <a:srcRect b="0" l="0" r="0" t="0"/>
          <a:stretch/>
        </p:blipFill>
        <p:spPr>
          <a:xfrm>
            <a:off x="4754880" y="3657600"/>
            <a:ext cx="320040" cy="320040"/>
          </a:xfrm>
          <a:prstGeom prst="rect">
            <a:avLst/>
          </a:prstGeom>
          <a:noFill/>
          <a:ln>
            <a:noFill/>
          </a:ln>
        </p:spPr>
      </p:pic>
      <p:sp>
        <p:nvSpPr>
          <p:cNvPr id="225" name="Google Shape;225;p18"/>
          <p:cNvSpPr/>
          <p:nvPr/>
        </p:nvSpPr>
        <p:spPr>
          <a:xfrm>
            <a:off x="5166360" y="3657600"/>
            <a:ext cx="34747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rgbClr val="F5F5F5"/>
                </a:solidFill>
                <a:latin typeface="Calibri"/>
                <a:ea typeface="Calibri"/>
                <a:cs typeface="Calibri"/>
                <a:sym typeface="Calibri"/>
              </a:rPr>
              <a:t>Complete Transaction History</a:t>
            </a:r>
            <a:endParaRPr b="1" i="0" sz="1300" u="none" cap="none" strike="noStrike">
              <a:solidFill>
                <a:srgbClr val="F5F5F5"/>
              </a:solidFill>
              <a:latin typeface="Calibri"/>
              <a:ea typeface="Calibri"/>
              <a:cs typeface="Calibri"/>
              <a:sym typeface="Calibri"/>
            </a:endParaRPr>
          </a:p>
        </p:txBody>
      </p:sp>
      <p:pic>
        <p:nvPicPr>
          <p:cNvPr descr="preencoded.png" id="226" name="Google Shape;226;p18"/>
          <p:cNvPicPr preferRelativeResize="0"/>
          <p:nvPr/>
        </p:nvPicPr>
        <p:blipFill rotWithShape="1">
          <a:blip r:embed="rId9">
            <a:alphaModFix/>
          </a:blip>
          <a:srcRect b="0" l="0" r="0" t="0"/>
          <a:stretch/>
        </p:blipFill>
        <p:spPr>
          <a:xfrm>
            <a:off x="4754885" y="4251975"/>
            <a:ext cx="320040" cy="320040"/>
          </a:xfrm>
          <a:prstGeom prst="rect">
            <a:avLst/>
          </a:prstGeom>
          <a:noFill/>
          <a:ln>
            <a:noFill/>
          </a:ln>
        </p:spPr>
      </p:pic>
      <p:sp>
        <p:nvSpPr>
          <p:cNvPr id="227" name="Google Shape;227;p18"/>
          <p:cNvSpPr/>
          <p:nvPr/>
        </p:nvSpPr>
        <p:spPr>
          <a:xfrm>
            <a:off x="5166352" y="4251975"/>
            <a:ext cx="34746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100" u="none" cap="none" strike="noStrike">
                <a:solidFill>
                  <a:schemeClr val="lt1"/>
                </a:solidFill>
                <a:latin typeface="Calibri"/>
                <a:ea typeface="Calibri"/>
                <a:cs typeface="Calibri"/>
                <a:sym typeface="Calibri"/>
              </a:rPr>
              <a:t>Admin Monitoring &amp; Control</a:t>
            </a:r>
            <a:endParaRPr b="1" i="0" sz="1100" u="none" cap="none" strike="noStrike">
              <a:solidFill>
                <a:schemeClr val="lt1"/>
              </a:solidFill>
              <a:latin typeface="Calibri"/>
              <a:ea typeface="Calibri"/>
              <a:cs typeface="Calibri"/>
              <a:sym typeface="Calibri"/>
            </a:endParaRPr>
          </a:p>
        </p:txBody>
      </p:sp>
      <p:pic>
        <p:nvPicPr>
          <p:cNvPr descr="preencoded.png" id="228" name="Google Shape;228;p18"/>
          <p:cNvPicPr preferRelativeResize="0"/>
          <p:nvPr/>
        </p:nvPicPr>
        <p:blipFill rotWithShape="1">
          <a:blip r:embed="rId10">
            <a:alphaModFix/>
          </a:blip>
          <a:srcRect b="0" l="0" r="0" t="0"/>
          <a:stretch/>
        </p:blipFill>
        <p:spPr>
          <a:xfrm>
            <a:off x="13350240" y="3657600"/>
            <a:ext cx="320040" cy="320040"/>
          </a:xfrm>
          <a:prstGeom prst="rect">
            <a:avLst/>
          </a:prstGeom>
          <a:noFill/>
          <a:ln>
            <a:noFill/>
          </a:ln>
        </p:spPr>
      </p:pic>
      <p:sp>
        <p:nvSpPr>
          <p:cNvPr id="229" name="Google Shape;229;p18"/>
          <p:cNvSpPr/>
          <p:nvPr/>
        </p:nvSpPr>
        <p:spPr>
          <a:xfrm>
            <a:off x="13761720" y="3657600"/>
            <a:ext cx="34747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0" i="0" lang="en-GB" sz="1100" u="none" cap="none" strike="noStrike">
                <a:solidFill>
                  <a:srgbClr val="2C3E50"/>
                </a:solidFill>
                <a:latin typeface="Calibri"/>
                <a:ea typeface="Calibri"/>
                <a:cs typeface="Calibri"/>
                <a:sym typeface="Calibri"/>
              </a:rPr>
              <a:t>Security &amp; Data Protection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9"/>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Functional Requirements</a:t>
            </a:r>
            <a:endParaRPr b="0" i="0" sz="3600" u="none" cap="none" strike="noStrike">
              <a:solidFill>
                <a:srgbClr val="02C39A"/>
              </a:solidFill>
              <a:latin typeface="Calibri"/>
              <a:ea typeface="Calibri"/>
              <a:cs typeface="Calibri"/>
              <a:sym typeface="Calibri"/>
            </a:endParaRPr>
          </a:p>
        </p:txBody>
      </p:sp>
      <p:sp>
        <p:nvSpPr>
          <p:cNvPr id="236" name="Google Shape;236;p19"/>
          <p:cNvSpPr/>
          <p:nvPr/>
        </p:nvSpPr>
        <p:spPr>
          <a:xfrm>
            <a:off x="457200" y="914400"/>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400"/>
              <a:buFont typeface="Calibri"/>
              <a:buNone/>
            </a:pPr>
            <a:r>
              <a:rPr b="1" i="1" lang="en-GB" sz="1400" u="none" cap="none" strike="noStrike">
                <a:solidFill>
                  <a:srgbClr val="F5F5F5"/>
                </a:solidFill>
                <a:latin typeface="Calibri"/>
                <a:ea typeface="Calibri"/>
                <a:cs typeface="Calibri"/>
                <a:sym typeface="Calibri"/>
              </a:rPr>
              <a:t>What the System Must Do</a:t>
            </a:r>
            <a:endParaRPr b="1" i="0" sz="1400" u="none" cap="none" strike="noStrike">
              <a:solidFill>
                <a:srgbClr val="F5F5F5"/>
              </a:solidFill>
              <a:latin typeface="Calibri"/>
              <a:ea typeface="Calibri"/>
              <a:cs typeface="Calibri"/>
              <a:sym typeface="Calibri"/>
            </a:endParaRPr>
          </a:p>
        </p:txBody>
      </p:sp>
      <p:sp>
        <p:nvSpPr>
          <p:cNvPr id="237" name="Google Shape;237;p19"/>
          <p:cNvSpPr/>
          <p:nvPr/>
        </p:nvSpPr>
        <p:spPr>
          <a:xfrm>
            <a:off x="457200" y="1371600"/>
            <a:ext cx="8229600" cy="457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9"/>
          <p:cNvSpPr/>
          <p:nvPr/>
        </p:nvSpPr>
        <p:spPr>
          <a:xfrm>
            <a:off x="640080" y="1444752"/>
            <a:ext cx="320040" cy="320040"/>
          </a:xfrm>
          <a:prstGeom prst="rect">
            <a:avLst/>
          </a:prstGeom>
          <a:solidFill>
            <a:srgbClr val="028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GB"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239" name="Google Shape;239;p19"/>
          <p:cNvSpPr/>
          <p:nvPr/>
        </p:nvSpPr>
        <p:spPr>
          <a:xfrm>
            <a:off x="1097280" y="1444752"/>
            <a:ext cx="2743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User Registration</a:t>
            </a:r>
            <a:endParaRPr b="0" i="0" sz="1300" u="none" cap="none" strike="noStrike">
              <a:solidFill>
                <a:schemeClr val="dk1"/>
              </a:solidFill>
              <a:latin typeface="Calibri"/>
              <a:ea typeface="Calibri"/>
              <a:cs typeface="Calibri"/>
              <a:sym typeface="Calibri"/>
            </a:endParaRPr>
          </a:p>
        </p:txBody>
      </p:sp>
      <p:sp>
        <p:nvSpPr>
          <p:cNvPr id="240" name="Google Shape;240;p19"/>
          <p:cNvSpPr/>
          <p:nvPr/>
        </p:nvSpPr>
        <p:spPr>
          <a:xfrm>
            <a:off x="3931920" y="1444752"/>
            <a:ext cx="45720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1" lang="en-GB" sz="1300" u="none" cap="none" strike="noStrike">
                <a:solidFill>
                  <a:schemeClr val="dk1"/>
                </a:solidFill>
                <a:latin typeface="Calibri"/>
                <a:ea typeface="Calibri"/>
                <a:cs typeface="Calibri"/>
                <a:sym typeface="Calibri"/>
              </a:rPr>
              <a:t>Register with unique email, phone, name, and password</a:t>
            </a:r>
            <a:endParaRPr b="1" i="1" sz="1300" u="none" cap="none" strike="noStrike">
              <a:solidFill>
                <a:schemeClr val="dk1"/>
              </a:solidFill>
              <a:latin typeface="Calibri"/>
              <a:ea typeface="Calibri"/>
              <a:cs typeface="Calibri"/>
              <a:sym typeface="Calibri"/>
            </a:endParaRPr>
          </a:p>
        </p:txBody>
      </p:sp>
      <p:sp>
        <p:nvSpPr>
          <p:cNvPr id="241" name="Google Shape;241;p19"/>
          <p:cNvSpPr/>
          <p:nvPr/>
        </p:nvSpPr>
        <p:spPr>
          <a:xfrm>
            <a:off x="457200" y="1865376"/>
            <a:ext cx="8229600" cy="4572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9"/>
          <p:cNvSpPr/>
          <p:nvPr/>
        </p:nvSpPr>
        <p:spPr>
          <a:xfrm>
            <a:off x="640080" y="1938528"/>
            <a:ext cx="320040" cy="320040"/>
          </a:xfrm>
          <a:prstGeom prst="rect">
            <a:avLst/>
          </a:prstGeom>
          <a:solidFill>
            <a:srgbClr val="028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GB"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243" name="Google Shape;243;p19"/>
          <p:cNvSpPr/>
          <p:nvPr/>
        </p:nvSpPr>
        <p:spPr>
          <a:xfrm>
            <a:off x="1097280" y="1938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Wallet Creation</a:t>
            </a:r>
            <a:endParaRPr b="0" i="0" sz="1300" u="none" cap="none" strike="noStrike">
              <a:solidFill>
                <a:schemeClr val="dk1"/>
              </a:solidFill>
              <a:latin typeface="Calibri"/>
              <a:ea typeface="Calibri"/>
              <a:cs typeface="Calibri"/>
              <a:sym typeface="Calibri"/>
            </a:endParaRPr>
          </a:p>
        </p:txBody>
      </p:sp>
      <p:sp>
        <p:nvSpPr>
          <p:cNvPr id="244" name="Google Shape;244;p19"/>
          <p:cNvSpPr/>
          <p:nvPr/>
        </p:nvSpPr>
        <p:spPr>
          <a:xfrm>
            <a:off x="3931925" y="1915065"/>
            <a:ext cx="47292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1" lang="en-GB" sz="1300" u="none" cap="none" strike="noStrike">
                <a:solidFill>
                  <a:schemeClr val="dk1"/>
                </a:solidFill>
                <a:latin typeface="Calibri"/>
                <a:ea typeface="Calibri"/>
                <a:cs typeface="Calibri"/>
                <a:sym typeface="Calibri"/>
              </a:rPr>
              <a:t>Automatically assign one wallet per user with zero initial balance</a:t>
            </a:r>
            <a:endParaRPr b="1" i="1" sz="1300" u="none" cap="none" strike="noStrike">
              <a:solidFill>
                <a:schemeClr val="dk1"/>
              </a:solidFill>
              <a:latin typeface="Calibri"/>
              <a:ea typeface="Calibri"/>
              <a:cs typeface="Calibri"/>
              <a:sym typeface="Calibri"/>
            </a:endParaRPr>
          </a:p>
        </p:txBody>
      </p:sp>
      <p:sp>
        <p:nvSpPr>
          <p:cNvPr id="245" name="Google Shape;245;p19"/>
          <p:cNvSpPr/>
          <p:nvPr/>
        </p:nvSpPr>
        <p:spPr>
          <a:xfrm>
            <a:off x="457200" y="2359152"/>
            <a:ext cx="8229600" cy="457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9"/>
          <p:cNvSpPr/>
          <p:nvPr/>
        </p:nvSpPr>
        <p:spPr>
          <a:xfrm>
            <a:off x="640080" y="2432304"/>
            <a:ext cx="320040" cy="320040"/>
          </a:xfrm>
          <a:prstGeom prst="rect">
            <a:avLst/>
          </a:prstGeom>
          <a:solidFill>
            <a:srgbClr val="028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GB"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247" name="Google Shape;247;p19"/>
          <p:cNvSpPr/>
          <p:nvPr/>
        </p:nvSpPr>
        <p:spPr>
          <a:xfrm>
            <a:off x="1097280" y="2432304"/>
            <a:ext cx="2743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Fund Deposit</a:t>
            </a:r>
            <a:endParaRPr b="0" i="0" sz="1300" u="none" cap="none" strike="noStrike">
              <a:solidFill>
                <a:schemeClr val="dk1"/>
              </a:solidFill>
              <a:latin typeface="Calibri"/>
              <a:ea typeface="Calibri"/>
              <a:cs typeface="Calibri"/>
              <a:sym typeface="Calibri"/>
            </a:endParaRPr>
          </a:p>
        </p:txBody>
      </p:sp>
      <p:sp>
        <p:nvSpPr>
          <p:cNvPr id="248" name="Google Shape;248;p19"/>
          <p:cNvSpPr/>
          <p:nvPr/>
        </p:nvSpPr>
        <p:spPr>
          <a:xfrm>
            <a:off x="3931925" y="2408842"/>
            <a:ext cx="47292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1" lang="en-GB" sz="1300" u="none" cap="none" strike="noStrike">
                <a:solidFill>
                  <a:schemeClr val="dk1"/>
                </a:solidFill>
                <a:latin typeface="Calibri"/>
                <a:ea typeface="Calibri"/>
                <a:cs typeface="Calibri"/>
                <a:sym typeface="Calibri"/>
              </a:rPr>
              <a:t>Add funds to wallet, recorded as credit transaction</a:t>
            </a:r>
            <a:endParaRPr b="1" i="1" sz="1300" u="none" cap="none" strike="noStrike">
              <a:solidFill>
                <a:schemeClr val="dk1"/>
              </a:solidFill>
              <a:latin typeface="Calibri"/>
              <a:ea typeface="Calibri"/>
              <a:cs typeface="Calibri"/>
              <a:sym typeface="Calibri"/>
            </a:endParaRPr>
          </a:p>
        </p:txBody>
      </p:sp>
      <p:sp>
        <p:nvSpPr>
          <p:cNvPr id="249" name="Google Shape;249;p19"/>
          <p:cNvSpPr/>
          <p:nvPr/>
        </p:nvSpPr>
        <p:spPr>
          <a:xfrm>
            <a:off x="457200" y="2852928"/>
            <a:ext cx="8229600" cy="4572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9"/>
          <p:cNvSpPr/>
          <p:nvPr/>
        </p:nvSpPr>
        <p:spPr>
          <a:xfrm>
            <a:off x="640080" y="2926080"/>
            <a:ext cx="320040" cy="320040"/>
          </a:xfrm>
          <a:prstGeom prst="rect">
            <a:avLst/>
          </a:prstGeom>
          <a:solidFill>
            <a:srgbClr val="028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GB"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251" name="Google Shape;251;p19"/>
          <p:cNvSpPr/>
          <p:nvPr/>
        </p:nvSpPr>
        <p:spPr>
          <a:xfrm>
            <a:off x="1097280" y="2926080"/>
            <a:ext cx="2743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Peer-to-Peer Transfer</a:t>
            </a:r>
            <a:endParaRPr b="0" i="0" sz="1300" u="none" cap="none" strike="noStrike">
              <a:solidFill>
                <a:schemeClr val="dk1"/>
              </a:solidFill>
              <a:latin typeface="Calibri"/>
              <a:ea typeface="Calibri"/>
              <a:cs typeface="Calibri"/>
              <a:sym typeface="Calibri"/>
            </a:endParaRPr>
          </a:p>
        </p:txBody>
      </p:sp>
      <p:sp>
        <p:nvSpPr>
          <p:cNvPr id="252" name="Google Shape;252;p19"/>
          <p:cNvSpPr/>
          <p:nvPr/>
        </p:nvSpPr>
        <p:spPr>
          <a:xfrm>
            <a:off x="3931925" y="2902619"/>
            <a:ext cx="47292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1" lang="en-GB" sz="1300" u="none" cap="none" strike="noStrike">
                <a:solidFill>
                  <a:schemeClr val="dk1"/>
                </a:solidFill>
                <a:latin typeface="Calibri"/>
                <a:ea typeface="Calibri"/>
                <a:cs typeface="Calibri"/>
                <a:sym typeface="Calibri"/>
              </a:rPr>
              <a:t>Transfer money between users with atomic debit/credit operations</a:t>
            </a:r>
            <a:endParaRPr b="1" i="1" sz="1300" u="none" cap="none" strike="noStrike">
              <a:solidFill>
                <a:schemeClr val="dk1"/>
              </a:solidFill>
              <a:latin typeface="Calibri"/>
              <a:ea typeface="Calibri"/>
              <a:cs typeface="Calibri"/>
              <a:sym typeface="Calibri"/>
            </a:endParaRPr>
          </a:p>
        </p:txBody>
      </p:sp>
      <p:sp>
        <p:nvSpPr>
          <p:cNvPr id="253" name="Google Shape;253;p19"/>
          <p:cNvSpPr/>
          <p:nvPr/>
        </p:nvSpPr>
        <p:spPr>
          <a:xfrm>
            <a:off x="457200" y="3346704"/>
            <a:ext cx="8229600" cy="457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9"/>
          <p:cNvSpPr/>
          <p:nvPr/>
        </p:nvSpPr>
        <p:spPr>
          <a:xfrm>
            <a:off x="640080" y="3419856"/>
            <a:ext cx="320040" cy="320040"/>
          </a:xfrm>
          <a:prstGeom prst="rect">
            <a:avLst/>
          </a:prstGeom>
          <a:solidFill>
            <a:srgbClr val="028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GB"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255" name="Google Shape;255;p19"/>
          <p:cNvSpPr/>
          <p:nvPr/>
        </p:nvSpPr>
        <p:spPr>
          <a:xfrm>
            <a:off x="1097280" y="3419856"/>
            <a:ext cx="2743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Merchant Payment</a:t>
            </a:r>
            <a:endParaRPr b="0" i="0" sz="1300" u="none" cap="none" strike="noStrike">
              <a:solidFill>
                <a:schemeClr val="dk1"/>
              </a:solidFill>
              <a:latin typeface="Calibri"/>
              <a:ea typeface="Calibri"/>
              <a:cs typeface="Calibri"/>
              <a:sym typeface="Calibri"/>
            </a:endParaRPr>
          </a:p>
        </p:txBody>
      </p:sp>
      <p:sp>
        <p:nvSpPr>
          <p:cNvPr id="256" name="Google Shape;256;p19"/>
          <p:cNvSpPr/>
          <p:nvPr/>
        </p:nvSpPr>
        <p:spPr>
          <a:xfrm>
            <a:off x="3931925" y="3396396"/>
            <a:ext cx="47292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1" lang="en-GB" sz="1300" u="none" cap="none" strike="noStrike">
                <a:solidFill>
                  <a:schemeClr val="dk1"/>
                </a:solidFill>
                <a:latin typeface="Calibri"/>
                <a:ea typeface="Calibri"/>
                <a:cs typeface="Calibri"/>
                <a:sym typeface="Calibri"/>
              </a:rPr>
              <a:t>Make payments to registered merchants, logged in both Payments and Transactions</a:t>
            </a:r>
            <a:endParaRPr b="1" i="1" sz="1300" u="none" cap="none" strike="noStrike">
              <a:solidFill>
                <a:schemeClr val="dk1"/>
              </a:solidFill>
              <a:latin typeface="Calibri"/>
              <a:ea typeface="Calibri"/>
              <a:cs typeface="Calibri"/>
              <a:sym typeface="Calibri"/>
            </a:endParaRPr>
          </a:p>
        </p:txBody>
      </p:sp>
      <p:sp>
        <p:nvSpPr>
          <p:cNvPr id="257" name="Google Shape;257;p19"/>
          <p:cNvSpPr/>
          <p:nvPr/>
        </p:nvSpPr>
        <p:spPr>
          <a:xfrm>
            <a:off x="457200" y="3840480"/>
            <a:ext cx="8229600" cy="4572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9"/>
          <p:cNvSpPr/>
          <p:nvPr/>
        </p:nvSpPr>
        <p:spPr>
          <a:xfrm>
            <a:off x="640080" y="3913632"/>
            <a:ext cx="320040" cy="320040"/>
          </a:xfrm>
          <a:prstGeom prst="rect">
            <a:avLst/>
          </a:prstGeom>
          <a:solidFill>
            <a:srgbClr val="028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GB"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259" name="Google Shape;259;p19"/>
          <p:cNvSpPr/>
          <p:nvPr/>
        </p:nvSpPr>
        <p:spPr>
          <a:xfrm>
            <a:off x="1097280" y="3913632"/>
            <a:ext cx="2743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Balance Inquiry</a:t>
            </a:r>
            <a:endParaRPr b="0" i="0" sz="1300" u="none" cap="none" strike="noStrike">
              <a:solidFill>
                <a:schemeClr val="dk1"/>
              </a:solidFill>
              <a:latin typeface="Calibri"/>
              <a:ea typeface="Calibri"/>
              <a:cs typeface="Calibri"/>
              <a:sym typeface="Calibri"/>
            </a:endParaRPr>
          </a:p>
        </p:txBody>
      </p:sp>
      <p:sp>
        <p:nvSpPr>
          <p:cNvPr id="260" name="Google Shape;260;p19"/>
          <p:cNvSpPr/>
          <p:nvPr/>
        </p:nvSpPr>
        <p:spPr>
          <a:xfrm>
            <a:off x="3931925" y="3890173"/>
            <a:ext cx="47292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1" lang="en-GB" sz="1300" u="none" cap="none" strike="noStrike">
                <a:solidFill>
                  <a:schemeClr val="dk1"/>
                </a:solidFill>
                <a:latin typeface="Calibri"/>
                <a:ea typeface="Calibri"/>
                <a:cs typeface="Calibri"/>
                <a:sym typeface="Calibri"/>
              </a:rPr>
              <a:t>Check current wallet balance at any time</a:t>
            </a:r>
            <a:endParaRPr b="1" i="1" sz="1300" u="none" cap="none" strike="noStrike">
              <a:solidFill>
                <a:schemeClr val="dk1"/>
              </a:solidFill>
              <a:latin typeface="Calibri"/>
              <a:ea typeface="Calibri"/>
              <a:cs typeface="Calibri"/>
              <a:sym typeface="Calibri"/>
            </a:endParaRPr>
          </a:p>
        </p:txBody>
      </p:sp>
      <p:sp>
        <p:nvSpPr>
          <p:cNvPr id="261" name="Google Shape;261;p19"/>
          <p:cNvSpPr/>
          <p:nvPr/>
        </p:nvSpPr>
        <p:spPr>
          <a:xfrm>
            <a:off x="457200" y="4334256"/>
            <a:ext cx="8229600" cy="457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9"/>
          <p:cNvSpPr/>
          <p:nvPr/>
        </p:nvSpPr>
        <p:spPr>
          <a:xfrm>
            <a:off x="640080" y="4407408"/>
            <a:ext cx="320040" cy="320040"/>
          </a:xfrm>
          <a:prstGeom prst="rect">
            <a:avLst/>
          </a:prstGeom>
          <a:solidFill>
            <a:srgbClr val="028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GB" sz="1600" u="none" cap="none" strike="noStrike">
                <a:solidFill>
                  <a:srgbClr val="FFFFFF"/>
                </a:solidFill>
                <a:latin typeface="Calibri"/>
                <a:ea typeface="Calibri"/>
                <a:cs typeface="Calibri"/>
                <a:sym typeface="Calibri"/>
              </a:rPr>
              <a:t>7</a:t>
            </a:r>
            <a:endParaRPr b="0" i="0" sz="1600" u="none" cap="none" strike="noStrike">
              <a:solidFill>
                <a:schemeClr val="dk1"/>
              </a:solidFill>
              <a:latin typeface="Calibri"/>
              <a:ea typeface="Calibri"/>
              <a:cs typeface="Calibri"/>
              <a:sym typeface="Calibri"/>
            </a:endParaRPr>
          </a:p>
        </p:txBody>
      </p:sp>
      <p:sp>
        <p:nvSpPr>
          <p:cNvPr id="263" name="Google Shape;263;p19"/>
          <p:cNvSpPr/>
          <p:nvPr/>
        </p:nvSpPr>
        <p:spPr>
          <a:xfrm>
            <a:off x="1097280" y="4407408"/>
            <a:ext cx="2743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Transaction History</a:t>
            </a:r>
            <a:endParaRPr b="0" i="0" sz="1300" u="none" cap="none" strike="noStrike">
              <a:solidFill>
                <a:schemeClr val="dk1"/>
              </a:solidFill>
              <a:latin typeface="Calibri"/>
              <a:ea typeface="Calibri"/>
              <a:cs typeface="Calibri"/>
              <a:sym typeface="Calibri"/>
            </a:endParaRPr>
          </a:p>
        </p:txBody>
      </p:sp>
      <p:sp>
        <p:nvSpPr>
          <p:cNvPr id="264" name="Google Shape;264;p19"/>
          <p:cNvSpPr/>
          <p:nvPr/>
        </p:nvSpPr>
        <p:spPr>
          <a:xfrm>
            <a:off x="3931925" y="4383950"/>
            <a:ext cx="47292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1" lang="en-GB" sz="1300" u="none" cap="none" strike="noStrike">
                <a:solidFill>
                  <a:schemeClr val="dk1"/>
                </a:solidFill>
                <a:latin typeface="Calibri"/>
                <a:ea typeface="Calibri"/>
                <a:cs typeface="Calibri"/>
                <a:sym typeface="Calibri"/>
              </a:rPr>
              <a:t>View complete history filterable by type, status, and date</a:t>
            </a:r>
            <a:endParaRPr b="1" i="1"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0"/>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Non-Functional Requirements</a:t>
            </a:r>
            <a:endParaRPr b="0" i="0" sz="3600" u="none" cap="none" strike="noStrike">
              <a:solidFill>
                <a:srgbClr val="02C39A"/>
              </a:solidFill>
              <a:latin typeface="Calibri"/>
              <a:ea typeface="Calibri"/>
              <a:cs typeface="Calibri"/>
              <a:sym typeface="Calibri"/>
            </a:endParaRPr>
          </a:p>
        </p:txBody>
      </p:sp>
      <p:sp>
        <p:nvSpPr>
          <p:cNvPr id="271" name="Google Shape;271;p20"/>
          <p:cNvSpPr/>
          <p:nvPr/>
        </p:nvSpPr>
        <p:spPr>
          <a:xfrm>
            <a:off x="457200" y="914400"/>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400"/>
              <a:buFont typeface="Calibri"/>
              <a:buNone/>
            </a:pPr>
            <a:r>
              <a:rPr b="1" i="1" lang="en-GB" sz="1400" u="none" cap="none" strike="noStrike">
                <a:solidFill>
                  <a:schemeClr val="lt1"/>
                </a:solidFill>
                <a:latin typeface="Calibri"/>
                <a:ea typeface="Calibri"/>
                <a:cs typeface="Calibri"/>
                <a:sym typeface="Calibri"/>
              </a:rPr>
              <a:t>How the System Must Perform</a:t>
            </a:r>
            <a:endParaRPr b="1" i="0" sz="1400" u="none" cap="none" strike="noStrike">
              <a:solidFill>
                <a:schemeClr val="lt1"/>
              </a:solidFill>
              <a:latin typeface="Calibri"/>
              <a:ea typeface="Calibri"/>
              <a:cs typeface="Calibri"/>
              <a:sym typeface="Calibri"/>
            </a:endParaRPr>
          </a:p>
        </p:txBody>
      </p:sp>
      <p:sp>
        <p:nvSpPr>
          <p:cNvPr id="272" name="Google Shape;272;p20"/>
          <p:cNvSpPr/>
          <p:nvPr/>
        </p:nvSpPr>
        <p:spPr>
          <a:xfrm>
            <a:off x="457200" y="146304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73" name="Google Shape;273;p20"/>
          <p:cNvPicPr preferRelativeResize="0"/>
          <p:nvPr/>
        </p:nvPicPr>
        <p:blipFill rotWithShape="1">
          <a:blip r:embed="rId3">
            <a:alphaModFix/>
          </a:blip>
          <a:srcRect b="0" l="0" r="0" t="0"/>
          <a:stretch/>
        </p:blipFill>
        <p:spPr>
          <a:xfrm>
            <a:off x="731520" y="1645920"/>
            <a:ext cx="457200" cy="457200"/>
          </a:xfrm>
          <a:prstGeom prst="rect">
            <a:avLst/>
          </a:prstGeom>
          <a:noFill/>
          <a:ln>
            <a:noFill/>
          </a:ln>
        </p:spPr>
      </p:pic>
      <p:sp>
        <p:nvSpPr>
          <p:cNvPr id="274" name="Google Shape;274;p20"/>
          <p:cNvSpPr/>
          <p:nvPr/>
        </p:nvSpPr>
        <p:spPr>
          <a:xfrm>
            <a:off x="1280160" y="169164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Data Integrity</a:t>
            </a:r>
            <a:endParaRPr b="0" i="0" sz="1400" u="none" cap="none" strike="noStrike">
              <a:solidFill>
                <a:schemeClr val="dk1"/>
              </a:solidFill>
              <a:latin typeface="Calibri"/>
              <a:ea typeface="Calibri"/>
              <a:cs typeface="Calibri"/>
              <a:sym typeface="Calibri"/>
            </a:endParaRPr>
          </a:p>
        </p:txBody>
      </p:sp>
      <p:sp>
        <p:nvSpPr>
          <p:cNvPr id="275" name="Google Shape;275;p20"/>
          <p:cNvSpPr/>
          <p:nvPr/>
        </p:nvSpPr>
        <p:spPr>
          <a:xfrm>
            <a:off x="731520" y="2103120"/>
            <a:ext cx="21945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dk1"/>
                </a:solidFill>
                <a:latin typeface="Calibri"/>
                <a:ea typeface="Calibri"/>
                <a:cs typeface="Calibri"/>
                <a:sym typeface="Calibri"/>
              </a:rPr>
              <a:t>All constraints enforced at database level</a:t>
            </a:r>
            <a:endParaRPr b="1" i="0" sz="1300" u="none" cap="none" strike="noStrike">
              <a:solidFill>
                <a:schemeClr val="dk1"/>
              </a:solidFill>
              <a:latin typeface="Calibri"/>
              <a:ea typeface="Calibri"/>
              <a:cs typeface="Calibri"/>
              <a:sym typeface="Calibri"/>
            </a:endParaRPr>
          </a:p>
        </p:txBody>
      </p:sp>
      <p:sp>
        <p:nvSpPr>
          <p:cNvPr id="276" name="Google Shape;276;p20"/>
          <p:cNvSpPr/>
          <p:nvPr/>
        </p:nvSpPr>
        <p:spPr>
          <a:xfrm>
            <a:off x="3383280" y="146304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77" name="Google Shape;277;p20"/>
          <p:cNvPicPr preferRelativeResize="0"/>
          <p:nvPr/>
        </p:nvPicPr>
        <p:blipFill rotWithShape="1">
          <a:blip r:embed="rId4">
            <a:alphaModFix/>
          </a:blip>
          <a:srcRect b="0" l="0" r="0" t="0"/>
          <a:stretch/>
        </p:blipFill>
        <p:spPr>
          <a:xfrm>
            <a:off x="3657600" y="1645920"/>
            <a:ext cx="457200" cy="457200"/>
          </a:xfrm>
          <a:prstGeom prst="rect">
            <a:avLst/>
          </a:prstGeom>
          <a:noFill/>
          <a:ln>
            <a:noFill/>
          </a:ln>
        </p:spPr>
      </p:pic>
      <p:sp>
        <p:nvSpPr>
          <p:cNvPr id="278" name="Google Shape;278;p20"/>
          <p:cNvSpPr/>
          <p:nvPr/>
        </p:nvSpPr>
        <p:spPr>
          <a:xfrm>
            <a:off x="4206240" y="169164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Security</a:t>
            </a:r>
            <a:endParaRPr b="0" i="0" sz="1400" u="none" cap="none" strike="noStrike">
              <a:solidFill>
                <a:schemeClr val="dk1"/>
              </a:solidFill>
              <a:latin typeface="Calibri"/>
              <a:ea typeface="Calibri"/>
              <a:cs typeface="Calibri"/>
              <a:sym typeface="Calibri"/>
            </a:endParaRPr>
          </a:p>
        </p:txBody>
      </p:sp>
      <p:sp>
        <p:nvSpPr>
          <p:cNvPr id="279" name="Google Shape;279;p20"/>
          <p:cNvSpPr/>
          <p:nvPr/>
        </p:nvSpPr>
        <p:spPr>
          <a:xfrm>
            <a:off x="3657600" y="2103120"/>
            <a:ext cx="21945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dk1"/>
                </a:solidFill>
                <a:latin typeface="Calibri"/>
                <a:ea typeface="Calibri"/>
                <a:cs typeface="Calibri"/>
                <a:sym typeface="Calibri"/>
              </a:rPr>
              <a:t>Passwords, role-based access control</a:t>
            </a:r>
            <a:endParaRPr b="1" i="0" sz="1300" u="none" cap="none" strike="noStrike">
              <a:solidFill>
                <a:schemeClr val="dk1"/>
              </a:solidFill>
              <a:latin typeface="Calibri"/>
              <a:ea typeface="Calibri"/>
              <a:cs typeface="Calibri"/>
              <a:sym typeface="Calibri"/>
            </a:endParaRPr>
          </a:p>
        </p:txBody>
      </p:sp>
      <p:sp>
        <p:nvSpPr>
          <p:cNvPr id="280" name="Google Shape;280;p20"/>
          <p:cNvSpPr/>
          <p:nvPr/>
        </p:nvSpPr>
        <p:spPr>
          <a:xfrm>
            <a:off x="6309360" y="146304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1" name="Google Shape;281;p20"/>
          <p:cNvPicPr preferRelativeResize="0"/>
          <p:nvPr/>
        </p:nvPicPr>
        <p:blipFill rotWithShape="1">
          <a:blip r:embed="rId5">
            <a:alphaModFix/>
          </a:blip>
          <a:srcRect b="0" l="0" r="0" t="0"/>
          <a:stretch/>
        </p:blipFill>
        <p:spPr>
          <a:xfrm>
            <a:off x="6583680" y="1645920"/>
            <a:ext cx="457200" cy="457200"/>
          </a:xfrm>
          <a:prstGeom prst="rect">
            <a:avLst/>
          </a:prstGeom>
          <a:noFill/>
          <a:ln>
            <a:noFill/>
          </a:ln>
        </p:spPr>
      </p:pic>
      <p:sp>
        <p:nvSpPr>
          <p:cNvPr id="282" name="Google Shape;282;p20"/>
          <p:cNvSpPr/>
          <p:nvPr/>
        </p:nvSpPr>
        <p:spPr>
          <a:xfrm>
            <a:off x="7132320" y="169164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Reliability</a:t>
            </a:r>
            <a:endParaRPr b="0" i="0" sz="1400" u="none" cap="none" strike="noStrike">
              <a:solidFill>
                <a:schemeClr val="dk1"/>
              </a:solidFill>
              <a:latin typeface="Calibri"/>
              <a:ea typeface="Calibri"/>
              <a:cs typeface="Calibri"/>
              <a:sym typeface="Calibri"/>
            </a:endParaRPr>
          </a:p>
        </p:txBody>
      </p:sp>
      <p:sp>
        <p:nvSpPr>
          <p:cNvPr id="283" name="Google Shape;283;p20"/>
          <p:cNvSpPr/>
          <p:nvPr/>
        </p:nvSpPr>
        <p:spPr>
          <a:xfrm>
            <a:off x="6583680" y="2103120"/>
            <a:ext cx="21945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dk1"/>
                </a:solidFill>
                <a:latin typeface="Calibri"/>
                <a:ea typeface="Calibri"/>
                <a:cs typeface="Calibri"/>
                <a:sym typeface="Calibri"/>
              </a:rPr>
              <a:t>Atomic operations prevent partial states</a:t>
            </a:r>
            <a:endParaRPr b="1" i="0" sz="1300" u="none" cap="none" strike="noStrike">
              <a:solidFill>
                <a:schemeClr val="dk1"/>
              </a:solidFill>
              <a:latin typeface="Calibri"/>
              <a:ea typeface="Calibri"/>
              <a:cs typeface="Calibri"/>
              <a:sym typeface="Calibri"/>
            </a:endParaRPr>
          </a:p>
        </p:txBody>
      </p:sp>
      <p:sp>
        <p:nvSpPr>
          <p:cNvPr id="284" name="Google Shape;284;p20"/>
          <p:cNvSpPr/>
          <p:nvPr/>
        </p:nvSpPr>
        <p:spPr>
          <a:xfrm>
            <a:off x="457200" y="320040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5" name="Google Shape;285;p20"/>
          <p:cNvPicPr preferRelativeResize="0"/>
          <p:nvPr/>
        </p:nvPicPr>
        <p:blipFill rotWithShape="1">
          <a:blip r:embed="rId6">
            <a:alphaModFix/>
          </a:blip>
          <a:srcRect b="0" l="0" r="0" t="0"/>
          <a:stretch/>
        </p:blipFill>
        <p:spPr>
          <a:xfrm>
            <a:off x="731520" y="3383280"/>
            <a:ext cx="457200" cy="457200"/>
          </a:xfrm>
          <a:prstGeom prst="rect">
            <a:avLst/>
          </a:prstGeom>
          <a:noFill/>
          <a:ln>
            <a:noFill/>
          </a:ln>
        </p:spPr>
      </p:pic>
      <p:sp>
        <p:nvSpPr>
          <p:cNvPr id="286" name="Google Shape;286;p20"/>
          <p:cNvSpPr/>
          <p:nvPr/>
        </p:nvSpPr>
        <p:spPr>
          <a:xfrm>
            <a:off x="1280160" y="342900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Performance</a:t>
            </a:r>
            <a:endParaRPr b="0" i="0" sz="1400" u="none" cap="none" strike="noStrike">
              <a:solidFill>
                <a:schemeClr val="dk1"/>
              </a:solidFill>
              <a:latin typeface="Calibri"/>
              <a:ea typeface="Calibri"/>
              <a:cs typeface="Calibri"/>
              <a:sym typeface="Calibri"/>
            </a:endParaRPr>
          </a:p>
        </p:txBody>
      </p:sp>
      <p:sp>
        <p:nvSpPr>
          <p:cNvPr id="287" name="Google Shape;287;p20"/>
          <p:cNvSpPr/>
          <p:nvPr/>
        </p:nvSpPr>
        <p:spPr>
          <a:xfrm>
            <a:off x="731520" y="3840480"/>
            <a:ext cx="21945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dk1"/>
                </a:solidFill>
                <a:latin typeface="Calibri"/>
                <a:ea typeface="Calibri"/>
                <a:cs typeface="Calibri"/>
                <a:sym typeface="Calibri"/>
              </a:rPr>
              <a:t>Indexed PKs and FKs for fast lookups</a:t>
            </a:r>
            <a:endParaRPr b="1" i="0" sz="1300" u="none" cap="none" strike="noStrike">
              <a:solidFill>
                <a:schemeClr val="dk1"/>
              </a:solidFill>
              <a:latin typeface="Calibri"/>
              <a:ea typeface="Calibri"/>
              <a:cs typeface="Calibri"/>
              <a:sym typeface="Calibri"/>
            </a:endParaRPr>
          </a:p>
        </p:txBody>
      </p:sp>
      <p:sp>
        <p:nvSpPr>
          <p:cNvPr id="288" name="Google Shape;288;p20"/>
          <p:cNvSpPr/>
          <p:nvPr/>
        </p:nvSpPr>
        <p:spPr>
          <a:xfrm>
            <a:off x="3383280" y="320040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9" name="Google Shape;289;p20"/>
          <p:cNvPicPr preferRelativeResize="0"/>
          <p:nvPr/>
        </p:nvPicPr>
        <p:blipFill rotWithShape="1">
          <a:blip r:embed="rId7">
            <a:alphaModFix/>
          </a:blip>
          <a:srcRect b="0" l="0" r="0" t="0"/>
          <a:stretch/>
        </p:blipFill>
        <p:spPr>
          <a:xfrm>
            <a:off x="3657600" y="3383280"/>
            <a:ext cx="457200" cy="457200"/>
          </a:xfrm>
          <a:prstGeom prst="rect">
            <a:avLst/>
          </a:prstGeom>
          <a:noFill/>
          <a:ln>
            <a:noFill/>
          </a:ln>
        </p:spPr>
      </p:pic>
      <p:sp>
        <p:nvSpPr>
          <p:cNvPr id="290" name="Google Shape;290;p20"/>
          <p:cNvSpPr/>
          <p:nvPr/>
        </p:nvSpPr>
        <p:spPr>
          <a:xfrm>
            <a:off x="4206240" y="342900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Scalability</a:t>
            </a:r>
            <a:endParaRPr b="0" i="0" sz="1400" u="none" cap="none" strike="noStrike">
              <a:solidFill>
                <a:schemeClr val="dk1"/>
              </a:solidFill>
              <a:latin typeface="Calibri"/>
              <a:ea typeface="Calibri"/>
              <a:cs typeface="Calibri"/>
              <a:sym typeface="Calibri"/>
            </a:endParaRPr>
          </a:p>
        </p:txBody>
      </p:sp>
      <p:sp>
        <p:nvSpPr>
          <p:cNvPr id="291" name="Google Shape;291;p20"/>
          <p:cNvSpPr/>
          <p:nvPr/>
        </p:nvSpPr>
        <p:spPr>
          <a:xfrm>
            <a:off x="3657600" y="3840480"/>
            <a:ext cx="21945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dk1"/>
                </a:solidFill>
                <a:latin typeface="Calibri"/>
                <a:ea typeface="Calibri"/>
                <a:cs typeface="Calibri"/>
                <a:sym typeface="Calibri"/>
              </a:rPr>
              <a:t>Normalized schema supports growth</a:t>
            </a:r>
            <a:endParaRPr b="1" i="0" sz="1300" u="none" cap="none" strike="noStrike">
              <a:solidFill>
                <a:schemeClr val="dk1"/>
              </a:solidFill>
              <a:latin typeface="Calibri"/>
              <a:ea typeface="Calibri"/>
              <a:cs typeface="Calibri"/>
              <a:sym typeface="Calibri"/>
            </a:endParaRPr>
          </a:p>
        </p:txBody>
      </p:sp>
      <p:sp>
        <p:nvSpPr>
          <p:cNvPr id="292" name="Google Shape;292;p20"/>
          <p:cNvSpPr/>
          <p:nvPr/>
        </p:nvSpPr>
        <p:spPr>
          <a:xfrm>
            <a:off x="6309360" y="320040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3" name="Google Shape;293;p20"/>
          <p:cNvPicPr preferRelativeResize="0"/>
          <p:nvPr/>
        </p:nvPicPr>
        <p:blipFill rotWithShape="1">
          <a:blip r:embed="rId8">
            <a:alphaModFix/>
          </a:blip>
          <a:srcRect b="0" l="0" r="0" t="0"/>
          <a:stretch/>
        </p:blipFill>
        <p:spPr>
          <a:xfrm>
            <a:off x="6583680" y="3383280"/>
            <a:ext cx="457200" cy="457200"/>
          </a:xfrm>
          <a:prstGeom prst="rect">
            <a:avLst/>
          </a:prstGeom>
          <a:noFill/>
          <a:ln>
            <a:noFill/>
          </a:ln>
        </p:spPr>
      </p:pic>
      <p:sp>
        <p:nvSpPr>
          <p:cNvPr id="294" name="Google Shape;294;p20"/>
          <p:cNvSpPr/>
          <p:nvPr/>
        </p:nvSpPr>
        <p:spPr>
          <a:xfrm>
            <a:off x="7132320" y="342900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Maintainability</a:t>
            </a:r>
            <a:endParaRPr b="0" i="0" sz="1400" u="none" cap="none" strike="noStrike">
              <a:solidFill>
                <a:schemeClr val="dk1"/>
              </a:solidFill>
              <a:latin typeface="Calibri"/>
              <a:ea typeface="Calibri"/>
              <a:cs typeface="Calibri"/>
              <a:sym typeface="Calibri"/>
            </a:endParaRPr>
          </a:p>
        </p:txBody>
      </p:sp>
      <p:sp>
        <p:nvSpPr>
          <p:cNvPr id="295" name="Google Shape;295;p20"/>
          <p:cNvSpPr/>
          <p:nvPr/>
        </p:nvSpPr>
        <p:spPr>
          <a:xfrm>
            <a:off x="6583680" y="3840480"/>
            <a:ext cx="21945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dk1"/>
                </a:solidFill>
                <a:latin typeface="Calibri"/>
                <a:ea typeface="Calibri"/>
                <a:cs typeface="Calibri"/>
                <a:sym typeface="Calibri"/>
              </a:rPr>
              <a:t>Views and stored procedures encapsulate logic</a:t>
            </a:r>
            <a:endParaRPr b="1"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1"/>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Assumptions &amp; Scope</a:t>
            </a:r>
            <a:endParaRPr b="0" i="0" sz="3600" u="none" cap="none" strike="noStrike">
              <a:solidFill>
                <a:srgbClr val="02C39A"/>
              </a:solidFill>
              <a:latin typeface="Calibri"/>
              <a:ea typeface="Calibri"/>
              <a:cs typeface="Calibri"/>
              <a:sym typeface="Calibri"/>
            </a:endParaRPr>
          </a:p>
        </p:txBody>
      </p:sp>
      <p:sp>
        <p:nvSpPr>
          <p:cNvPr id="302" name="Google Shape;302;p21"/>
          <p:cNvSpPr/>
          <p:nvPr/>
        </p:nvSpPr>
        <p:spPr>
          <a:xfrm>
            <a:off x="1150080" y="1059695"/>
            <a:ext cx="6949500" cy="34746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42857"/>
              </a:lnSpc>
              <a:spcBef>
                <a:spcPts val="0"/>
              </a:spcBef>
              <a:spcAft>
                <a:spcPts val="0"/>
              </a:spcAft>
              <a:buClr>
                <a:schemeClr val="lt1"/>
              </a:buClr>
              <a:buSzPts val="1400"/>
              <a:buFont typeface="Calibri"/>
              <a:buChar char="•"/>
            </a:pPr>
            <a:r>
              <a:rPr b="1" i="0" lang="en-GB" sz="1400" u="none" cap="none" strike="noStrike">
                <a:solidFill>
                  <a:schemeClr val="lt1"/>
                </a:solidFill>
                <a:latin typeface="Calibri"/>
                <a:ea typeface="Calibri"/>
                <a:cs typeface="Calibri"/>
                <a:sym typeface="Calibri"/>
              </a:rPr>
              <a:t>One user = one wallet (1:1 relationship enforced)</a:t>
            </a:r>
            <a:endParaRPr b="1" i="0" sz="1400" u="none" cap="none" strike="noStrike">
              <a:solidFill>
                <a:schemeClr val="lt1"/>
              </a:solidFill>
              <a:latin typeface="Calibri"/>
              <a:ea typeface="Calibri"/>
              <a:cs typeface="Calibri"/>
              <a:sym typeface="Calibri"/>
            </a:endParaRPr>
          </a:p>
          <a:p>
            <a:pPr indent="-342900" lvl="0" marL="342900" marR="0" rtl="0" algn="l">
              <a:lnSpc>
                <a:spcPct val="142857"/>
              </a:lnSpc>
              <a:spcBef>
                <a:spcPts val="0"/>
              </a:spcBef>
              <a:spcAft>
                <a:spcPts val="0"/>
              </a:spcAft>
              <a:buClr>
                <a:schemeClr val="lt1"/>
              </a:buClr>
              <a:buSzPts val="1400"/>
              <a:buFont typeface="Calibri"/>
              <a:buChar char="•"/>
            </a:pPr>
            <a:r>
              <a:rPr b="1" i="0" lang="en-GB" sz="1400" u="none" cap="none" strike="noStrike">
                <a:solidFill>
                  <a:schemeClr val="lt1"/>
                </a:solidFill>
                <a:latin typeface="Calibri"/>
                <a:ea typeface="Calibri"/>
                <a:cs typeface="Calibri"/>
                <a:sym typeface="Calibri"/>
              </a:rPr>
              <a:t>Wallet balance cannot go negative (CHECK constraint)</a:t>
            </a:r>
            <a:endParaRPr b="1" i="0" sz="1400" u="none" cap="none" strike="noStrike">
              <a:solidFill>
                <a:schemeClr val="lt1"/>
              </a:solidFill>
              <a:latin typeface="Calibri"/>
              <a:ea typeface="Calibri"/>
              <a:cs typeface="Calibri"/>
              <a:sym typeface="Calibri"/>
            </a:endParaRPr>
          </a:p>
          <a:p>
            <a:pPr indent="-342900" lvl="0" marL="342900" marR="0" rtl="0" algn="l">
              <a:lnSpc>
                <a:spcPct val="142857"/>
              </a:lnSpc>
              <a:spcBef>
                <a:spcPts val="0"/>
              </a:spcBef>
              <a:spcAft>
                <a:spcPts val="0"/>
              </a:spcAft>
              <a:buClr>
                <a:schemeClr val="lt1"/>
              </a:buClr>
              <a:buSzPts val="1400"/>
              <a:buFont typeface="Calibri"/>
              <a:buChar char="•"/>
            </a:pPr>
            <a:r>
              <a:rPr b="1" i="0" lang="en-GB" sz="1400" u="none" cap="none" strike="noStrike">
                <a:solidFill>
                  <a:schemeClr val="lt1"/>
                </a:solidFill>
                <a:latin typeface="Calibri"/>
                <a:ea typeface="Calibri"/>
                <a:cs typeface="Calibri"/>
                <a:sym typeface="Calibri"/>
              </a:rPr>
              <a:t>All transaction amounts must be positive</a:t>
            </a:r>
            <a:endParaRPr b="1" i="0" sz="1400" u="none" cap="none" strike="noStrike">
              <a:solidFill>
                <a:schemeClr val="lt1"/>
              </a:solidFill>
              <a:latin typeface="Calibri"/>
              <a:ea typeface="Calibri"/>
              <a:cs typeface="Calibri"/>
              <a:sym typeface="Calibri"/>
            </a:endParaRPr>
          </a:p>
          <a:p>
            <a:pPr indent="-342900" lvl="0" marL="342900" marR="0" rtl="0" algn="l">
              <a:lnSpc>
                <a:spcPct val="142857"/>
              </a:lnSpc>
              <a:spcBef>
                <a:spcPts val="0"/>
              </a:spcBef>
              <a:spcAft>
                <a:spcPts val="0"/>
              </a:spcAft>
              <a:buClr>
                <a:schemeClr val="lt1"/>
              </a:buClr>
              <a:buSzPts val="1400"/>
              <a:buFont typeface="Calibri"/>
              <a:buChar char="•"/>
            </a:pPr>
            <a:r>
              <a:rPr b="1" i="0" lang="en-GB" sz="1400" u="none" cap="none" strike="noStrike">
                <a:solidFill>
                  <a:schemeClr val="lt1"/>
                </a:solidFill>
                <a:latin typeface="Calibri"/>
                <a:ea typeface="Calibri"/>
                <a:cs typeface="Calibri"/>
                <a:sym typeface="Calibri"/>
              </a:rPr>
              <a:t>Email and phone numbers must be unique</a:t>
            </a:r>
            <a:endParaRPr b="1" i="0" sz="1400" u="none" cap="none" strike="noStrike">
              <a:solidFill>
                <a:schemeClr val="lt1"/>
              </a:solidFill>
              <a:latin typeface="Calibri"/>
              <a:ea typeface="Calibri"/>
              <a:cs typeface="Calibri"/>
              <a:sym typeface="Calibri"/>
            </a:endParaRPr>
          </a:p>
          <a:p>
            <a:pPr indent="-342900" lvl="0" marL="342900" marR="0" rtl="0" algn="l">
              <a:lnSpc>
                <a:spcPct val="142857"/>
              </a:lnSpc>
              <a:spcBef>
                <a:spcPts val="0"/>
              </a:spcBef>
              <a:spcAft>
                <a:spcPts val="0"/>
              </a:spcAft>
              <a:buClr>
                <a:schemeClr val="lt1"/>
              </a:buClr>
              <a:buSzPts val="1400"/>
              <a:buFont typeface="Calibri"/>
              <a:buChar char="•"/>
            </a:pPr>
            <a:r>
              <a:rPr b="1" i="0" lang="en-GB" sz="1400" u="none" cap="none" strike="noStrike">
                <a:solidFill>
                  <a:schemeClr val="lt1"/>
                </a:solidFill>
                <a:latin typeface="Calibri"/>
                <a:ea typeface="Calibri"/>
                <a:cs typeface="Calibri"/>
                <a:sym typeface="Calibri"/>
              </a:rPr>
              <a:t>No external banking API or payment gateway integration</a:t>
            </a:r>
            <a:endParaRPr b="1" i="0" sz="1400" u="none" cap="none" strike="noStrike">
              <a:solidFill>
                <a:schemeClr val="lt1"/>
              </a:solidFill>
              <a:latin typeface="Calibri"/>
              <a:ea typeface="Calibri"/>
              <a:cs typeface="Calibri"/>
              <a:sym typeface="Calibri"/>
            </a:endParaRPr>
          </a:p>
          <a:p>
            <a:pPr indent="-342900" lvl="0" marL="342900" marR="0" rtl="0" algn="l">
              <a:lnSpc>
                <a:spcPct val="142857"/>
              </a:lnSpc>
              <a:spcBef>
                <a:spcPts val="0"/>
              </a:spcBef>
              <a:spcAft>
                <a:spcPts val="0"/>
              </a:spcAft>
              <a:buClr>
                <a:schemeClr val="lt1"/>
              </a:buClr>
              <a:buSzPts val="1400"/>
              <a:buFont typeface="Calibri"/>
              <a:buChar char="•"/>
            </a:pPr>
            <a:r>
              <a:rPr b="1" i="0" lang="en-GB" sz="1400" u="none" cap="none" strike="noStrike">
                <a:solidFill>
                  <a:schemeClr val="lt1"/>
                </a:solidFill>
                <a:latin typeface="Calibri"/>
                <a:ea typeface="Calibri"/>
                <a:cs typeface="Calibri"/>
                <a:sym typeface="Calibri"/>
              </a:rPr>
              <a:t>No frontend, mobile app, or web interface</a:t>
            </a:r>
            <a:endParaRPr b="1" i="0" sz="1400" u="none" cap="none" strike="noStrike">
              <a:solidFill>
                <a:schemeClr val="lt1"/>
              </a:solidFill>
              <a:latin typeface="Calibri"/>
              <a:ea typeface="Calibri"/>
              <a:cs typeface="Calibri"/>
              <a:sym typeface="Calibri"/>
            </a:endParaRPr>
          </a:p>
          <a:p>
            <a:pPr indent="-342900" lvl="0" marL="342900" marR="0" rtl="0" algn="l">
              <a:lnSpc>
                <a:spcPct val="142857"/>
              </a:lnSpc>
              <a:spcBef>
                <a:spcPts val="0"/>
              </a:spcBef>
              <a:spcAft>
                <a:spcPts val="0"/>
              </a:spcAft>
              <a:buClr>
                <a:schemeClr val="lt1"/>
              </a:buClr>
              <a:buSzPts val="1400"/>
              <a:buFont typeface="Calibri"/>
              <a:buChar char="•"/>
            </a:pPr>
            <a:r>
              <a:rPr b="1" i="0" lang="en-GB" sz="1400" u="none" cap="none" strike="noStrike">
                <a:solidFill>
                  <a:schemeClr val="lt1"/>
                </a:solidFill>
                <a:latin typeface="Calibri"/>
                <a:ea typeface="Calibri"/>
                <a:cs typeface="Calibri"/>
                <a:sym typeface="Calibri"/>
              </a:rPr>
              <a:t>Single currency support (PKR)</a:t>
            </a:r>
            <a:endParaRPr b="1" i="0" sz="1400" u="none" cap="none" strike="noStrike">
              <a:solidFill>
                <a:schemeClr val="lt1"/>
              </a:solidFill>
              <a:latin typeface="Calibri"/>
              <a:ea typeface="Calibri"/>
              <a:cs typeface="Calibri"/>
              <a:sym typeface="Calibri"/>
            </a:endParaRPr>
          </a:p>
          <a:p>
            <a:pPr indent="-342900" lvl="0" marL="342900" marR="0" rtl="0" algn="l">
              <a:lnSpc>
                <a:spcPct val="142857"/>
              </a:lnSpc>
              <a:spcBef>
                <a:spcPts val="0"/>
              </a:spcBef>
              <a:spcAft>
                <a:spcPts val="0"/>
              </a:spcAft>
              <a:buClr>
                <a:schemeClr val="lt1"/>
              </a:buClr>
              <a:buSzPts val="1400"/>
              <a:buFont typeface="Calibri"/>
              <a:buChar char="•"/>
            </a:pPr>
            <a:r>
              <a:rPr b="1" i="0" lang="en-GB" sz="1400" u="none" cap="none" strike="noStrike">
                <a:solidFill>
                  <a:schemeClr val="lt1"/>
                </a:solidFill>
                <a:latin typeface="Calibri"/>
                <a:ea typeface="Calibri"/>
                <a:cs typeface="Calibri"/>
                <a:sym typeface="Calibri"/>
              </a:rPr>
              <a:t>Passwords pre-hashed before storage</a:t>
            </a:r>
            <a:endParaRPr b="1" i="0" sz="1400" u="none" cap="none" strike="noStrik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2"/>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Entity-Relationship Overview</a:t>
            </a:r>
            <a:endParaRPr b="0" i="0" sz="3600" u="none" cap="none" strike="noStrike">
              <a:solidFill>
                <a:srgbClr val="02C39A"/>
              </a:solidFill>
              <a:latin typeface="Calibri"/>
              <a:ea typeface="Calibri"/>
              <a:cs typeface="Calibri"/>
              <a:sym typeface="Calibri"/>
            </a:endParaRPr>
          </a:p>
        </p:txBody>
      </p:sp>
      <p:sp>
        <p:nvSpPr>
          <p:cNvPr id="309" name="Google Shape;309;p22"/>
          <p:cNvSpPr/>
          <p:nvPr/>
        </p:nvSpPr>
        <p:spPr>
          <a:xfrm>
            <a:off x="914400" y="1280160"/>
            <a:ext cx="1371600" cy="914400"/>
          </a:xfrm>
          <a:prstGeom prst="rect">
            <a:avLst/>
          </a:prstGeom>
          <a:solidFill>
            <a:srgbClr val="028090">
              <a:alpha val="90196"/>
            </a:srgbClr>
          </a:solidFill>
          <a:ln cap="flat" cmpd="sng" w="254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0" name="Google Shape;310;p22"/>
          <p:cNvPicPr preferRelativeResize="0"/>
          <p:nvPr/>
        </p:nvPicPr>
        <p:blipFill rotWithShape="1">
          <a:blip r:embed="rId3">
            <a:alphaModFix/>
          </a:blip>
          <a:srcRect b="0" l="0" r="0" t="0"/>
          <a:stretch/>
        </p:blipFill>
        <p:spPr>
          <a:xfrm>
            <a:off x="1143000" y="1417320"/>
            <a:ext cx="365760" cy="365760"/>
          </a:xfrm>
          <a:prstGeom prst="rect">
            <a:avLst/>
          </a:prstGeom>
          <a:noFill/>
          <a:ln>
            <a:noFill/>
          </a:ln>
        </p:spPr>
      </p:pic>
      <p:sp>
        <p:nvSpPr>
          <p:cNvPr id="311" name="Google Shape;311;p22"/>
          <p:cNvSpPr/>
          <p:nvPr/>
        </p:nvSpPr>
        <p:spPr>
          <a:xfrm>
            <a:off x="914400" y="1828800"/>
            <a:ext cx="13716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1200"/>
              <a:buFont typeface="Calibri"/>
              <a:buNone/>
            </a:pPr>
            <a:r>
              <a:rPr b="1" i="0" lang="en-GB" sz="1200" u="none" cap="none" strike="noStrike">
                <a:solidFill>
                  <a:schemeClr val="lt1"/>
                </a:solidFill>
                <a:latin typeface="Calibri"/>
                <a:ea typeface="Calibri"/>
                <a:cs typeface="Calibri"/>
                <a:sym typeface="Calibri"/>
              </a:rPr>
              <a:t>Users</a:t>
            </a:r>
            <a:endParaRPr b="1" i="0" sz="1200" u="none" cap="none" strike="noStrike">
              <a:solidFill>
                <a:schemeClr val="lt1"/>
              </a:solidFill>
              <a:latin typeface="Calibri"/>
              <a:ea typeface="Calibri"/>
              <a:cs typeface="Calibri"/>
              <a:sym typeface="Calibri"/>
            </a:endParaRPr>
          </a:p>
        </p:txBody>
      </p:sp>
      <p:sp>
        <p:nvSpPr>
          <p:cNvPr id="312" name="Google Shape;312;p22"/>
          <p:cNvSpPr/>
          <p:nvPr/>
        </p:nvSpPr>
        <p:spPr>
          <a:xfrm>
            <a:off x="3657600" y="1280160"/>
            <a:ext cx="1371600" cy="914400"/>
          </a:xfrm>
          <a:prstGeom prst="rect">
            <a:avLst/>
          </a:prstGeom>
          <a:solidFill>
            <a:srgbClr val="028090">
              <a:alpha val="90196"/>
            </a:srgbClr>
          </a:solidFill>
          <a:ln cap="flat" cmpd="sng" w="254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3" name="Google Shape;313;p22"/>
          <p:cNvPicPr preferRelativeResize="0"/>
          <p:nvPr/>
        </p:nvPicPr>
        <p:blipFill rotWithShape="1">
          <a:blip r:embed="rId4">
            <a:alphaModFix/>
          </a:blip>
          <a:srcRect b="0" l="0" r="0" t="0"/>
          <a:stretch/>
        </p:blipFill>
        <p:spPr>
          <a:xfrm>
            <a:off x="3886200" y="1417320"/>
            <a:ext cx="365760" cy="365760"/>
          </a:xfrm>
          <a:prstGeom prst="rect">
            <a:avLst/>
          </a:prstGeom>
          <a:noFill/>
          <a:ln>
            <a:noFill/>
          </a:ln>
        </p:spPr>
      </p:pic>
      <p:sp>
        <p:nvSpPr>
          <p:cNvPr id="314" name="Google Shape;314;p22"/>
          <p:cNvSpPr/>
          <p:nvPr/>
        </p:nvSpPr>
        <p:spPr>
          <a:xfrm>
            <a:off x="3657600" y="1828800"/>
            <a:ext cx="13716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1200"/>
              <a:buFont typeface="Calibri"/>
              <a:buNone/>
            </a:pPr>
            <a:r>
              <a:rPr b="1" i="0" lang="en-GB" sz="1200" u="none" cap="none" strike="noStrike">
                <a:solidFill>
                  <a:schemeClr val="lt1"/>
                </a:solidFill>
                <a:latin typeface="Calibri"/>
                <a:ea typeface="Calibri"/>
                <a:cs typeface="Calibri"/>
                <a:sym typeface="Calibri"/>
              </a:rPr>
              <a:t>Wallets</a:t>
            </a:r>
            <a:endParaRPr b="1" i="0" sz="1200" u="none" cap="none" strike="noStrike">
              <a:solidFill>
                <a:schemeClr val="lt1"/>
              </a:solidFill>
              <a:latin typeface="Calibri"/>
              <a:ea typeface="Calibri"/>
              <a:cs typeface="Calibri"/>
              <a:sym typeface="Calibri"/>
            </a:endParaRPr>
          </a:p>
        </p:txBody>
      </p:sp>
      <p:sp>
        <p:nvSpPr>
          <p:cNvPr id="315" name="Google Shape;315;p22"/>
          <p:cNvSpPr/>
          <p:nvPr/>
        </p:nvSpPr>
        <p:spPr>
          <a:xfrm>
            <a:off x="6400800" y="1280160"/>
            <a:ext cx="1371600" cy="914400"/>
          </a:xfrm>
          <a:prstGeom prst="rect">
            <a:avLst/>
          </a:prstGeom>
          <a:solidFill>
            <a:srgbClr val="028090">
              <a:alpha val="90196"/>
            </a:srgbClr>
          </a:solidFill>
          <a:ln cap="flat" cmpd="sng" w="254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6" name="Google Shape;316;p22"/>
          <p:cNvPicPr preferRelativeResize="0"/>
          <p:nvPr/>
        </p:nvPicPr>
        <p:blipFill rotWithShape="1">
          <a:blip r:embed="rId5">
            <a:alphaModFix/>
          </a:blip>
          <a:srcRect b="0" l="0" r="0" t="0"/>
          <a:stretch/>
        </p:blipFill>
        <p:spPr>
          <a:xfrm>
            <a:off x="6629400" y="1417320"/>
            <a:ext cx="365760" cy="365760"/>
          </a:xfrm>
          <a:prstGeom prst="rect">
            <a:avLst/>
          </a:prstGeom>
          <a:noFill/>
          <a:ln>
            <a:noFill/>
          </a:ln>
        </p:spPr>
      </p:pic>
      <p:sp>
        <p:nvSpPr>
          <p:cNvPr id="317" name="Google Shape;317;p22"/>
          <p:cNvSpPr/>
          <p:nvPr/>
        </p:nvSpPr>
        <p:spPr>
          <a:xfrm>
            <a:off x="6400800" y="1828800"/>
            <a:ext cx="13716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1200"/>
              <a:buFont typeface="Calibri"/>
              <a:buNone/>
            </a:pPr>
            <a:r>
              <a:rPr b="1" i="0" lang="en-GB" sz="1200" u="none" cap="none" strike="noStrike">
                <a:solidFill>
                  <a:schemeClr val="lt1"/>
                </a:solidFill>
                <a:latin typeface="Calibri"/>
                <a:ea typeface="Calibri"/>
                <a:cs typeface="Calibri"/>
                <a:sym typeface="Calibri"/>
              </a:rPr>
              <a:t>Transactions</a:t>
            </a:r>
            <a:endParaRPr b="1" i="0" sz="1200" u="none" cap="none" strike="noStrike">
              <a:solidFill>
                <a:schemeClr val="lt1"/>
              </a:solidFill>
              <a:latin typeface="Calibri"/>
              <a:ea typeface="Calibri"/>
              <a:cs typeface="Calibri"/>
              <a:sym typeface="Calibri"/>
            </a:endParaRPr>
          </a:p>
        </p:txBody>
      </p:sp>
      <p:sp>
        <p:nvSpPr>
          <p:cNvPr id="318" name="Google Shape;318;p22"/>
          <p:cNvSpPr/>
          <p:nvPr/>
        </p:nvSpPr>
        <p:spPr>
          <a:xfrm>
            <a:off x="1828800" y="3108960"/>
            <a:ext cx="1371600" cy="914400"/>
          </a:xfrm>
          <a:prstGeom prst="rect">
            <a:avLst/>
          </a:prstGeom>
          <a:solidFill>
            <a:srgbClr val="028090">
              <a:alpha val="90196"/>
            </a:srgbClr>
          </a:solidFill>
          <a:ln cap="flat" cmpd="sng" w="254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9" name="Google Shape;319;p22"/>
          <p:cNvPicPr preferRelativeResize="0"/>
          <p:nvPr/>
        </p:nvPicPr>
        <p:blipFill rotWithShape="1">
          <a:blip r:embed="rId6">
            <a:alphaModFix/>
          </a:blip>
          <a:srcRect b="0" l="0" r="0" t="0"/>
          <a:stretch/>
        </p:blipFill>
        <p:spPr>
          <a:xfrm>
            <a:off x="2057400" y="3246120"/>
            <a:ext cx="365760" cy="365760"/>
          </a:xfrm>
          <a:prstGeom prst="rect">
            <a:avLst/>
          </a:prstGeom>
          <a:noFill/>
          <a:ln>
            <a:noFill/>
          </a:ln>
        </p:spPr>
      </p:pic>
      <p:sp>
        <p:nvSpPr>
          <p:cNvPr id="320" name="Google Shape;320;p22"/>
          <p:cNvSpPr/>
          <p:nvPr/>
        </p:nvSpPr>
        <p:spPr>
          <a:xfrm>
            <a:off x="1828800" y="3657600"/>
            <a:ext cx="13716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1200"/>
              <a:buFont typeface="Calibri"/>
              <a:buNone/>
            </a:pPr>
            <a:r>
              <a:rPr b="1" i="0" lang="en-GB" sz="1200" u="none" cap="none" strike="noStrike">
                <a:solidFill>
                  <a:schemeClr val="lt1"/>
                </a:solidFill>
                <a:latin typeface="Calibri"/>
                <a:ea typeface="Calibri"/>
                <a:cs typeface="Calibri"/>
                <a:sym typeface="Calibri"/>
              </a:rPr>
              <a:t>Merchants</a:t>
            </a:r>
            <a:endParaRPr b="1" i="0" sz="1200" u="none" cap="none" strike="noStrike">
              <a:solidFill>
                <a:schemeClr val="lt1"/>
              </a:solidFill>
              <a:latin typeface="Calibri"/>
              <a:ea typeface="Calibri"/>
              <a:cs typeface="Calibri"/>
              <a:sym typeface="Calibri"/>
            </a:endParaRPr>
          </a:p>
        </p:txBody>
      </p:sp>
      <p:sp>
        <p:nvSpPr>
          <p:cNvPr id="321" name="Google Shape;321;p22"/>
          <p:cNvSpPr/>
          <p:nvPr/>
        </p:nvSpPr>
        <p:spPr>
          <a:xfrm>
            <a:off x="4572000" y="3108960"/>
            <a:ext cx="1371600" cy="914400"/>
          </a:xfrm>
          <a:prstGeom prst="rect">
            <a:avLst/>
          </a:prstGeom>
          <a:solidFill>
            <a:srgbClr val="028090">
              <a:alpha val="90196"/>
            </a:srgbClr>
          </a:solidFill>
          <a:ln cap="flat" cmpd="sng" w="254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2" name="Google Shape;322;p22"/>
          <p:cNvPicPr preferRelativeResize="0"/>
          <p:nvPr/>
        </p:nvPicPr>
        <p:blipFill rotWithShape="1">
          <a:blip r:embed="rId7">
            <a:alphaModFix/>
          </a:blip>
          <a:srcRect b="0" l="0" r="0" t="0"/>
          <a:stretch/>
        </p:blipFill>
        <p:spPr>
          <a:xfrm>
            <a:off x="4800600" y="3246120"/>
            <a:ext cx="365760" cy="365760"/>
          </a:xfrm>
          <a:prstGeom prst="rect">
            <a:avLst/>
          </a:prstGeom>
          <a:noFill/>
          <a:ln>
            <a:noFill/>
          </a:ln>
        </p:spPr>
      </p:pic>
      <p:sp>
        <p:nvSpPr>
          <p:cNvPr id="323" name="Google Shape;323;p22"/>
          <p:cNvSpPr/>
          <p:nvPr/>
        </p:nvSpPr>
        <p:spPr>
          <a:xfrm>
            <a:off x="4572000" y="3657600"/>
            <a:ext cx="13716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1200"/>
              <a:buFont typeface="Calibri"/>
              <a:buNone/>
            </a:pPr>
            <a:r>
              <a:rPr b="1" i="0" lang="en-GB" sz="1200" u="none" cap="none" strike="noStrike">
                <a:solidFill>
                  <a:schemeClr val="lt1"/>
                </a:solidFill>
                <a:latin typeface="Calibri"/>
                <a:ea typeface="Calibri"/>
                <a:cs typeface="Calibri"/>
                <a:sym typeface="Calibri"/>
              </a:rPr>
              <a:t>Payments</a:t>
            </a:r>
            <a:endParaRPr b="1" i="0" sz="1200" u="none" cap="none" strike="noStrike">
              <a:solidFill>
                <a:schemeClr val="lt1"/>
              </a:solidFill>
              <a:latin typeface="Calibri"/>
              <a:ea typeface="Calibri"/>
              <a:cs typeface="Calibri"/>
              <a:sym typeface="Calibri"/>
            </a:endParaRPr>
          </a:p>
        </p:txBody>
      </p:sp>
      <p:sp>
        <p:nvSpPr>
          <p:cNvPr id="324" name="Google Shape;324;p22"/>
          <p:cNvSpPr/>
          <p:nvPr/>
        </p:nvSpPr>
        <p:spPr>
          <a:xfrm>
            <a:off x="7315200" y="3108960"/>
            <a:ext cx="1371600" cy="914400"/>
          </a:xfrm>
          <a:prstGeom prst="rect">
            <a:avLst/>
          </a:prstGeom>
          <a:solidFill>
            <a:srgbClr val="028090">
              <a:alpha val="90196"/>
            </a:srgbClr>
          </a:solidFill>
          <a:ln cap="flat" cmpd="sng" w="254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5" name="Google Shape;325;p22"/>
          <p:cNvPicPr preferRelativeResize="0"/>
          <p:nvPr/>
        </p:nvPicPr>
        <p:blipFill rotWithShape="1">
          <a:blip r:embed="rId8">
            <a:alphaModFix/>
          </a:blip>
          <a:srcRect b="0" l="0" r="0" t="0"/>
          <a:stretch/>
        </p:blipFill>
        <p:spPr>
          <a:xfrm>
            <a:off x="7543800" y="3246120"/>
            <a:ext cx="365760" cy="365760"/>
          </a:xfrm>
          <a:prstGeom prst="rect">
            <a:avLst/>
          </a:prstGeom>
          <a:noFill/>
          <a:ln>
            <a:noFill/>
          </a:ln>
        </p:spPr>
      </p:pic>
      <p:sp>
        <p:nvSpPr>
          <p:cNvPr id="326" name="Google Shape;326;p22"/>
          <p:cNvSpPr/>
          <p:nvPr/>
        </p:nvSpPr>
        <p:spPr>
          <a:xfrm>
            <a:off x="7315200" y="3657600"/>
            <a:ext cx="13716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1200"/>
              <a:buFont typeface="Calibri"/>
              <a:buNone/>
            </a:pPr>
            <a:r>
              <a:rPr b="1" i="0" lang="en-GB" sz="1200" u="none" cap="none" strike="noStrike">
                <a:solidFill>
                  <a:schemeClr val="lt1"/>
                </a:solidFill>
                <a:latin typeface="Calibri"/>
                <a:ea typeface="Calibri"/>
                <a:cs typeface="Calibri"/>
                <a:sym typeface="Calibri"/>
              </a:rPr>
              <a:t>Admins</a:t>
            </a:r>
            <a:endParaRPr b="1" i="0" sz="1200" u="none" cap="none" strike="noStrike">
              <a:solidFill>
                <a:schemeClr val="lt1"/>
              </a:solidFill>
              <a:latin typeface="Calibri"/>
              <a:ea typeface="Calibri"/>
              <a:cs typeface="Calibri"/>
              <a:sym typeface="Calibri"/>
            </a:endParaRPr>
          </a:p>
        </p:txBody>
      </p:sp>
      <p:cxnSp>
        <p:nvCxnSpPr>
          <p:cNvPr id="327" name="Google Shape;327;p22"/>
          <p:cNvCxnSpPr/>
          <p:nvPr/>
        </p:nvCxnSpPr>
        <p:spPr>
          <a:xfrm>
            <a:off x="2286000" y="1828800"/>
            <a:ext cx="1371600" cy="0"/>
          </a:xfrm>
          <a:prstGeom prst="straightConnector1">
            <a:avLst/>
          </a:prstGeom>
          <a:noFill/>
          <a:ln cap="flat" cmpd="sng" w="25400">
            <a:solidFill>
              <a:srgbClr val="64748B"/>
            </a:solidFill>
            <a:prstDash val="solid"/>
            <a:round/>
            <a:headEnd len="sm" w="sm" type="none"/>
            <a:tailEnd len="sm" w="sm" type="none"/>
          </a:ln>
        </p:spPr>
      </p:cxnSp>
      <p:sp>
        <p:nvSpPr>
          <p:cNvPr id="328" name="Google Shape;328;p22"/>
          <p:cNvSpPr/>
          <p:nvPr/>
        </p:nvSpPr>
        <p:spPr>
          <a:xfrm>
            <a:off x="2560320" y="1554480"/>
            <a:ext cx="457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000"/>
              <a:buFont typeface="Calibri"/>
              <a:buNone/>
            </a:pPr>
            <a:r>
              <a:rPr b="1" i="0" lang="en-GB" sz="1100" u="none" cap="none" strike="noStrike">
                <a:solidFill>
                  <a:srgbClr val="028090"/>
                </a:solidFill>
                <a:latin typeface="Calibri"/>
                <a:ea typeface="Calibri"/>
                <a:cs typeface="Calibri"/>
                <a:sym typeface="Calibri"/>
              </a:rPr>
              <a:t>1:1</a:t>
            </a:r>
            <a:endParaRPr b="1" i="0" sz="1100" u="none" cap="none" strike="noStrike">
              <a:solidFill>
                <a:schemeClr val="dk1"/>
              </a:solidFill>
              <a:latin typeface="Calibri"/>
              <a:ea typeface="Calibri"/>
              <a:cs typeface="Calibri"/>
              <a:sym typeface="Calibri"/>
            </a:endParaRPr>
          </a:p>
        </p:txBody>
      </p:sp>
      <p:cxnSp>
        <p:nvCxnSpPr>
          <p:cNvPr id="329" name="Google Shape;329;p22"/>
          <p:cNvCxnSpPr/>
          <p:nvPr/>
        </p:nvCxnSpPr>
        <p:spPr>
          <a:xfrm>
            <a:off x="5029200" y="1834665"/>
            <a:ext cx="1371600" cy="0"/>
          </a:xfrm>
          <a:prstGeom prst="straightConnector1">
            <a:avLst/>
          </a:prstGeom>
          <a:noFill/>
          <a:ln cap="flat" cmpd="sng" w="25400">
            <a:solidFill>
              <a:srgbClr val="64748B"/>
            </a:solidFill>
            <a:prstDash val="solid"/>
            <a:round/>
            <a:headEnd len="sm" w="sm" type="none"/>
            <a:tailEnd len="sm" w="sm" type="none"/>
          </a:ln>
        </p:spPr>
      </p:cxnSp>
      <p:sp>
        <p:nvSpPr>
          <p:cNvPr id="330" name="Google Shape;330;p22"/>
          <p:cNvSpPr/>
          <p:nvPr/>
        </p:nvSpPr>
        <p:spPr>
          <a:xfrm>
            <a:off x="5303520" y="1560345"/>
            <a:ext cx="4572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000"/>
              <a:buFont typeface="Calibri"/>
              <a:buNone/>
            </a:pPr>
            <a:r>
              <a:rPr b="1" i="0" lang="en-GB" sz="1000" u="none" cap="none" strike="noStrike">
                <a:solidFill>
                  <a:srgbClr val="028090"/>
                </a:solidFill>
                <a:latin typeface="Calibri"/>
                <a:ea typeface="Calibri"/>
                <a:cs typeface="Calibri"/>
                <a:sym typeface="Calibri"/>
              </a:rPr>
              <a:t>1:M</a:t>
            </a:r>
            <a:endParaRPr b="0" i="0" sz="1000" u="none" cap="none" strike="noStrike">
              <a:solidFill>
                <a:schemeClr val="dk1"/>
              </a:solidFill>
              <a:latin typeface="Calibri"/>
              <a:ea typeface="Calibri"/>
              <a:cs typeface="Calibri"/>
              <a:sym typeface="Calibri"/>
            </a:endParaRPr>
          </a:p>
        </p:txBody>
      </p:sp>
      <p:sp>
        <p:nvSpPr>
          <p:cNvPr id="331" name="Google Shape;331;p22"/>
          <p:cNvSpPr/>
          <p:nvPr/>
        </p:nvSpPr>
        <p:spPr>
          <a:xfrm>
            <a:off x="457200" y="4230768"/>
            <a:ext cx="8229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400"/>
              <a:buFont typeface="Calibri"/>
              <a:buNone/>
            </a:pPr>
            <a:r>
              <a:rPr b="1" i="0" lang="en-GB" sz="1400" u="none" cap="none" strike="noStrike">
                <a:solidFill>
                  <a:srgbClr val="02C39A"/>
                </a:solidFill>
                <a:latin typeface="Calibri"/>
                <a:ea typeface="Calibri"/>
                <a:cs typeface="Calibri"/>
                <a:sym typeface="Calibri"/>
              </a:rPr>
              <a:t>Key Relationships:</a:t>
            </a:r>
            <a:endParaRPr b="0" i="0" sz="1400" u="none" cap="none" strike="noStrike">
              <a:solidFill>
                <a:srgbClr val="02C39A"/>
              </a:solidFill>
              <a:latin typeface="Calibri"/>
              <a:ea typeface="Calibri"/>
              <a:cs typeface="Calibri"/>
              <a:sym typeface="Calibri"/>
            </a:endParaRPr>
          </a:p>
        </p:txBody>
      </p:sp>
      <p:sp>
        <p:nvSpPr>
          <p:cNvPr id="332" name="Google Shape;332;p22"/>
          <p:cNvSpPr/>
          <p:nvPr/>
        </p:nvSpPr>
        <p:spPr>
          <a:xfrm>
            <a:off x="457200" y="4505088"/>
            <a:ext cx="82296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C3E50"/>
              </a:buClr>
              <a:buSzPts val="1100"/>
              <a:buFont typeface="Calibri"/>
              <a:buNone/>
            </a:pPr>
            <a:r>
              <a:rPr b="1" i="0" lang="en-GB" sz="1200" u="none" cap="none" strike="noStrike">
                <a:solidFill>
                  <a:schemeClr val="lt1"/>
                </a:solidFill>
                <a:latin typeface="Calibri"/>
                <a:ea typeface="Calibri"/>
                <a:cs typeface="Calibri"/>
                <a:sym typeface="Calibri"/>
              </a:rPr>
              <a:t>Users ↔ Wallets (1:1)  •  Wallets → Transactions (1:M)  •  Wallets → Payments (1:M)  •  Merchants → Payments (1:M)</a:t>
            </a:r>
            <a:endParaRPr b="1" i="0" sz="1200" u="none" cap="none" strike="noStrike">
              <a:solidFill>
                <a:schemeClr val="lt1"/>
              </a:solidFill>
              <a:latin typeface="Calibri"/>
              <a:ea typeface="Calibri"/>
              <a:cs typeface="Calibri"/>
              <a:sym typeface="Calibri"/>
            </a:endParaRPr>
          </a:p>
        </p:txBody>
      </p:sp>
      <p:cxnSp>
        <p:nvCxnSpPr>
          <p:cNvPr id="333" name="Google Shape;333;p22"/>
          <p:cNvCxnSpPr/>
          <p:nvPr/>
        </p:nvCxnSpPr>
        <p:spPr>
          <a:xfrm>
            <a:off x="4625975" y="2258325"/>
            <a:ext cx="439800" cy="791700"/>
          </a:xfrm>
          <a:prstGeom prst="straightConnector1">
            <a:avLst/>
          </a:prstGeom>
          <a:noFill/>
          <a:ln cap="flat" cmpd="sng" w="25400">
            <a:solidFill>
              <a:srgbClr val="64748B"/>
            </a:solidFill>
            <a:prstDash val="solid"/>
            <a:round/>
            <a:headEnd len="sm" w="sm" type="none"/>
            <a:tailEnd len="sm" w="sm" type="none"/>
          </a:ln>
        </p:spPr>
      </p:cxnSp>
      <p:sp>
        <p:nvSpPr>
          <p:cNvPr id="334" name="Google Shape;334;p22"/>
          <p:cNvSpPr/>
          <p:nvPr/>
        </p:nvSpPr>
        <p:spPr>
          <a:xfrm>
            <a:off x="4343395" y="2514657"/>
            <a:ext cx="4572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000"/>
              <a:buFont typeface="Calibri"/>
              <a:buNone/>
            </a:pPr>
            <a:r>
              <a:rPr b="1" i="0" lang="en-GB" sz="1000" u="none" cap="none" strike="noStrike">
                <a:solidFill>
                  <a:srgbClr val="028090"/>
                </a:solidFill>
                <a:latin typeface="Calibri"/>
                <a:ea typeface="Calibri"/>
                <a:cs typeface="Calibri"/>
                <a:sym typeface="Calibri"/>
              </a:rPr>
              <a:t>1:M</a:t>
            </a:r>
            <a:endParaRPr b="0" i="0" sz="1000" u="none" cap="none" strike="noStrike">
              <a:solidFill>
                <a:schemeClr val="dk1"/>
              </a:solidFill>
              <a:latin typeface="Calibri"/>
              <a:ea typeface="Calibri"/>
              <a:cs typeface="Calibri"/>
              <a:sym typeface="Calibri"/>
            </a:endParaRPr>
          </a:p>
        </p:txBody>
      </p:sp>
      <p:cxnSp>
        <p:nvCxnSpPr>
          <p:cNvPr id="335" name="Google Shape;335;p22"/>
          <p:cNvCxnSpPr/>
          <p:nvPr/>
        </p:nvCxnSpPr>
        <p:spPr>
          <a:xfrm>
            <a:off x="3211000" y="3664421"/>
            <a:ext cx="1371600" cy="0"/>
          </a:xfrm>
          <a:prstGeom prst="straightConnector1">
            <a:avLst/>
          </a:prstGeom>
          <a:noFill/>
          <a:ln cap="flat" cmpd="sng" w="25400">
            <a:solidFill>
              <a:srgbClr val="64748B"/>
            </a:solidFill>
            <a:prstDash val="solid"/>
            <a:round/>
            <a:headEnd len="sm" w="sm" type="none"/>
            <a:tailEnd len="sm" w="sm" type="none"/>
          </a:ln>
        </p:spPr>
      </p:cxnSp>
      <p:sp>
        <p:nvSpPr>
          <p:cNvPr id="336" name="Google Shape;336;p22"/>
          <p:cNvSpPr/>
          <p:nvPr/>
        </p:nvSpPr>
        <p:spPr>
          <a:xfrm>
            <a:off x="3485320" y="3390101"/>
            <a:ext cx="4572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000"/>
              <a:buFont typeface="Calibri"/>
              <a:buNone/>
            </a:pPr>
            <a:r>
              <a:rPr b="1" i="0" lang="en-GB" sz="1000" u="none" cap="none" strike="noStrike">
                <a:solidFill>
                  <a:srgbClr val="028090"/>
                </a:solidFill>
                <a:latin typeface="Calibri"/>
                <a:ea typeface="Calibri"/>
                <a:cs typeface="Calibri"/>
                <a:sym typeface="Calibri"/>
              </a:rPr>
              <a:t>1:M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3"/>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Entity Breakdown</a:t>
            </a:r>
            <a:endParaRPr b="0" i="0" sz="3600" u="none" cap="none" strike="noStrike">
              <a:solidFill>
                <a:srgbClr val="02C39A"/>
              </a:solidFill>
              <a:latin typeface="Calibri"/>
              <a:ea typeface="Calibri"/>
              <a:cs typeface="Calibri"/>
              <a:sym typeface="Calibri"/>
            </a:endParaRPr>
          </a:p>
        </p:txBody>
      </p:sp>
      <p:sp>
        <p:nvSpPr>
          <p:cNvPr id="343" name="Google Shape;343;p23"/>
          <p:cNvSpPr/>
          <p:nvPr/>
        </p:nvSpPr>
        <p:spPr>
          <a:xfrm>
            <a:off x="457200" y="1188720"/>
            <a:ext cx="8229600" cy="54864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44" name="Google Shape;344;p23"/>
          <p:cNvPicPr preferRelativeResize="0"/>
          <p:nvPr/>
        </p:nvPicPr>
        <p:blipFill rotWithShape="1">
          <a:blip r:embed="rId3">
            <a:alphaModFix/>
          </a:blip>
          <a:srcRect b="0" l="0" r="0" t="0"/>
          <a:stretch/>
        </p:blipFill>
        <p:spPr>
          <a:xfrm>
            <a:off x="731520" y="1298448"/>
            <a:ext cx="320040" cy="320040"/>
          </a:xfrm>
          <a:prstGeom prst="rect">
            <a:avLst/>
          </a:prstGeom>
          <a:noFill/>
          <a:ln>
            <a:noFill/>
          </a:ln>
        </p:spPr>
      </p:pic>
      <p:sp>
        <p:nvSpPr>
          <p:cNvPr id="345" name="Google Shape;345;p23"/>
          <p:cNvSpPr/>
          <p:nvPr/>
        </p:nvSpPr>
        <p:spPr>
          <a:xfrm>
            <a:off x="3200400" y="1298448"/>
            <a:ext cx="5029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GB" sz="1300" u="none" cap="none" strike="noStrike">
                <a:solidFill>
                  <a:srgbClr val="2C3E50"/>
                </a:solidFill>
                <a:latin typeface="Calibri"/>
                <a:ea typeface="Calibri"/>
                <a:cs typeface="Calibri"/>
                <a:sym typeface="Calibri"/>
              </a:rPr>
              <a:t>Account info: name, email, phone, password, status</a:t>
            </a:r>
            <a:endParaRPr b="1" i="0" sz="1300" u="none" cap="none" strike="noStrike">
              <a:solidFill>
                <a:schemeClr val="dk1"/>
              </a:solidFill>
              <a:latin typeface="Calibri"/>
              <a:ea typeface="Calibri"/>
              <a:cs typeface="Calibri"/>
              <a:sym typeface="Calibri"/>
            </a:endParaRPr>
          </a:p>
        </p:txBody>
      </p:sp>
      <p:sp>
        <p:nvSpPr>
          <p:cNvPr id="346" name="Google Shape;346;p23"/>
          <p:cNvSpPr/>
          <p:nvPr/>
        </p:nvSpPr>
        <p:spPr>
          <a:xfrm>
            <a:off x="1188720" y="1298448"/>
            <a:ext cx="18288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Users</a:t>
            </a:r>
            <a:endParaRPr b="0" i="0" sz="1400" u="none" cap="none" strike="noStrike">
              <a:solidFill>
                <a:schemeClr val="dk1"/>
              </a:solidFill>
              <a:latin typeface="Calibri"/>
              <a:ea typeface="Calibri"/>
              <a:cs typeface="Calibri"/>
              <a:sym typeface="Calibri"/>
            </a:endParaRPr>
          </a:p>
        </p:txBody>
      </p:sp>
      <p:sp>
        <p:nvSpPr>
          <p:cNvPr id="347" name="Google Shape;347;p23"/>
          <p:cNvSpPr/>
          <p:nvPr/>
        </p:nvSpPr>
        <p:spPr>
          <a:xfrm>
            <a:off x="457200" y="1783080"/>
            <a:ext cx="8229600" cy="54864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48" name="Google Shape;348;p23"/>
          <p:cNvPicPr preferRelativeResize="0"/>
          <p:nvPr/>
        </p:nvPicPr>
        <p:blipFill rotWithShape="1">
          <a:blip r:embed="rId4">
            <a:alphaModFix/>
          </a:blip>
          <a:srcRect b="0" l="0" r="0" t="0"/>
          <a:stretch/>
        </p:blipFill>
        <p:spPr>
          <a:xfrm>
            <a:off x="731520" y="1892808"/>
            <a:ext cx="320040" cy="320040"/>
          </a:xfrm>
          <a:prstGeom prst="rect">
            <a:avLst/>
          </a:prstGeom>
          <a:noFill/>
          <a:ln>
            <a:noFill/>
          </a:ln>
        </p:spPr>
      </p:pic>
      <p:sp>
        <p:nvSpPr>
          <p:cNvPr id="349" name="Google Shape;349;p23"/>
          <p:cNvSpPr/>
          <p:nvPr/>
        </p:nvSpPr>
        <p:spPr>
          <a:xfrm>
            <a:off x="1188720" y="1892808"/>
            <a:ext cx="18288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Wallets</a:t>
            </a:r>
            <a:endParaRPr b="0" i="0" sz="1400" u="none" cap="none" strike="noStrike">
              <a:solidFill>
                <a:schemeClr val="dk1"/>
              </a:solidFill>
              <a:latin typeface="Calibri"/>
              <a:ea typeface="Calibri"/>
              <a:cs typeface="Calibri"/>
              <a:sym typeface="Calibri"/>
            </a:endParaRPr>
          </a:p>
        </p:txBody>
      </p:sp>
      <p:sp>
        <p:nvSpPr>
          <p:cNvPr id="350" name="Google Shape;350;p23"/>
          <p:cNvSpPr/>
          <p:nvPr/>
        </p:nvSpPr>
        <p:spPr>
          <a:xfrm>
            <a:off x="3200400" y="1892808"/>
            <a:ext cx="5029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GB" sz="1300" u="none" cap="none" strike="noStrike">
                <a:solidFill>
                  <a:srgbClr val="2C3E50"/>
                </a:solidFill>
                <a:latin typeface="Calibri"/>
                <a:ea typeface="Calibri"/>
                <a:cs typeface="Calibri"/>
                <a:sym typeface="Calibri"/>
              </a:rPr>
              <a:t>Balance storage: user_id, balance, currency, status</a:t>
            </a:r>
            <a:endParaRPr b="1" i="0" sz="1300" u="none" cap="none" strike="noStrike">
              <a:solidFill>
                <a:schemeClr val="dk1"/>
              </a:solidFill>
              <a:latin typeface="Calibri"/>
              <a:ea typeface="Calibri"/>
              <a:cs typeface="Calibri"/>
              <a:sym typeface="Calibri"/>
            </a:endParaRPr>
          </a:p>
        </p:txBody>
      </p:sp>
      <p:sp>
        <p:nvSpPr>
          <p:cNvPr id="351" name="Google Shape;351;p23"/>
          <p:cNvSpPr/>
          <p:nvPr/>
        </p:nvSpPr>
        <p:spPr>
          <a:xfrm>
            <a:off x="457200" y="2377440"/>
            <a:ext cx="8229600" cy="54864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2" name="Google Shape;352;p23"/>
          <p:cNvPicPr preferRelativeResize="0"/>
          <p:nvPr/>
        </p:nvPicPr>
        <p:blipFill rotWithShape="1">
          <a:blip r:embed="rId5">
            <a:alphaModFix/>
          </a:blip>
          <a:srcRect b="0" l="0" r="0" t="0"/>
          <a:stretch/>
        </p:blipFill>
        <p:spPr>
          <a:xfrm>
            <a:off x="731520" y="2487168"/>
            <a:ext cx="320040" cy="320040"/>
          </a:xfrm>
          <a:prstGeom prst="rect">
            <a:avLst/>
          </a:prstGeom>
          <a:noFill/>
          <a:ln>
            <a:noFill/>
          </a:ln>
        </p:spPr>
      </p:pic>
      <p:sp>
        <p:nvSpPr>
          <p:cNvPr id="353" name="Google Shape;353;p23"/>
          <p:cNvSpPr/>
          <p:nvPr/>
        </p:nvSpPr>
        <p:spPr>
          <a:xfrm>
            <a:off x="1188720" y="2487168"/>
            <a:ext cx="18288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Transactions</a:t>
            </a:r>
            <a:endParaRPr b="0" i="0" sz="1400" u="none" cap="none" strike="noStrike">
              <a:solidFill>
                <a:schemeClr val="dk1"/>
              </a:solidFill>
              <a:latin typeface="Calibri"/>
              <a:ea typeface="Calibri"/>
              <a:cs typeface="Calibri"/>
              <a:sym typeface="Calibri"/>
            </a:endParaRPr>
          </a:p>
        </p:txBody>
      </p:sp>
      <p:sp>
        <p:nvSpPr>
          <p:cNvPr id="354" name="Google Shape;354;p23"/>
          <p:cNvSpPr/>
          <p:nvPr/>
        </p:nvSpPr>
        <p:spPr>
          <a:xfrm>
            <a:off x="3200400" y="2487168"/>
            <a:ext cx="5029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GB" sz="1300" u="none" cap="none" strike="noStrike">
                <a:solidFill>
                  <a:srgbClr val="2C3E50"/>
                </a:solidFill>
                <a:latin typeface="Calibri"/>
                <a:ea typeface="Calibri"/>
                <a:cs typeface="Calibri"/>
                <a:sym typeface="Calibri"/>
              </a:rPr>
              <a:t>Financial events: type, amount, wallet, status, timestamp</a:t>
            </a:r>
            <a:endParaRPr b="1" i="0" sz="1300" u="none" cap="none" strike="noStrike">
              <a:solidFill>
                <a:schemeClr val="dk1"/>
              </a:solidFill>
              <a:latin typeface="Calibri"/>
              <a:ea typeface="Calibri"/>
              <a:cs typeface="Calibri"/>
              <a:sym typeface="Calibri"/>
            </a:endParaRPr>
          </a:p>
        </p:txBody>
      </p:sp>
      <p:sp>
        <p:nvSpPr>
          <p:cNvPr id="355" name="Google Shape;355;p23"/>
          <p:cNvSpPr/>
          <p:nvPr/>
        </p:nvSpPr>
        <p:spPr>
          <a:xfrm>
            <a:off x="457200" y="2971800"/>
            <a:ext cx="8229600" cy="54864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6" name="Google Shape;356;p23"/>
          <p:cNvPicPr preferRelativeResize="0"/>
          <p:nvPr/>
        </p:nvPicPr>
        <p:blipFill rotWithShape="1">
          <a:blip r:embed="rId6">
            <a:alphaModFix/>
          </a:blip>
          <a:srcRect b="0" l="0" r="0" t="0"/>
          <a:stretch/>
        </p:blipFill>
        <p:spPr>
          <a:xfrm>
            <a:off x="731520" y="3081528"/>
            <a:ext cx="320040" cy="320040"/>
          </a:xfrm>
          <a:prstGeom prst="rect">
            <a:avLst/>
          </a:prstGeom>
          <a:noFill/>
          <a:ln>
            <a:noFill/>
          </a:ln>
        </p:spPr>
      </p:pic>
      <p:sp>
        <p:nvSpPr>
          <p:cNvPr id="357" name="Google Shape;357;p23"/>
          <p:cNvSpPr/>
          <p:nvPr/>
        </p:nvSpPr>
        <p:spPr>
          <a:xfrm>
            <a:off x="1188720" y="3081528"/>
            <a:ext cx="18288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Merchants</a:t>
            </a:r>
            <a:endParaRPr b="0" i="0" sz="1400" u="none" cap="none" strike="noStrike">
              <a:solidFill>
                <a:schemeClr val="dk1"/>
              </a:solidFill>
              <a:latin typeface="Calibri"/>
              <a:ea typeface="Calibri"/>
              <a:cs typeface="Calibri"/>
              <a:sym typeface="Calibri"/>
            </a:endParaRPr>
          </a:p>
        </p:txBody>
      </p:sp>
      <p:sp>
        <p:nvSpPr>
          <p:cNvPr id="358" name="Google Shape;358;p23"/>
          <p:cNvSpPr/>
          <p:nvPr/>
        </p:nvSpPr>
        <p:spPr>
          <a:xfrm>
            <a:off x="3200400" y="3081528"/>
            <a:ext cx="5029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GB" sz="1300" u="none" cap="none" strike="noStrike">
                <a:solidFill>
                  <a:srgbClr val="2C3E50"/>
                </a:solidFill>
                <a:latin typeface="Calibri"/>
                <a:ea typeface="Calibri"/>
                <a:cs typeface="Calibri"/>
                <a:sym typeface="Calibri"/>
              </a:rPr>
              <a:t>Business entities: name, category, email, phone</a:t>
            </a:r>
            <a:endParaRPr b="1" i="0" sz="1300" u="none" cap="none" strike="noStrike">
              <a:solidFill>
                <a:schemeClr val="dk1"/>
              </a:solidFill>
              <a:latin typeface="Calibri"/>
              <a:ea typeface="Calibri"/>
              <a:cs typeface="Calibri"/>
              <a:sym typeface="Calibri"/>
            </a:endParaRPr>
          </a:p>
        </p:txBody>
      </p:sp>
      <p:sp>
        <p:nvSpPr>
          <p:cNvPr id="359" name="Google Shape;359;p23"/>
          <p:cNvSpPr/>
          <p:nvPr/>
        </p:nvSpPr>
        <p:spPr>
          <a:xfrm>
            <a:off x="457200" y="3566160"/>
            <a:ext cx="8229600" cy="54864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0" name="Google Shape;360;p23"/>
          <p:cNvPicPr preferRelativeResize="0"/>
          <p:nvPr/>
        </p:nvPicPr>
        <p:blipFill rotWithShape="1">
          <a:blip r:embed="rId7">
            <a:alphaModFix/>
          </a:blip>
          <a:srcRect b="0" l="0" r="0" t="0"/>
          <a:stretch/>
        </p:blipFill>
        <p:spPr>
          <a:xfrm>
            <a:off x="731520" y="3675888"/>
            <a:ext cx="320040" cy="320040"/>
          </a:xfrm>
          <a:prstGeom prst="rect">
            <a:avLst/>
          </a:prstGeom>
          <a:noFill/>
          <a:ln>
            <a:noFill/>
          </a:ln>
        </p:spPr>
      </p:pic>
      <p:sp>
        <p:nvSpPr>
          <p:cNvPr id="361" name="Google Shape;361;p23"/>
          <p:cNvSpPr/>
          <p:nvPr/>
        </p:nvSpPr>
        <p:spPr>
          <a:xfrm>
            <a:off x="1188720" y="3675888"/>
            <a:ext cx="18288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Payments</a:t>
            </a:r>
            <a:endParaRPr b="0" i="0" sz="1400" u="none" cap="none" strike="noStrike">
              <a:solidFill>
                <a:schemeClr val="dk1"/>
              </a:solidFill>
              <a:latin typeface="Calibri"/>
              <a:ea typeface="Calibri"/>
              <a:cs typeface="Calibri"/>
              <a:sym typeface="Calibri"/>
            </a:endParaRPr>
          </a:p>
        </p:txBody>
      </p:sp>
      <p:sp>
        <p:nvSpPr>
          <p:cNvPr id="362" name="Google Shape;362;p23"/>
          <p:cNvSpPr/>
          <p:nvPr/>
        </p:nvSpPr>
        <p:spPr>
          <a:xfrm>
            <a:off x="3200400" y="3675888"/>
            <a:ext cx="5029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GB" sz="1300" u="none" cap="none" strike="noStrike">
                <a:solidFill>
                  <a:srgbClr val="2C3E50"/>
                </a:solidFill>
                <a:latin typeface="Calibri"/>
                <a:ea typeface="Calibri"/>
                <a:cs typeface="Calibri"/>
                <a:sym typeface="Calibri"/>
              </a:rPr>
              <a:t>Customer-to-merchant: wallet, merchant, amount, status</a:t>
            </a:r>
            <a:endParaRPr b="1" i="0" sz="1300" u="none" cap="none" strike="noStrike">
              <a:solidFill>
                <a:schemeClr val="dk1"/>
              </a:solidFill>
              <a:latin typeface="Calibri"/>
              <a:ea typeface="Calibri"/>
              <a:cs typeface="Calibri"/>
              <a:sym typeface="Calibri"/>
            </a:endParaRPr>
          </a:p>
        </p:txBody>
      </p:sp>
      <p:sp>
        <p:nvSpPr>
          <p:cNvPr id="363" name="Google Shape;363;p23"/>
          <p:cNvSpPr/>
          <p:nvPr/>
        </p:nvSpPr>
        <p:spPr>
          <a:xfrm>
            <a:off x="457200" y="4160520"/>
            <a:ext cx="8229600" cy="54864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4" name="Google Shape;364;p23"/>
          <p:cNvPicPr preferRelativeResize="0"/>
          <p:nvPr/>
        </p:nvPicPr>
        <p:blipFill rotWithShape="1">
          <a:blip r:embed="rId8">
            <a:alphaModFix/>
          </a:blip>
          <a:srcRect b="0" l="0" r="0" t="0"/>
          <a:stretch/>
        </p:blipFill>
        <p:spPr>
          <a:xfrm>
            <a:off x="731520" y="4270248"/>
            <a:ext cx="320040" cy="320040"/>
          </a:xfrm>
          <a:prstGeom prst="rect">
            <a:avLst/>
          </a:prstGeom>
          <a:noFill/>
          <a:ln>
            <a:noFill/>
          </a:ln>
        </p:spPr>
      </p:pic>
      <p:sp>
        <p:nvSpPr>
          <p:cNvPr id="365" name="Google Shape;365;p23"/>
          <p:cNvSpPr/>
          <p:nvPr/>
        </p:nvSpPr>
        <p:spPr>
          <a:xfrm>
            <a:off x="1188720" y="4270248"/>
            <a:ext cx="18288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400"/>
              <a:buFont typeface="Calibri"/>
              <a:buNone/>
            </a:pPr>
            <a:r>
              <a:rPr b="1" i="0" lang="en-GB" sz="1400" u="none" cap="none" strike="noStrike">
                <a:solidFill>
                  <a:srgbClr val="028090"/>
                </a:solidFill>
                <a:latin typeface="Calibri"/>
                <a:ea typeface="Calibri"/>
                <a:cs typeface="Calibri"/>
                <a:sym typeface="Calibri"/>
              </a:rPr>
              <a:t>Admins</a:t>
            </a:r>
            <a:endParaRPr b="0" i="0" sz="1400" u="none" cap="none" strike="noStrike">
              <a:solidFill>
                <a:schemeClr val="dk1"/>
              </a:solidFill>
              <a:latin typeface="Calibri"/>
              <a:ea typeface="Calibri"/>
              <a:cs typeface="Calibri"/>
              <a:sym typeface="Calibri"/>
            </a:endParaRPr>
          </a:p>
        </p:txBody>
      </p:sp>
      <p:sp>
        <p:nvSpPr>
          <p:cNvPr id="366" name="Google Shape;366;p23"/>
          <p:cNvSpPr/>
          <p:nvPr/>
        </p:nvSpPr>
        <p:spPr>
          <a:xfrm>
            <a:off x="3200400" y="4270248"/>
            <a:ext cx="50292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200"/>
              <a:buFont typeface="Calibri"/>
              <a:buNone/>
            </a:pPr>
            <a:r>
              <a:rPr b="1" i="0" lang="en-GB" sz="1300" u="none" cap="none" strike="noStrike">
                <a:solidFill>
                  <a:srgbClr val="2C3E50"/>
                </a:solidFill>
                <a:latin typeface="Calibri"/>
                <a:ea typeface="Calibri"/>
                <a:cs typeface="Calibri"/>
                <a:sym typeface="Calibri"/>
              </a:rPr>
              <a:t>Privileged users: linked to Users, role, last login</a:t>
            </a:r>
            <a:endParaRPr b="1" i="0" sz="13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4"/>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Database Schema Design</a:t>
            </a:r>
            <a:endParaRPr b="0" i="0" sz="3600" u="none" cap="none" strike="noStrike">
              <a:solidFill>
                <a:srgbClr val="02C39A"/>
              </a:solidFill>
              <a:latin typeface="Calibri"/>
              <a:ea typeface="Calibri"/>
              <a:cs typeface="Calibri"/>
              <a:sym typeface="Calibri"/>
            </a:endParaRPr>
          </a:p>
        </p:txBody>
      </p:sp>
      <p:graphicFrame>
        <p:nvGraphicFramePr>
          <p:cNvPr id="373" name="Google Shape;373;p24"/>
          <p:cNvGraphicFramePr/>
          <p:nvPr/>
        </p:nvGraphicFramePr>
        <p:xfrm>
          <a:off x="457200" y="1097280"/>
          <a:ext cx="3000000" cy="3000000"/>
        </p:xfrm>
        <a:graphic>
          <a:graphicData uri="http://schemas.openxmlformats.org/drawingml/2006/table">
            <a:tbl>
              <a:tblPr>
                <a:noFill/>
                <a:tableStyleId>{12878187-B97F-4DE6-AE90-1C80BA82AF72}</a:tableStyleId>
              </a:tblPr>
              <a:tblGrid>
                <a:gridCol w="1371600"/>
                <a:gridCol w="3200400"/>
                <a:gridCol w="3657600"/>
              </a:tblGrid>
              <a:tr h="457200">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Table</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Key Columns</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Constraints</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r>
              <a:tr h="457200">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Users</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user_id (PK), email, phone</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UNIQUE email, phone</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r>
              <a:tr h="457200">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Wallets</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wallet_id (PK), user_id (FK)</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CHECK balance &gt;= 0</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r>
              <a:tr h="457200">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Transactions</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transaction_id (PK), wallet_id (FK)</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CHECK amount &gt; 0</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r>
              <a:tr h="457200">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Merchants</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merchant_id (PK), email</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UNIQUE email</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r>
              <a:tr h="457200">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Payments</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payment_id (PK), wallet_id (FK)</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CHECK amount &gt; 0</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r>
              <a:tr h="457200">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Admins</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admin_id (PK), user_id (FK)</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2C3E50"/>
                        </a:buClr>
                        <a:buSzPts val="1100"/>
                        <a:buFont typeface="Calibri"/>
                        <a:buNone/>
                      </a:pPr>
                      <a:r>
                        <a:rPr lang="en-GB" sz="1100" u="none" cap="none" strike="noStrike">
                          <a:solidFill>
                            <a:srgbClr val="2C3E50"/>
                          </a:solidFill>
                        </a:rPr>
                        <a:t>FK to Users</a:t>
                      </a:r>
                      <a:endParaRPr sz="1100" u="none" cap="none" strike="noStrike"/>
                    </a:p>
                  </a:txBody>
                  <a:tcPr marT="45725" marB="45725" marR="91450" marL="91450">
                    <a:lnL cap="flat" cmpd="sng" w="12700">
                      <a:solidFill>
                        <a:srgbClr val="64748B"/>
                      </a:solidFill>
                      <a:prstDash val="solid"/>
                      <a:round/>
                      <a:headEnd len="sm" w="sm" type="none"/>
                      <a:tailEnd len="sm" w="sm" type="none"/>
                    </a:lnL>
                    <a:lnR cap="flat" cmpd="sng" w="12700">
                      <a:solidFill>
                        <a:srgbClr val="64748B"/>
                      </a:solidFill>
                      <a:prstDash val="solid"/>
                      <a:round/>
                      <a:headEnd len="sm" w="sm" type="none"/>
                      <a:tailEnd len="sm" w="sm" type="none"/>
                    </a:lnR>
                    <a:lnT cap="flat" cmpd="sng" w="12700">
                      <a:solidFill>
                        <a:srgbClr val="64748B"/>
                      </a:solidFill>
                      <a:prstDash val="solid"/>
                      <a:round/>
                      <a:headEnd len="sm" w="sm" type="none"/>
                      <a:tailEnd len="sm" w="sm" type="none"/>
                    </a:lnT>
                    <a:lnB cap="flat" cmpd="sng" w="12700">
                      <a:solidFill>
                        <a:srgbClr val="64748B"/>
                      </a:solidFill>
                      <a:prstDash val="solid"/>
                      <a:round/>
                      <a:headEnd len="sm" w="sm" type="none"/>
                      <a:tailEnd len="sm" w="sm" type="none"/>
                    </a:lnB>
                    <a:solidFill>
                      <a:srgbClr val="F5F5F5"/>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5"/>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Business Rules &amp; Validations</a:t>
            </a:r>
            <a:endParaRPr b="0" i="0" sz="3600" u="none" cap="none" strike="noStrike">
              <a:solidFill>
                <a:srgbClr val="02C39A"/>
              </a:solidFill>
              <a:latin typeface="Calibri"/>
              <a:ea typeface="Calibri"/>
              <a:cs typeface="Calibri"/>
              <a:sym typeface="Calibri"/>
            </a:endParaRPr>
          </a:p>
        </p:txBody>
      </p:sp>
      <p:sp>
        <p:nvSpPr>
          <p:cNvPr id="380" name="Google Shape;380;p25"/>
          <p:cNvSpPr/>
          <p:nvPr/>
        </p:nvSpPr>
        <p:spPr>
          <a:xfrm>
            <a:off x="457200" y="1188720"/>
            <a:ext cx="8229600" cy="59436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25"/>
          <p:cNvSpPr/>
          <p:nvPr/>
        </p:nvSpPr>
        <p:spPr>
          <a:xfrm>
            <a:off x="457200" y="1188720"/>
            <a:ext cx="45720" cy="594360"/>
          </a:xfrm>
          <a:prstGeom prst="rect">
            <a:avLst/>
          </a:prstGeom>
          <a:solidFill>
            <a:srgbClr val="02C3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5"/>
          <p:cNvSpPr/>
          <p:nvPr/>
        </p:nvSpPr>
        <p:spPr>
          <a:xfrm>
            <a:off x="731520" y="1280160"/>
            <a:ext cx="27432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300"/>
              <a:buFont typeface="Calibri"/>
              <a:buNone/>
            </a:pPr>
            <a:r>
              <a:rPr b="1" i="0" lang="en-GB" sz="1300" u="none" cap="none" strike="noStrike">
                <a:solidFill>
                  <a:srgbClr val="028090"/>
                </a:solidFill>
                <a:latin typeface="Calibri"/>
                <a:ea typeface="Calibri"/>
                <a:cs typeface="Calibri"/>
                <a:sym typeface="Calibri"/>
              </a:rPr>
              <a:t>balance &gt;= 0</a:t>
            </a:r>
            <a:endParaRPr b="0" i="0" sz="1300" u="none" cap="none" strike="noStrike">
              <a:solidFill>
                <a:schemeClr val="dk1"/>
              </a:solidFill>
              <a:latin typeface="Calibri"/>
              <a:ea typeface="Calibri"/>
              <a:cs typeface="Calibri"/>
              <a:sym typeface="Calibri"/>
            </a:endParaRPr>
          </a:p>
        </p:txBody>
      </p:sp>
      <p:sp>
        <p:nvSpPr>
          <p:cNvPr id="383" name="Google Shape;383;p25"/>
          <p:cNvSpPr/>
          <p:nvPr/>
        </p:nvSpPr>
        <p:spPr>
          <a:xfrm>
            <a:off x="731520" y="1536192"/>
            <a:ext cx="731520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0" lang="en-GB" sz="1200" u="none" cap="none" strike="noStrike">
                <a:solidFill>
                  <a:schemeClr val="dk1"/>
                </a:solidFill>
                <a:latin typeface="Calibri"/>
                <a:ea typeface="Calibri"/>
                <a:cs typeface="Calibri"/>
                <a:sym typeface="Calibri"/>
              </a:rPr>
              <a:t>No overdrafts allowed — enforced via CHECK constraint</a:t>
            </a:r>
            <a:endParaRPr b="1" i="0" sz="1200" u="none" cap="none" strike="noStrike">
              <a:solidFill>
                <a:schemeClr val="dk1"/>
              </a:solidFill>
              <a:latin typeface="Calibri"/>
              <a:ea typeface="Calibri"/>
              <a:cs typeface="Calibri"/>
              <a:sym typeface="Calibri"/>
            </a:endParaRPr>
          </a:p>
        </p:txBody>
      </p:sp>
      <p:sp>
        <p:nvSpPr>
          <p:cNvPr id="384" name="Google Shape;384;p25"/>
          <p:cNvSpPr/>
          <p:nvPr/>
        </p:nvSpPr>
        <p:spPr>
          <a:xfrm>
            <a:off x="457200" y="1828800"/>
            <a:ext cx="8229600" cy="59436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5"/>
          <p:cNvSpPr/>
          <p:nvPr/>
        </p:nvSpPr>
        <p:spPr>
          <a:xfrm>
            <a:off x="457200" y="1828800"/>
            <a:ext cx="45720" cy="594360"/>
          </a:xfrm>
          <a:prstGeom prst="rect">
            <a:avLst/>
          </a:prstGeom>
          <a:solidFill>
            <a:srgbClr val="02C3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25"/>
          <p:cNvSpPr/>
          <p:nvPr/>
        </p:nvSpPr>
        <p:spPr>
          <a:xfrm>
            <a:off x="731520" y="1920240"/>
            <a:ext cx="27432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300"/>
              <a:buFont typeface="Calibri"/>
              <a:buNone/>
            </a:pPr>
            <a:r>
              <a:rPr b="1" i="0" lang="en-GB" sz="1300" u="none" cap="none" strike="noStrike">
                <a:solidFill>
                  <a:srgbClr val="028090"/>
                </a:solidFill>
                <a:latin typeface="Calibri"/>
                <a:ea typeface="Calibri"/>
                <a:cs typeface="Calibri"/>
                <a:sym typeface="Calibri"/>
              </a:rPr>
              <a:t>amount &gt; 0</a:t>
            </a:r>
            <a:endParaRPr b="0" i="0" sz="1300" u="none" cap="none" strike="noStrike">
              <a:solidFill>
                <a:schemeClr val="dk1"/>
              </a:solidFill>
              <a:latin typeface="Calibri"/>
              <a:ea typeface="Calibri"/>
              <a:cs typeface="Calibri"/>
              <a:sym typeface="Calibri"/>
            </a:endParaRPr>
          </a:p>
        </p:txBody>
      </p:sp>
      <p:sp>
        <p:nvSpPr>
          <p:cNvPr id="387" name="Google Shape;387;p25"/>
          <p:cNvSpPr/>
          <p:nvPr/>
        </p:nvSpPr>
        <p:spPr>
          <a:xfrm>
            <a:off x="731520" y="2176272"/>
            <a:ext cx="731520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0" lang="en-GB" sz="1200" u="none" cap="none" strike="noStrike">
                <a:solidFill>
                  <a:schemeClr val="dk1"/>
                </a:solidFill>
                <a:latin typeface="Calibri"/>
                <a:ea typeface="Calibri"/>
                <a:cs typeface="Calibri"/>
                <a:sym typeface="Calibri"/>
              </a:rPr>
              <a:t>All transactions must have positive amounts</a:t>
            </a:r>
            <a:endParaRPr b="1" i="0" sz="1200" u="none" cap="none" strike="noStrike">
              <a:solidFill>
                <a:schemeClr val="dk1"/>
              </a:solidFill>
              <a:latin typeface="Calibri"/>
              <a:ea typeface="Calibri"/>
              <a:cs typeface="Calibri"/>
              <a:sym typeface="Calibri"/>
            </a:endParaRPr>
          </a:p>
        </p:txBody>
      </p:sp>
      <p:sp>
        <p:nvSpPr>
          <p:cNvPr id="388" name="Google Shape;388;p25"/>
          <p:cNvSpPr/>
          <p:nvPr/>
        </p:nvSpPr>
        <p:spPr>
          <a:xfrm>
            <a:off x="457200" y="2468880"/>
            <a:ext cx="8229600" cy="59436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5"/>
          <p:cNvSpPr/>
          <p:nvPr/>
        </p:nvSpPr>
        <p:spPr>
          <a:xfrm>
            <a:off x="457200" y="2468880"/>
            <a:ext cx="45720" cy="594360"/>
          </a:xfrm>
          <a:prstGeom prst="rect">
            <a:avLst/>
          </a:prstGeom>
          <a:solidFill>
            <a:srgbClr val="02C3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25"/>
          <p:cNvSpPr/>
          <p:nvPr/>
        </p:nvSpPr>
        <p:spPr>
          <a:xfrm>
            <a:off x="731520" y="2560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300"/>
              <a:buFont typeface="Calibri"/>
              <a:buNone/>
            </a:pPr>
            <a:r>
              <a:rPr b="1" i="0" lang="en-GB" sz="1300" u="none" cap="none" strike="noStrike">
                <a:solidFill>
                  <a:srgbClr val="028090"/>
                </a:solidFill>
                <a:latin typeface="Calibri"/>
                <a:ea typeface="Calibri"/>
                <a:cs typeface="Calibri"/>
                <a:sym typeface="Calibri"/>
              </a:rPr>
              <a:t>UNIQUE email/phone</a:t>
            </a:r>
            <a:endParaRPr b="0" i="0" sz="1300" u="none" cap="none" strike="noStrike">
              <a:solidFill>
                <a:schemeClr val="dk1"/>
              </a:solidFill>
              <a:latin typeface="Calibri"/>
              <a:ea typeface="Calibri"/>
              <a:cs typeface="Calibri"/>
              <a:sym typeface="Calibri"/>
            </a:endParaRPr>
          </a:p>
        </p:txBody>
      </p:sp>
      <p:sp>
        <p:nvSpPr>
          <p:cNvPr id="391" name="Google Shape;391;p25"/>
          <p:cNvSpPr/>
          <p:nvPr/>
        </p:nvSpPr>
        <p:spPr>
          <a:xfrm>
            <a:off x="731520" y="2816352"/>
            <a:ext cx="731520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0" lang="en-GB" sz="1200" u="none" cap="none" strike="noStrike">
                <a:solidFill>
                  <a:schemeClr val="dk1"/>
                </a:solidFill>
                <a:latin typeface="Calibri"/>
                <a:ea typeface="Calibri"/>
                <a:cs typeface="Calibri"/>
                <a:sym typeface="Calibri"/>
              </a:rPr>
              <a:t>One email and phone per user system-wide</a:t>
            </a:r>
            <a:endParaRPr b="1" i="0" sz="1200" u="none" cap="none" strike="noStrike">
              <a:solidFill>
                <a:schemeClr val="dk1"/>
              </a:solidFill>
              <a:latin typeface="Calibri"/>
              <a:ea typeface="Calibri"/>
              <a:cs typeface="Calibri"/>
              <a:sym typeface="Calibri"/>
            </a:endParaRPr>
          </a:p>
        </p:txBody>
      </p:sp>
      <p:sp>
        <p:nvSpPr>
          <p:cNvPr id="392" name="Google Shape;392;p25"/>
          <p:cNvSpPr/>
          <p:nvPr/>
        </p:nvSpPr>
        <p:spPr>
          <a:xfrm>
            <a:off x="457200" y="3108960"/>
            <a:ext cx="8229600" cy="59436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5"/>
          <p:cNvSpPr/>
          <p:nvPr/>
        </p:nvSpPr>
        <p:spPr>
          <a:xfrm>
            <a:off x="457200" y="3108960"/>
            <a:ext cx="45720" cy="594360"/>
          </a:xfrm>
          <a:prstGeom prst="rect">
            <a:avLst/>
          </a:prstGeom>
          <a:solidFill>
            <a:srgbClr val="02C3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25"/>
          <p:cNvSpPr/>
          <p:nvPr/>
        </p:nvSpPr>
        <p:spPr>
          <a:xfrm>
            <a:off x="731520" y="3200400"/>
            <a:ext cx="27432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300"/>
              <a:buFont typeface="Calibri"/>
              <a:buNone/>
            </a:pPr>
            <a:r>
              <a:rPr b="1" i="0" lang="en-GB" sz="1300" u="none" cap="none" strike="noStrike">
                <a:solidFill>
                  <a:srgbClr val="028090"/>
                </a:solidFill>
                <a:latin typeface="Calibri"/>
                <a:ea typeface="Calibri"/>
                <a:cs typeface="Calibri"/>
                <a:sym typeface="Calibri"/>
              </a:rPr>
              <a:t>Foreign Key Enforcement</a:t>
            </a:r>
            <a:endParaRPr b="0" i="0" sz="1300" u="none" cap="none" strike="noStrike">
              <a:solidFill>
                <a:schemeClr val="dk1"/>
              </a:solidFill>
              <a:latin typeface="Calibri"/>
              <a:ea typeface="Calibri"/>
              <a:cs typeface="Calibri"/>
              <a:sym typeface="Calibri"/>
            </a:endParaRPr>
          </a:p>
        </p:txBody>
      </p:sp>
      <p:sp>
        <p:nvSpPr>
          <p:cNvPr id="395" name="Google Shape;395;p25"/>
          <p:cNvSpPr/>
          <p:nvPr/>
        </p:nvSpPr>
        <p:spPr>
          <a:xfrm>
            <a:off x="731520" y="3456432"/>
            <a:ext cx="731520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0" lang="en-GB" sz="1200" u="none" cap="none" strike="noStrike">
                <a:solidFill>
                  <a:schemeClr val="dk1"/>
                </a:solidFill>
                <a:latin typeface="Calibri"/>
                <a:ea typeface="Calibri"/>
                <a:cs typeface="Calibri"/>
                <a:sym typeface="Calibri"/>
              </a:rPr>
              <a:t>All relationships validated at database level</a:t>
            </a:r>
            <a:endParaRPr b="1" i="0" sz="1200" u="none" cap="none" strike="noStrike">
              <a:solidFill>
                <a:schemeClr val="dk1"/>
              </a:solidFill>
              <a:latin typeface="Calibri"/>
              <a:ea typeface="Calibri"/>
              <a:cs typeface="Calibri"/>
              <a:sym typeface="Calibri"/>
            </a:endParaRPr>
          </a:p>
        </p:txBody>
      </p:sp>
      <p:sp>
        <p:nvSpPr>
          <p:cNvPr id="396" name="Google Shape;396;p25"/>
          <p:cNvSpPr/>
          <p:nvPr/>
        </p:nvSpPr>
        <p:spPr>
          <a:xfrm>
            <a:off x="731520" y="4161026"/>
            <a:ext cx="7315200" cy="201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0" lang="en-GB" sz="1200" u="none" cap="none" strike="noStrike">
                <a:solidFill>
                  <a:schemeClr val="dk1"/>
                </a:solidFill>
                <a:latin typeface="Calibri"/>
                <a:ea typeface="Calibri"/>
                <a:cs typeface="Calibri"/>
                <a:sym typeface="Calibri"/>
              </a:rPr>
              <a:t>Transactions above 50,000 PKR automatically flagged</a:t>
            </a:r>
            <a:endParaRPr b="1" i="0" sz="1200" u="none" cap="none" strike="noStrike">
              <a:solidFill>
                <a:schemeClr val="dk1"/>
              </a:solidFill>
              <a:latin typeface="Calibri"/>
              <a:ea typeface="Calibri"/>
              <a:cs typeface="Calibri"/>
              <a:sym typeface="Calibri"/>
            </a:endParaRPr>
          </a:p>
        </p:txBody>
      </p:sp>
      <p:sp>
        <p:nvSpPr>
          <p:cNvPr id="397" name="Google Shape;397;p25"/>
          <p:cNvSpPr/>
          <p:nvPr/>
        </p:nvSpPr>
        <p:spPr>
          <a:xfrm>
            <a:off x="457200" y="3767443"/>
            <a:ext cx="8229600" cy="5943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25"/>
          <p:cNvSpPr/>
          <p:nvPr/>
        </p:nvSpPr>
        <p:spPr>
          <a:xfrm>
            <a:off x="457263" y="3773300"/>
            <a:ext cx="45600" cy="594300"/>
          </a:xfrm>
          <a:prstGeom prst="rect">
            <a:avLst/>
          </a:prstGeom>
          <a:solidFill>
            <a:srgbClr val="02C3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25"/>
          <p:cNvSpPr/>
          <p:nvPr/>
        </p:nvSpPr>
        <p:spPr>
          <a:xfrm>
            <a:off x="731520" y="3858883"/>
            <a:ext cx="27432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300"/>
              <a:buFont typeface="Calibri"/>
              <a:buNone/>
            </a:pPr>
            <a:r>
              <a:rPr b="1" i="0" lang="en-GB" sz="1300" u="none" cap="none" strike="noStrike">
                <a:solidFill>
                  <a:srgbClr val="028090"/>
                </a:solidFill>
                <a:latin typeface="Calibri"/>
                <a:ea typeface="Calibri"/>
                <a:cs typeface="Calibri"/>
                <a:sym typeface="Calibri"/>
              </a:rPr>
              <a:t>DEFAULT status values</a:t>
            </a:r>
            <a:endParaRPr b="0" i="0" sz="1300" u="none" cap="none" strike="noStrike">
              <a:solidFill>
                <a:schemeClr val="dk1"/>
              </a:solidFill>
              <a:latin typeface="Calibri"/>
              <a:ea typeface="Calibri"/>
              <a:cs typeface="Calibri"/>
              <a:sym typeface="Calibri"/>
            </a:endParaRPr>
          </a:p>
        </p:txBody>
      </p:sp>
      <p:sp>
        <p:nvSpPr>
          <p:cNvPr id="400" name="Google Shape;400;p25"/>
          <p:cNvSpPr/>
          <p:nvPr/>
        </p:nvSpPr>
        <p:spPr>
          <a:xfrm>
            <a:off x="731520" y="4114915"/>
            <a:ext cx="7315200" cy="201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0" lang="en-GB" sz="1200" u="none" cap="none" strike="noStrike">
                <a:solidFill>
                  <a:schemeClr val="dk1"/>
                </a:solidFill>
                <a:latin typeface="Calibri"/>
                <a:ea typeface="Calibri"/>
                <a:cs typeface="Calibri"/>
                <a:sym typeface="Calibri"/>
              </a:rPr>
              <a:t>Status fields default to 'active' or 'completed'</a:t>
            </a:r>
            <a:endParaRPr b="1"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6"/>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How the System Works</a:t>
            </a:r>
            <a:endParaRPr b="0" i="0" sz="3600" u="none" cap="none" strike="noStrike">
              <a:solidFill>
                <a:srgbClr val="02C39A"/>
              </a:solidFill>
              <a:latin typeface="Calibri"/>
              <a:ea typeface="Calibri"/>
              <a:cs typeface="Calibri"/>
              <a:sym typeface="Calibri"/>
            </a:endParaRPr>
          </a:p>
        </p:txBody>
      </p:sp>
      <p:sp>
        <p:nvSpPr>
          <p:cNvPr id="407" name="Google Shape;407;p26"/>
          <p:cNvSpPr/>
          <p:nvPr/>
        </p:nvSpPr>
        <p:spPr>
          <a:xfrm>
            <a:off x="457200" y="118872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6"/>
          <p:cNvSpPr/>
          <p:nvPr/>
        </p:nvSpPr>
        <p:spPr>
          <a:xfrm>
            <a:off x="640080" y="132588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2800"/>
              <a:buFont typeface="Calibri"/>
              <a:buNone/>
            </a:pPr>
            <a:r>
              <a:rPr b="1" i="0" lang="en-GB" sz="2800" u="none" cap="none" strike="noStrike">
                <a:solidFill>
                  <a:srgbClr val="028090"/>
                </a:solidFill>
                <a:latin typeface="Calibri"/>
                <a:ea typeface="Calibri"/>
                <a:cs typeface="Calibri"/>
                <a:sym typeface="Calibri"/>
              </a:rPr>
              <a:t>1</a:t>
            </a:r>
            <a:endParaRPr b="0" i="0" sz="2800" u="none" cap="none" strike="noStrike">
              <a:solidFill>
                <a:schemeClr val="dk1"/>
              </a:solidFill>
              <a:latin typeface="Calibri"/>
              <a:ea typeface="Calibri"/>
              <a:cs typeface="Calibri"/>
              <a:sym typeface="Calibri"/>
            </a:endParaRPr>
          </a:p>
        </p:txBody>
      </p:sp>
      <p:sp>
        <p:nvSpPr>
          <p:cNvPr id="409" name="Google Shape;409;p26"/>
          <p:cNvSpPr/>
          <p:nvPr/>
        </p:nvSpPr>
        <p:spPr>
          <a:xfrm>
            <a:off x="1188720" y="137160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User Registration</a:t>
            </a:r>
            <a:endParaRPr b="0" i="0" sz="1300" u="none" cap="none" strike="noStrike">
              <a:solidFill>
                <a:schemeClr val="dk1"/>
              </a:solidFill>
              <a:latin typeface="Calibri"/>
              <a:ea typeface="Calibri"/>
              <a:cs typeface="Calibri"/>
              <a:sym typeface="Calibri"/>
            </a:endParaRPr>
          </a:p>
        </p:txBody>
      </p:sp>
      <p:sp>
        <p:nvSpPr>
          <p:cNvPr id="410" name="Google Shape;410;p26"/>
          <p:cNvSpPr/>
          <p:nvPr/>
        </p:nvSpPr>
        <p:spPr>
          <a:xfrm>
            <a:off x="640080" y="1828800"/>
            <a:ext cx="23774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1" i="0" lang="en-GB" sz="1200" u="none" cap="none" strike="noStrike">
                <a:solidFill>
                  <a:schemeClr val="dk1"/>
                </a:solidFill>
                <a:latin typeface="Calibri"/>
                <a:ea typeface="Calibri"/>
                <a:cs typeface="Calibri"/>
                <a:sym typeface="Calibri"/>
              </a:rPr>
              <a:t>INSERT into Users → Auto-create Wallet</a:t>
            </a:r>
            <a:endParaRPr b="1" i="0" sz="1200" u="none" cap="none" strike="noStrike">
              <a:solidFill>
                <a:schemeClr val="dk1"/>
              </a:solidFill>
              <a:latin typeface="Calibri"/>
              <a:ea typeface="Calibri"/>
              <a:cs typeface="Calibri"/>
              <a:sym typeface="Calibri"/>
            </a:endParaRPr>
          </a:p>
        </p:txBody>
      </p:sp>
      <p:sp>
        <p:nvSpPr>
          <p:cNvPr id="411" name="Google Shape;411;p26"/>
          <p:cNvSpPr/>
          <p:nvPr/>
        </p:nvSpPr>
        <p:spPr>
          <a:xfrm>
            <a:off x="3383280" y="118872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6"/>
          <p:cNvSpPr/>
          <p:nvPr/>
        </p:nvSpPr>
        <p:spPr>
          <a:xfrm>
            <a:off x="3566160" y="132588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2800"/>
              <a:buFont typeface="Calibri"/>
              <a:buNone/>
            </a:pPr>
            <a:r>
              <a:rPr b="1" i="0" lang="en-GB" sz="2800" u="none" cap="none" strike="noStrike">
                <a:solidFill>
                  <a:srgbClr val="028090"/>
                </a:solidFill>
                <a:latin typeface="Calibri"/>
                <a:ea typeface="Calibri"/>
                <a:cs typeface="Calibri"/>
                <a:sym typeface="Calibri"/>
              </a:rPr>
              <a:t>2</a:t>
            </a:r>
            <a:endParaRPr b="0" i="0" sz="2800" u="none" cap="none" strike="noStrike">
              <a:solidFill>
                <a:schemeClr val="dk1"/>
              </a:solidFill>
              <a:latin typeface="Calibri"/>
              <a:ea typeface="Calibri"/>
              <a:cs typeface="Calibri"/>
              <a:sym typeface="Calibri"/>
            </a:endParaRPr>
          </a:p>
        </p:txBody>
      </p:sp>
      <p:sp>
        <p:nvSpPr>
          <p:cNvPr id="413" name="Google Shape;413;p26"/>
          <p:cNvSpPr/>
          <p:nvPr/>
        </p:nvSpPr>
        <p:spPr>
          <a:xfrm>
            <a:off x="4114800" y="137160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Fund Deposit</a:t>
            </a:r>
            <a:endParaRPr b="0" i="0" sz="1300" u="none" cap="none" strike="noStrike">
              <a:solidFill>
                <a:schemeClr val="dk1"/>
              </a:solidFill>
              <a:latin typeface="Calibri"/>
              <a:ea typeface="Calibri"/>
              <a:cs typeface="Calibri"/>
              <a:sym typeface="Calibri"/>
            </a:endParaRPr>
          </a:p>
        </p:txBody>
      </p:sp>
      <p:sp>
        <p:nvSpPr>
          <p:cNvPr id="414" name="Google Shape;414;p26"/>
          <p:cNvSpPr/>
          <p:nvPr/>
        </p:nvSpPr>
        <p:spPr>
          <a:xfrm>
            <a:off x="3566160" y="1828800"/>
            <a:ext cx="23774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1" i="0" lang="en-GB" sz="1200" u="none" cap="none" strike="noStrike">
                <a:solidFill>
                  <a:schemeClr val="dk1"/>
                </a:solidFill>
                <a:latin typeface="Calibri"/>
                <a:ea typeface="Calibri"/>
                <a:cs typeface="Calibri"/>
                <a:sym typeface="Calibri"/>
              </a:rPr>
              <a:t>UPDATE Wallet balance → INSERT Transaction (credit)</a:t>
            </a:r>
            <a:endParaRPr b="1" i="0" sz="1200" u="none" cap="none" strike="noStrike">
              <a:solidFill>
                <a:schemeClr val="dk1"/>
              </a:solidFill>
              <a:latin typeface="Calibri"/>
              <a:ea typeface="Calibri"/>
              <a:cs typeface="Calibri"/>
              <a:sym typeface="Calibri"/>
            </a:endParaRPr>
          </a:p>
        </p:txBody>
      </p:sp>
      <p:sp>
        <p:nvSpPr>
          <p:cNvPr id="415" name="Google Shape;415;p26"/>
          <p:cNvSpPr/>
          <p:nvPr/>
        </p:nvSpPr>
        <p:spPr>
          <a:xfrm>
            <a:off x="6309360" y="118872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26"/>
          <p:cNvSpPr/>
          <p:nvPr/>
        </p:nvSpPr>
        <p:spPr>
          <a:xfrm>
            <a:off x="6492240" y="132588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2800"/>
              <a:buFont typeface="Calibri"/>
              <a:buNone/>
            </a:pPr>
            <a:r>
              <a:rPr b="1" i="0" lang="en-GB" sz="2800" u="none" cap="none" strike="noStrike">
                <a:solidFill>
                  <a:srgbClr val="028090"/>
                </a:solidFill>
                <a:latin typeface="Calibri"/>
                <a:ea typeface="Calibri"/>
                <a:cs typeface="Calibri"/>
                <a:sym typeface="Calibri"/>
              </a:rPr>
              <a:t>3</a:t>
            </a:r>
            <a:endParaRPr b="0" i="0" sz="2800" u="none" cap="none" strike="noStrike">
              <a:solidFill>
                <a:schemeClr val="dk1"/>
              </a:solidFill>
              <a:latin typeface="Calibri"/>
              <a:ea typeface="Calibri"/>
              <a:cs typeface="Calibri"/>
              <a:sym typeface="Calibri"/>
            </a:endParaRPr>
          </a:p>
        </p:txBody>
      </p:sp>
      <p:sp>
        <p:nvSpPr>
          <p:cNvPr id="417" name="Google Shape;417;p26"/>
          <p:cNvSpPr/>
          <p:nvPr/>
        </p:nvSpPr>
        <p:spPr>
          <a:xfrm>
            <a:off x="7040880" y="137160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P2P Transfer</a:t>
            </a:r>
            <a:endParaRPr b="0" i="0" sz="1300" u="none" cap="none" strike="noStrike">
              <a:solidFill>
                <a:schemeClr val="dk1"/>
              </a:solidFill>
              <a:latin typeface="Calibri"/>
              <a:ea typeface="Calibri"/>
              <a:cs typeface="Calibri"/>
              <a:sym typeface="Calibri"/>
            </a:endParaRPr>
          </a:p>
        </p:txBody>
      </p:sp>
      <p:sp>
        <p:nvSpPr>
          <p:cNvPr id="418" name="Google Shape;418;p26"/>
          <p:cNvSpPr/>
          <p:nvPr/>
        </p:nvSpPr>
        <p:spPr>
          <a:xfrm>
            <a:off x="6492240" y="1828800"/>
            <a:ext cx="23774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1" i="0" lang="en-GB" sz="1200" u="none" cap="none" strike="noStrike">
                <a:solidFill>
                  <a:schemeClr val="dk1"/>
                </a:solidFill>
                <a:latin typeface="Calibri"/>
                <a:ea typeface="Calibri"/>
                <a:cs typeface="Calibri"/>
                <a:sym typeface="Calibri"/>
              </a:rPr>
              <a:t>Call sp_TransferFunds → Debit sender, Credit receiver</a:t>
            </a:r>
            <a:endParaRPr b="1" i="0" sz="1200" u="none" cap="none" strike="noStrike">
              <a:solidFill>
                <a:schemeClr val="dk1"/>
              </a:solidFill>
              <a:latin typeface="Calibri"/>
              <a:ea typeface="Calibri"/>
              <a:cs typeface="Calibri"/>
              <a:sym typeface="Calibri"/>
            </a:endParaRPr>
          </a:p>
        </p:txBody>
      </p:sp>
      <p:sp>
        <p:nvSpPr>
          <p:cNvPr id="419" name="Google Shape;419;p26"/>
          <p:cNvSpPr/>
          <p:nvPr/>
        </p:nvSpPr>
        <p:spPr>
          <a:xfrm>
            <a:off x="457200" y="310896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6"/>
          <p:cNvSpPr/>
          <p:nvPr/>
        </p:nvSpPr>
        <p:spPr>
          <a:xfrm>
            <a:off x="640080" y="324612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2800"/>
              <a:buFont typeface="Calibri"/>
              <a:buNone/>
            </a:pPr>
            <a:r>
              <a:rPr b="1" i="0" lang="en-GB" sz="2800" u="none" cap="none" strike="noStrike">
                <a:solidFill>
                  <a:srgbClr val="028090"/>
                </a:solidFill>
                <a:latin typeface="Calibri"/>
                <a:ea typeface="Calibri"/>
                <a:cs typeface="Calibri"/>
                <a:sym typeface="Calibri"/>
              </a:rPr>
              <a:t>4</a:t>
            </a:r>
            <a:endParaRPr b="0" i="0" sz="2800" u="none" cap="none" strike="noStrike">
              <a:solidFill>
                <a:schemeClr val="dk1"/>
              </a:solidFill>
              <a:latin typeface="Calibri"/>
              <a:ea typeface="Calibri"/>
              <a:cs typeface="Calibri"/>
              <a:sym typeface="Calibri"/>
            </a:endParaRPr>
          </a:p>
        </p:txBody>
      </p:sp>
      <p:sp>
        <p:nvSpPr>
          <p:cNvPr id="421" name="Google Shape;421;p26"/>
          <p:cNvSpPr/>
          <p:nvPr/>
        </p:nvSpPr>
        <p:spPr>
          <a:xfrm>
            <a:off x="1188720" y="329184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Merchant Payment</a:t>
            </a:r>
            <a:endParaRPr b="0" i="0" sz="1300" u="none" cap="none" strike="noStrike">
              <a:solidFill>
                <a:schemeClr val="dk1"/>
              </a:solidFill>
              <a:latin typeface="Calibri"/>
              <a:ea typeface="Calibri"/>
              <a:cs typeface="Calibri"/>
              <a:sym typeface="Calibri"/>
            </a:endParaRPr>
          </a:p>
        </p:txBody>
      </p:sp>
      <p:sp>
        <p:nvSpPr>
          <p:cNvPr id="422" name="Google Shape;422;p26"/>
          <p:cNvSpPr/>
          <p:nvPr/>
        </p:nvSpPr>
        <p:spPr>
          <a:xfrm>
            <a:off x="640080" y="3749040"/>
            <a:ext cx="23774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1" i="0" lang="en-GB" sz="1200" u="none" cap="none" strike="noStrike">
                <a:solidFill>
                  <a:schemeClr val="dk1"/>
                </a:solidFill>
                <a:latin typeface="Calibri"/>
                <a:ea typeface="Calibri"/>
                <a:cs typeface="Calibri"/>
                <a:sym typeface="Calibri"/>
              </a:rPr>
              <a:t>UPDATE Wallet → INSERT Payment → INSERT Transaction</a:t>
            </a:r>
            <a:endParaRPr b="1" i="0" sz="1200" u="none" cap="none" strike="noStrike">
              <a:solidFill>
                <a:schemeClr val="dk1"/>
              </a:solidFill>
              <a:latin typeface="Calibri"/>
              <a:ea typeface="Calibri"/>
              <a:cs typeface="Calibri"/>
              <a:sym typeface="Calibri"/>
            </a:endParaRPr>
          </a:p>
        </p:txBody>
      </p:sp>
      <p:sp>
        <p:nvSpPr>
          <p:cNvPr id="423" name="Google Shape;423;p26"/>
          <p:cNvSpPr/>
          <p:nvPr/>
        </p:nvSpPr>
        <p:spPr>
          <a:xfrm>
            <a:off x="3383280" y="310896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6"/>
          <p:cNvSpPr/>
          <p:nvPr/>
        </p:nvSpPr>
        <p:spPr>
          <a:xfrm>
            <a:off x="3566160" y="324612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2800"/>
              <a:buFont typeface="Calibri"/>
              <a:buNone/>
            </a:pPr>
            <a:r>
              <a:rPr b="1" i="0" lang="en-GB" sz="2800" u="none" cap="none" strike="noStrike">
                <a:solidFill>
                  <a:srgbClr val="028090"/>
                </a:solidFill>
                <a:latin typeface="Calibri"/>
                <a:ea typeface="Calibri"/>
                <a:cs typeface="Calibri"/>
                <a:sym typeface="Calibri"/>
              </a:rPr>
              <a:t>5</a:t>
            </a:r>
            <a:endParaRPr b="0" i="0" sz="2800" u="none" cap="none" strike="noStrike">
              <a:solidFill>
                <a:schemeClr val="dk1"/>
              </a:solidFill>
              <a:latin typeface="Calibri"/>
              <a:ea typeface="Calibri"/>
              <a:cs typeface="Calibri"/>
              <a:sym typeface="Calibri"/>
            </a:endParaRPr>
          </a:p>
        </p:txBody>
      </p:sp>
      <p:sp>
        <p:nvSpPr>
          <p:cNvPr id="425" name="Google Shape;425;p26"/>
          <p:cNvSpPr/>
          <p:nvPr/>
        </p:nvSpPr>
        <p:spPr>
          <a:xfrm>
            <a:off x="4114800" y="329184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Balance Inquiry</a:t>
            </a:r>
            <a:endParaRPr b="0" i="0" sz="1300" u="none" cap="none" strike="noStrike">
              <a:solidFill>
                <a:schemeClr val="dk1"/>
              </a:solidFill>
              <a:latin typeface="Calibri"/>
              <a:ea typeface="Calibri"/>
              <a:cs typeface="Calibri"/>
              <a:sym typeface="Calibri"/>
            </a:endParaRPr>
          </a:p>
        </p:txBody>
      </p:sp>
      <p:sp>
        <p:nvSpPr>
          <p:cNvPr id="426" name="Google Shape;426;p26"/>
          <p:cNvSpPr/>
          <p:nvPr/>
        </p:nvSpPr>
        <p:spPr>
          <a:xfrm>
            <a:off x="3566160" y="3749040"/>
            <a:ext cx="23774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1" i="0" lang="en-GB" sz="1200" u="none" cap="none" strike="noStrike">
                <a:solidFill>
                  <a:schemeClr val="dk1"/>
                </a:solidFill>
                <a:latin typeface="Calibri"/>
                <a:ea typeface="Calibri"/>
                <a:cs typeface="Calibri"/>
                <a:sym typeface="Calibri"/>
              </a:rPr>
              <a:t>SELECT from Wallets JOIN Users</a:t>
            </a:r>
            <a:endParaRPr b="1" i="0" sz="1200" u="none" cap="none" strike="noStrike">
              <a:solidFill>
                <a:schemeClr val="dk1"/>
              </a:solidFill>
              <a:latin typeface="Calibri"/>
              <a:ea typeface="Calibri"/>
              <a:cs typeface="Calibri"/>
              <a:sym typeface="Calibri"/>
            </a:endParaRPr>
          </a:p>
        </p:txBody>
      </p:sp>
      <p:sp>
        <p:nvSpPr>
          <p:cNvPr id="427" name="Google Shape;427;p26"/>
          <p:cNvSpPr/>
          <p:nvPr/>
        </p:nvSpPr>
        <p:spPr>
          <a:xfrm>
            <a:off x="6309360" y="3108960"/>
            <a:ext cx="2743200" cy="13716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26"/>
          <p:cNvSpPr/>
          <p:nvPr/>
        </p:nvSpPr>
        <p:spPr>
          <a:xfrm>
            <a:off x="6492240" y="324612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2800"/>
              <a:buFont typeface="Calibri"/>
              <a:buNone/>
            </a:pPr>
            <a:r>
              <a:rPr b="1" i="0" lang="en-GB" sz="2800" u="none" cap="none" strike="noStrike">
                <a:solidFill>
                  <a:srgbClr val="028090"/>
                </a:solidFill>
                <a:latin typeface="Calibri"/>
                <a:ea typeface="Calibri"/>
                <a:cs typeface="Calibri"/>
                <a:sym typeface="Calibri"/>
              </a:rPr>
              <a:t>6</a:t>
            </a:r>
            <a:endParaRPr b="0" i="0" sz="2800" u="none" cap="none" strike="noStrike">
              <a:solidFill>
                <a:schemeClr val="dk1"/>
              </a:solidFill>
              <a:latin typeface="Calibri"/>
              <a:ea typeface="Calibri"/>
              <a:cs typeface="Calibri"/>
              <a:sym typeface="Calibri"/>
            </a:endParaRPr>
          </a:p>
        </p:txBody>
      </p:sp>
      <p:sp>
        <p:nvSpPr>
          <p:cNvPr id="429" name="Google Shape;429;p26"/>
          <p:cNvSpPr/>
          <p:nvPr/>
        </p:nvSpPr>
        <p:spPr>
          <a:xfrm>
            <a:off x="7040880" y="3291840"/>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300" u="none" cap="none" strike="noStrike">
                <a:solidFill>
                  <a:srgbClr val="2C3E50"/>
                </a:solidFill>
                <a:latin typeface="Calibri"/>
                <a:ea typeface="Calibri"/>
                <a:cs typeface="Calibri"/>
                <a:sym typeface="Calibri"/>
              </a:rPr>
              <a:t>Transaction History</a:t>
            </a:r>
            <a:endParaRPr b="0" i="0" sz="1300" u="none" cap="none" strike="noStrike">
              <a:solidFill>
                <a:schemeClr val="dk1"/>
              </a:solidFill>
              <a:latin typeface="Calibri"/>
              <a:ea typeface="Calibri"/>
              <a:cs typeface="Calibri"/>
              <a:sym typeface="Calibri"/>
            </a:endParaRPr>
          </a:p>
        </p:txBody>
      </p:sp>
      <p:sp>
        <p:nvSpPr>
          <p:cNvPr id="430" name="Google Shape;430;p26"/>
          <p:cNvSpPr/>
          <p:nvPr/>
        </p:nvSpPr>
        <p:spPr>
          <a:xfrm>
            <a:off x="6492240" y="3749040"/>
            <a:ext cx="23774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1" i="0" lang="en-GB" sz="1200" u="none" cap="none" strike="noStrike">
                <a:solidFill>
                  <a:schemeClr val="dk1"/>
                </a:solidFill>
                <a:latin typeface="Calibri"/>
                <a:ea typeface="Calibri"/>
                <a:cs typeface="Calibri"/>
                <a:sym typeface="Calibri"/>
              </a:rPr>
              <a:t>SELECT from Transactions WHERE wallet_id</a:t>
            </a:r>
            <a:endParaRPr b="1"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7"/>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200"/>
              <a:buFont typeface="Arial Black"/>
              <a:buNone/>
            </a:pPr>
            <a:r>
              <a:rPr b="1" i="0" lang="en-GB" sz="2500" u="none" cap="none" strike="noStrike">
                <a:solidFill>
                  <a:srgbClr val="02C39A"/>
                </a:solidFill>
                <a:latin typeface="Arial Black"/>
                <a:ea typeface="Arial Black"/>
                <a:cs typeface="Arial Black"/>
                <a:sym typeface="Arial Black"/>
              </a:rPr>
              <a:t>Code: User Registration &amp; Wallet Creation</a:t>
            </a:r>
            <a:endParaRPr b="0" i="0" sz="2500" u="none" cap="none" strike="noStrike">
              <a:solidFill>
                <a:srgbClr val="02C39A"/>
              </a:solidFill>
              <a:latin typeface="Calibri"/>
              <a:ea typeface="Calibri"/>
              <a:cs typeface="Calibri"/>
              <a:sym typeface="Calibri"/>
            </a:endParaRPr>
          </a:p>
        </p:txBody>
      </p:sp>
      <p:pic>
        <p:nvPicPr>
          <p:cNvPr descr="preencoded.png" id="437" name="Google Shape;437;p27"/>
          <p:cNvPicPr preferRelativeResize="0"/>
          <p:nvPr/>
        </p:nvPicPr>
        <p:blipFill rotWithShape="1">
          <a:blip r:embed="rId3">
            <a:alphaModFix/>
          </a:blip>
          <a:srcRect b="0" l="0" r="0" t="0"/>
          <a:stretch/>
        </p:blipFill>
        <p:spPr>
          <a:xfrm>
            <a:off x="7955275" y="365740"/>
            <a:ext cx="548640" cy="548640"/>
          </a:xfrm>
          <a:prstGeom prst="rect">
            <a:avLst/>
          </a:prstGeom>
          <a:noFill/>
          <a:ln>
            <a:noFill/>
          </a:ln>
        </p:spPr>
      </p:pic>
      <p:sp>
        <p:nvSpPr>
          <p:cNvPr id="438" name="Google Shape;438;p27"/>
          <p:cNvSpPr/>
          <p:nvPr/>
        </p:nvSpPr>
        <p:spPr>
          <a:xfrm>
            <a:off x="457200" y="1097280"/>
            <a:ext cx="8229600" cy="2011680"/>
          </a:xfrm>
          <a:prstGeom prst="rect">
            <a:avLst/>
          </a:prstGeom>
          <a:solidFill>
            <a:srgbClr val="0A162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endParaRPr>
          </a:p>
        </p:txBody>
      </p:sp>
      <p:sp>
        <p:nvSpPr>
          <p:cNvPr id="439" name="Google Shape;439;p27"/>
          <p:cNvSpPr/>
          <p:nvPr/>
        </p:nvSpPr>
        <p:spPr>
          <a:xfrm>
            <a:off x="640080" y="1280160"/>
            <a:ext cx="7863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63636"/>
              </a:lnSpc>
              <a:spcBef>
                <a:spcPts val="0"/>
              </a:spcBef>
              <a:spcAft>
                <a:spcPts val="0"/>
              </a:spcAft>
              <a:buClr>
                <a:srgbClr val="00A896"/>
              </a:buClr>
              <a:buSzPts val="1100"/>
              <a:buFont typeface="Consolas"/>
              <a:buNone/>
            </a:pPr>
            <a:r>
              <a:rPr b="1" i="0" lang="en-GB" sz="1100" u="none" cap="none" strike="noStrike">
                <a:solidFill>
                  <a:srgbClr val="00A896"/>
                </a:solidFill>
              </a:rPr>
              <a:t>--  Insert new user</a:t>
            </a:r>
            <a:endParaRPr b="1" i="0" sz="1100" u="none" cap="none" strike="noStrike">
              <a:solidFill>
                <a:schemeClr val="dk1"/>
              </a:solidFill>
            </a:endParaRPr>
          </a:p>
          <a:p>
            <a:pPr indent="0" lvl="0" marL="0" marR="0" rtl="0" algn="l">
              <a:lnSpc>
                <a:spcPct val="163636"/>
              </a:lnSpc>
              <a:spcBef>
                <a:spcPts val="0"/>
              </a:spcBef>
              <a:spcAft>
                <a:spcPts val="0"/>
              </a:spcAft>
              <a:buClr>
                <a:srgbClr val="FFFFFF"/>
              </a:buClr>
              <a:buSzPts val="1100"/>
              <a:buFont typeface="Consolas"/>
              <a:buNone/>
            </a:pPr>
            <a:r>
              <a:rPr b="1" i="0" lang="en-GB" sz="1100" u="none" cap="none" strike="noStrike">
                <a:solidFill>
                  <a:srgbClr val="FFFFFF"/>
                </a:solidFill>
              </a:rPr>
              <a:t>INSERT INTO Users (full_name, email, phone, password_hash)</a:t>
            </a:r>
            <a:endParaRPr b="1" i="0" sz="1100" u="none" cap="none" strike="noStrike">
              <a:solidFill>
                <a:schemeClr val="dk1"/>
              </a:solidFill>
            </a:endParaRPr>
          </a:p>
          <a:p>
            <a:pPr indent="0" lvl="0" marL="0" marR="0" rtl="0" algn="l">
              <a:lnSpc>
                <a:spcPct val="163636"/>
              </a:lnSpc>
              <a:spcBef>
                <a:spcPts val="0"/>
              </a:spcBef>
              <a:spcAft>
                <a:spcPts val="0"/>
              </a:spcAft>
              <a:buClr>
                <a:srgbClr val="FFFFFF"/>
              </a:buClr>
              <a:buSzPts val="1100"/>
              <a:buFont typeface="Consolas"/>
              <a:buNone/>
            </a:pPr>
            <a:r>
              <a:rPr b="1" i="0" lang="en-GB" sz="1100" u="none" cap="none" strike="noStrike">
                <a:solidFill>
                  <a:srgbClr val="FFFFFF"/>
                </a:solidFill>
              </a:rPr>
              <a:t>VALUES ('Bobbo Imran', 'bobboimran@email.com', '03001234567', 'hashed_pw');</a:t>
            </a:r>
            <a:endParaRPr b="1" i="0" sz="1100" u="none" cap="none" strike="noStrike">
              <a:solidFill>
                <a:schemeClr val="dk1"/>
              </a:solidFill>
            </a:endParaRPr>
          </a:p>
          <a:p>
            <a:pPr indent="0" lvl="0" marL="0" marR="0" rtl="0" algn="l">
              <a:lnSpc>
                <a:spcPct val="163636"/>
              </a:lnSpc>
              <a:spcBef>
                <a:spcPts val="0"/>
              </a:spcBef>
              <a:spcAft>
                <a:spcPts val="0"/>
              </a:spcAft>
              <a:buClr>
                <a:schemeClr val="dk1"/>
              </a:buClr>
              <a:buSzPts val="1100"/>
              <a:buFont typeface="Calibri"/>
              <a:buNone/>
            </a:pPr>
            <a:r>
              <a:t/>
            </a:r>
            <a:endParaRPr b="1" i="0" sz="1100" u="none" cap="none" strike="noStrike">
              <a:solidFill>
                <a:schemeClr val="dk1"/>
              </a:solidFill>
            </a:endParaRPr>
          </a:p>
          <a:p>
            <a:pPr indent="0" lvl="0" marL="0" marR="0" rtl="0" algn="l">
              <a:lnSpc>
                <a:spcPct val="163636"/>
              </a:lnSpc>
              <a:spcBef>
                <a:spcPts val="0"/>
              </a:spcBef>
              <a:spcAft>
                <a:spcPts val="0"/>
              </a:spcAft>
              <a:buClr>
                <a:srgbClr val="00A896"/>
              </a:buClr>
              <a:buSzPts val="1100"/>
              <a:buFont typeface="Consolas"/>
              <a:buNone/>
            </a:pPr>
            <a:r>
              <a:rPr b="1" i="0" lang="en-GB" sz="1100" u="none" cap="none" strike="noStrike">
                <a:solidFill>
                  <a:srgbClr val="00A896"/>
                </a:solidFill>
              </a:rPr>
              <a:t>--  Create wallet for the user</a:t>
            </a:r>
            <a:endParaRPr b="1" i="0" sz="1100" u="none" cap="none" strike="noStrike">
              <a:solidFill>
                <a:schemeClr val="dk1"/>
              </a:solidFill>
            </a:endParaRPr>
          </a:p>
          <a:p>
            <a:pPr indent="0" lvl="0" marL="0" marR="0" rtl="0" algn="l">
              <a:lnSpc>
                <a:spcPct val="163636"/>
              </a:lnSpc>
              <a:spcBef>
                <a:spcPts val="0"/>
              </a:spcBef>
              <a:spcAft>
                <a:spcPts val="0"/>
              </a:spcAft>
              <a:buClr>
                <a:srgbClr val="FFFFFF"/>
              </a:buClr>
              <a:buSzPts val="1100"/>
              <a:buFont typeface="Consolas"/>
              <a:buNone/>
            </a:pPr>
            <a:r>
              <a:rPr b="1" i="0" lang="en-GB" sz="1100" u="none" cap="none" strike="noStrike">
                <a:solidFill>
                  <a:srgbClr val="FFFFFF"/>
                </a:solidFill>
              </a:rPr>
              <a:t>INSERT INTO Wallets (user_id, currency)</a:t>
            </a:r>
            <a:endParaRPr b="1" i="0" sz="1100" u="none" cap="none" strike="noStrike">
              <a:solidFill>
                <a:schemeClr val="dk1"/>
              </a:solidFill>
            </a:endParaRPr>
          </a:p>
          <a:p>
            <a:pPr indent="0" lvl="0" marL="0" marR="0" rtl="0" algn="l">
              <a:lnSpc>
                <a:spcPct val="163636"/>
              </a:lnSpc>
              <a:spcBef>
                <a:spcPts val="0"/>
              </a:spcBef>
              <a:spcAft>
                <a:spcPts val="0"/>
              </a:spcAft>
              <a:buClr>
                <a:srgbClr val="FFFFFF"/>
              </a:buClr>
              <a:buSzPts val="1100"/>
              <a:buFont typeface="Consolas"/>
              <a:buNone/>
            </a:pPr>
            <a:r>
              <a:rPr b="1" i="0" lang="en-GB" sz="1100" u="none" cap="none" strike="noStrike">
                <a:solidFill>
                  <a:srgbClr val="FFFFFF"/>
                </a:solidFill>
              </a:rPr>
              <a:t>SELECT user_id, 'PKR' FROM Users WHERE email = 'bobboimran@email.com';</a:t>
            </a:r>
            <a:endParaRPr b="1" i="0" sz="1100" u="none" cap="none" strike="noStrike">
              <a:solidFill>
                <a:schemeClr val="dk1"/>
              </a:solidFill>
            </a:endParaRPr>
          </a:p>
        </p:txBody>
      </p:sp>
      <p:sp>
        <p:nvSpPr>
          <p:cNvPr id="440" name="Google Shape;440;p27"/>
          <p:cNvSpPr/>
          <p:nvPr/>
        </p:nvSpPr>
        <p:spPr>
          <a:xfrm>
            <a:off x="457200" y="3291840"/>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600"/>
              <a:buFont typeface="Calibri"/>
              <a:buNone/>
            </a:pPr>
            <a:r>
              <a:rPr b="1" i="0" lang="en-GB" sz="1600" u="none" cap="none" strike="noStrike">
                <a:solidFill>
                  <a:srgbClr val="02C39A"/>
                </a:solidFill>
                <a:latin typeface="Calibri"/>
                <a:ea typeface="Calibri"/>
                <a:cs typeface="Calibri"/>
                <a:sym typeface="Calibri"/>
              </a:rPr>
              <a:t>What This Does:</a:t>
            </a:r>
            <a:endParaRPr b="0" i="0" sz="1600" u="none" cap="none" strike="noStrike">
              <a:solidFill>
                <a:srgbClr val="02C39A"/>
              </a:solidFill>
              <a:latin typeface="Calibri"/>
              <a:ea typeface="Calibri"/>
              <a:cs typeface="Calibri"/>
              <a:sym typeface="Calibri"/>
            </a:endParaRPr>
          </a:p>
        </p:txBody>
      </p:sp>
      <p:sp>
        <p:nvSpPr>
          <p:cNvPr id="441" name="Google Shape;441;p27"/>
          <p:cNvSpPr/>
          <p:nvPr/>
        </p:nvSpPr>
        <p:spPr>
          <a:xfrm>
            <a:off x="457200" y="365760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400" u="none" cap="none" strike="noStrike">
                <a:solidFill>
                  <a:schemeClr val="lt1"/>
                </a:solidFill>
                <a:latin typeface="Calibri"/>
                <a:ea typeface="Calibri"/>
                <a:cs typeface="Calibri"/>
                <a:sym typeface="Calibri"/>
              </a:rPr>
              <a:t>Creates a new user account and automatically assigns them a wallet with zero balance. Email and phone uniqueness is enforced by database constraints.</a:t>
            </a:r>
            <a:endParaRPr b="1" i="0" sz="1400" u="none" cap="none" strike="noStrike">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8"/>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200"/>
              <a:buFont typeface="Arial Black"/>
              <a:buNone/>
            </a:pPr>
            <a:r>
              <a:rPr b="1" i="0" lang="en-GB" sz="3200" u="none" cap="none" strike="noStrike">
                <a:solidFill>
                  <a:srgbClr val="02C39A"/>
                </a:solidFill>
                <a:latin typeface="Arial Black"/>
                <a:ea typeface="Arial Black"/>
                <a:cs typeface="Arial Black"/>
                <a:sym typeface="Arial Black"/>
              </a:rPr>
              <a:t>Code: Peer-to-Peer Fund Transfer</a:t>
            </a:r>
            <a:endParaRPr b="0" i="0" sz="3200" u="none" cap="none" strike="noStrike">
              <a:solidFill>
                <a:srgbClr val="02C39A"/>
              </a:solidFill>
              <a:latin typeface="Calibri"/>
              <a:ea typeface="Calibri"/>
              <a:cs typeface="Calibri"/>
              <a:sym typeface="Calibri"/>
            </a:endParaRPr>
          </a:p>
        </p:txBody>
      </p:sp>
      <p:pic>
        <p:nvPicPr>
          <p:cNvPr descr="preencoded.png" id="448" name="Google Shape;448;p28"/>
          <p:cNvPicPr preferRelativeResize="0"/>
          <p:nvPr/>
        </p:nvPicPr>
        <p:blipFill rotWithShape="1">
          <a:blip r:embed="rId3">
            <a:alphaModFix/>
          </a:blip>
          <a:srcRect b="0" l="0" r="0" t="0"/>
          <a:stretch/>
        </p:blipFill>
        <p:spPr>
          <a:xfrm>
            <a:off x="8165359" y="337640"/>
            <a:ext cx="548640" cy="548640"/>
          </a:xfrm>
          <a:prstGeom prst="rect">
            <a:avLst/>
          </a:prstGeom>
          <a:noFill/>
          <a:ln>
            <a:noFill/>
          </a:ln>
        </p:spPr>
      </p:pic>
      <p:sp>
        <p:nvSpPr>
          <p:cNvPr id="449" name="Google Shape;449;p28"/>
          <p:cNvSpPr/>
          <p:nvPr/>
        </p:nvSpPr>
        <p:spPr>
          <a:xfrm>
            <a:off x="457200" y="1097280"/>
            <a:ext cx="8229600" cy="2286000"/>
          </a:xfrm>
          <a:prstGeom prst="rect">
            <a:avLst/>
          </a:prstGeom>
          <a:solidFill>
            <a:srgbClr val="0A162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8"/>
          <p:cNvSpPr/>
          <p:nvPr/>
        </p:nvSpPr>
        <p:spPr>
          <a:xfrm>
            <a:off x="640080" y="1280160"/>
            <a:ext cx="7863840" cy="1920240"/>
          </a:xfrm>
          <a:prstGeom prst="rect">
            <a:avLst/>
          </a:prstGeom>
          <a:noFill/>
          <a:ln>
            <a:noFill/>
          </a:ln>
        </p:spPr>
        <p:txBody>
          <a:bodyPr anchorCtr="0" anchor="ctr" bIns="45700" lIns="91425" spcFirstLastPara="1" rIns="91425" wrap="square" tIns="45700">
            <a:noAutofit/>
          </a:bodyPr>
          <a:lstStyle/>
          <a:p>
            <a:pPr indent="0" lvl="0" marL="0" marR="0" rtl="0" algn="l">
              <a:lnSpc>
                <a:spcPct val="163636"/>
              </a:lnSpc>
              <a:spcBef>
                <a:spcPts val="0"/>
              </a:spcBef>
              <a:spcAft>
                <a:spcPts val="0"/>
              </a:spcAft>
              <a:buClr>
                <a:schemeClr val="dk1"/>
              </a:buClr>
              <a:buSzPts val="1100"/>
              <a:buFont typeface="Calibri"/>
              <a:buNone/>
            </a:pPr>
            <a:r>
              <a:t/>
            </a:r>
            <a:endParaRPr i="0" sz="1100" u="none" cap="none" strike="noStrike">
              <a:solidFill>
                <a:schemeClr val="dk1"/>
              </a:solidFill>
            </a:endParaRPr>
          </a:p>
          <a:p>
            <a:pPr indent="0" lvl="0" marL="0" marR="0" rtl="0" algn="l">
              <a:lnSpc>
                <a:spcPct val="163636"/>
              </a:lnSpc>
              <a:spcBef>
                <a:spcPts val="0"/>
              </a:spcBef>
              <a:spcAft>
                <a:spcPts val="0"/>
              </a:spcAft>
              <a:buClr>
                <a:srgbClr val="00A896"/>
              </a:buClr>
              <a:buSzPts val="1100"/>
              <a:buFont typeface="Consolas"/>
              <a:buNone/>
            </a:pPr>
            <a:r>
              <a:rPr i="0" lang="en-GB" sz="1100" u="none" cap="none" strike="noStrike">
                <a:solidFill>
                  <a:srgbClr val="00A896"/>
                </a:solidFill>
              </a:rPr>
              <a:t>-- Internally executes:</a:t>
            </a:r>
            <a:endParaRPr i="0" sz="1100" u="none" cap="none" strike="noStrike">
              <a:solidFill>
                <a:schemeClr val="dk1"/>
              </a:solidFill>
            </a:endParaRPr>
          </a:p>
          <a:p>
            <a:pPr indent="0" lvl="0" marL="0" marR="0" rtl="0" algn="l">
              <a:lnSpc>
                <a:spcPct val="163636"/>
              </a:lnSpc>
              <a:spcBef>
                <a:spcPts val="0"/>
              </a:spcBef>
              <a:spcAft>
                <a:spcPts val="0"/>
              </a:spcAft>
              <a:buClr>
                <a:srgbClr val="FFFFFF"/>
              </a:buClr>
              <a:buSzPts val="1100"/>
              <a:buFont typeface="Consolas"/>
              <a:buNone/>
            </a:pPr>
            <a:r>
              <a:rPr i="0" lang="en-GB" sz="1100" u="none" cap="none" strike="noStrike">
                <a:solidFill>
                  <a:srgbClr val="FFFFFF"/>
                </a:solidFill>
              </a:rPr>
              <a:t>1. Check sender balance &gt;= amount</a:t>
            </a:r>
            <a:endParaRPr i="0" sz="1100" u="none" cap="none" strike="noStrike">
              <a:solidFill>
                <a:schemeClr val="dk1"/>
              </a:solidFill>
            </a:endParaRPr>
          </a:p>
          <a:p>
            <a:pPr indent="0" lvl="0" marL="0" marR="0" rtl="0" algn="l">
              <a:lnSpc>
                <a:spcPct val="163636"/>
              </a:lnSpc>
              <a:spcBef>
                <a:spcPts val="0"/>
              </a:spcBef>
              <a:spcAft>
                <a:spcPts val="0"/>
              </a:spcAft>
              <a:buClr>
                <a:srgbClr val="FFFFFF"/>
              </a:buClr>
              <a:buSzPts val="1100"/>
              <a:buFont typeface="Consolas"/>
              <a:buNone/>
            </a:pPr>
            <a:r>
              <a:rPr i="0" lang="en-GB" sz="1100" u="none" cap="none" strike="noStrike">
                <a:solidFill>
                  <a:srgbClr val="FFFFFF"/>
                </a:solidFill>
              </a:rPr>
              <a:t>2. UPDATE sender: balance = balance - amount</a:t>
            </a:r>
            <a:endParaRPr i="0" sz="1100" u="none" cap="none" strike="noStrike">
              <a:solidFill>
                <a:schemeClr val="dk1"/>
              </a:solidFill>
            </a:endParaRPr>
          </a:p>
          <a:p>
            <a:pPr indent="0" lvl="0" marL="0" marR="0" rtl="0" algn="l">
              <a:lnSpc>
                <a:spcPct val="163636"/>
              </a:lnSpc>
              <a:spcBef>
                <a:spcPts val="0"/>
              </a:spcBef>
              <a:spcAft>
                <a:spcPts val="0"/>
              </a:spcAft>
              <a:buClr>
                <a:srgbClr val="FFFFFF"/>
              </a:buClr>
              <a:buSzPts val="1100"/>
              <a:buFont typeface="Consolas"/>
              <a:buNone/>
            </a:pPr>
            <a:r>
              <a:rPr i="0" lang="en-GB" sz="1100" u="none" cap="none" strike="noStrike">
                <a:solidFill>
                  <a:srgbClr val="FFFFFF"/>
                </a:solidFill>
              </a:rPr>
              <a:t>3. UPDATE receiver: balance = balance + amount</a:t>
            </a:r>
            <a:endParaRPr i="0" sz="1100" u="none" cap="none" strike="noStrike">
              <a:solidFill>
                <a:schemeClr val="dk1"/>
              </a:solidFill>
            </a:endParaRPr>
          </a:p>
          <a:p>
            <a:pPr indent="0" lvl="0" marL="0" marR="0" rtl="0" algn="l">
              <a:lnSpc>
                <a:spcPct val="163636"/>
              </a:lnSpc>
              <a:spcBef>
                <a:spcPts val="0"/>
              </a:spcBef>
              <a:spcAft>
                <a:spcPts val="0"/>
              </a:spcAft>
              <a:buClr>
                <a:srgbClr val="FFFFFF"/>
              </a:buClr>
              <a:buSzPts val="1100"/>
              <a:buFont typeface="Consolas"/>
              <a:buNone/>
            </a:pPr>
            <a:r>
              <a:rPr i="0" lang="en-GB" sz="1100" u="none" cap="none" strike="noStrike">
                <a:solidFill>
                  <a:srgbClr val="FFFFFF"/>
                </a:solidFill>
              </a:rPr>
              <a:t>4. INSERT debit transaction for sender</a:t>
            </a:r>
            <a:endParaRPr i="0" sz="1100" u="none" cap="none" strike="noStrike">
              <a:solidFill>
                <a:schemeClr val="dk1"/>
              </a:solidFill>
            </a:endParaRPr>
          </a:p>
          <a:p>
            <a:pPr indent="0" lvl="0" marL="0" marR="0" rtl="0" algn="l">
              <a:lnSpc>
                <a:spcPct val="163636"/>
              </a:lnSpc>
              <a:spcBef>
                <a:spcPts val="0"/>
              </a:spcBef>
              <a:spcAft>
                <a:spcPts val="0"/>
              </a:spcAft>
              <a:buClr>
                <a:srgbClr val="FFFFFF"/>
              </a:buClr>
              <a:buSzPts val="1100"/>
              <a:buFont typeface="Consolas"/>
              <a:buNone/>
            </a:pPr>
            <a:r>
              <a:rPr i="0" lang="en-GB" sz="1100" u="none" cap="none" strike="noStrike">
                <a:solidFill>
                  <a:srgbClr val="FFFFFF"/>
                </a:solidFill>
              </a:rPr>
              <a:t>5. INSERT credit transaction for receiver</a:t>
            </a:r>
            <a:endParaRPr i="0" sz="1100" u="none" cap="none" strike="noStrike">
              <a:solidFill>
                <a:schemeClr val="dk1"/>
              </a:solidFill>
            </a:endParaRPr>
          </a:p>
        </p:txBody>
      </p:sp>
      <p:sp>
        <p:nvSpPr>
          <p:cNvPr id="451" name="Google Shape;451;p28"/>
          <p:cNvSpPr/>
          <p:nvPr/>
        </p:nvSpPr>
        <p:spPr>
          <a:xfrm>
            <a:off x="457200" y="3566160"/>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600"/>
              <a:buFont typeface="Calibri"/>
              <a:buNone/>
            </a:pPr>
            <a:r>
              <a:rPr b="1" i="0" lang="en-GB" sz="1600" u="none" cap="none" strike="noStrike">
                <a:solidFill>
                  <a:srgbClr val="02C39A"/>
                </a:solidFill>
                <a:latin typeface="Calibri"/>
                <a:ea typeface="Calibri"/>
                <a:cs typeface="Calibri"/>
                <a:sym typeface="Calibri"/>
              </a:rPr>
              <a:t>Why It Matters:</a:t>
            </a:r>
            <a:endParaRPr b="0" i="0" sz="1600" u="none" cap="none" strike="noStrike">
              <a:solidFill>
                <a:srgbClr val="02C39A"/>
              </a:solidFill>
              <a:latin typeface="Calibri"/>
              <a:ea typeface="Calibri"/>
              <a:cs typeface="Calibri"/>
              <a:sym typeface="Calibri"/>
            </a:endParaRPr>
          </a:p>
        </p:txBody>
      </p:sp>
      <p:sp>
        <p:nvSpPr>
          <p:cNvPr id="452" name="Google Shape;452;p28"/>
          <p:cNvSpPr/>
          <p:nvPr/>
        </p:nvSpPr>
        <p:spPr>
          <a:xfrm>
            <a:off x="457200" y="3931920"/>
            <a:ext cx="82296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300"/>
              <a:buFont typeface="Calibri"/>
              <a:buNone/>
            </a:pPr>
            <a:r>
              <a:rPr b="1" i="0" lang="en-GB" sz="1400" u="none" cap="none" strike="noStrike">
                <a:solidFill>
                  <a:schemeClr val="lt1"/>
                </a:solidFill>
                <a:latin typeface="Calibri"/>
                <a:ea typeface="Calibri"/>
                <a:cs typeface="Calibri"/>
                <a:sym typeface="Calibri"/>
              </a:rPr>
              <a:t>Stored procedure ensures atomicity. If balance is insufficient, the entire operation fails. No partial states.</a:t>
            </a:r>
            <a:endParaRPr b="1" i="0" sz="1400" u="none" cap="none" strike="noStrike">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9"/>
          <p:cNvSpPr/>
          <p:nvPr/>
        </p:nvSpPr>
        <p:spPr>
          <a:xfrm>
            <a:off x="457200" y="180000"/>
            <a:ext cx="8229600" cy="64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2100" u="none" cap="none" strike="noStrike">
                <a:solidFill>
                  <a:srgbClr val="02C39A"/>
                </a:solidFill>
                <a:latin typeface="Arial Black"/>
                <a:ea typeface="Arial Black"/>
                <a:cs typeface="Arial Black"/>
                <a:sym typeface="Arial Black"/>
              </a:rPr>
              <a:t>Step 1 &amp; 2: Create Database + Tables — Users &amp; Wallets</a:t>
            </a:r>
            <a:endParaRPr/>
          </a:p>
        </p:txBody>
      </p:sp>
      <p:sp>
        <p:nvSpPr>
          <p:cNvPr id="458" name="Google Shape;458;p29"/>
          <p:cNvSpPr/>
          <p:nvPr/>
        </p:nvSpPr>
        <p:spPr>
          <a:xfrm>
            <a:off x="457200" y="1088725"/>
            <a:ext cx="4114800" cy="28611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29"/>
          <p:cNvSpPr/>
          <p:nvPr/>
        </p:nvSpPr>
        <p:spPr>
          <a:xfrm>
            <a:off x="571950" y="1198953"/>
            <a:ext cx="8000100" cy="28071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CREATE DATABASE PayLoopDB2;</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USE PayLoopDB2;</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02C39A"/>
                </a:solidFill>
              </a:rPr>
              <a:t> </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CREATE TABLE Users (</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    user_id   INT           PRIMARY KEY IDENTITY(1,1),</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    full_name VARCHAR(100)  NOT NULL,</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    email     VARCHAR(150)  NOT NULL UNIQUE,</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    phone     VARCHAR(20)   NOT NULL UNIQUE,</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    password  VARCHAR(255)  NOT NULL,</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    status    VARCHAR(20)   DEFAULT 'active'</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02C39A"/>
                </a:solidFill>
              </a:rPr>
              <a:t> </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CREATE TABLE Wallets (</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    wallet_id INT            PRIMARY KEY IDENTITY(1,1),</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    user_id   INT            NOT NULL UNIQUE,</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    balance   DECIMAL(10,2)  DEFAULT 0.00,</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    FOREIGN KEY (user_id) REFERENCES Users(user_id)</a:t>
            </a:r>
            <a:endParaRPr b="1"/>
          </a:p>
          <a:p>
            <a:pPr indent="0" lvl="0" marL="0" marR="0" rtl="0" algn="l">
              <a:lnSpc>
                <a:spcPct val="115000"/>
              </a:lnSpc>
              <a:spcBef>
                <a:spcPts val="0"/>
              </a:spcBef>
              <a:spcAft>
                <a:spcPts val="0"/>
              </a:spcAft>
              <a:buClr>
                <a:srgbClr val="000000"/>
              </a:buClr>
              <a:buSzPts val="770"/>
              <a:buFont typeface="Arial"/>
              <a:buNone/>
            </a:pPr>
            <a:r>
              <a:rPr b="1" i="0" lang="en-GB" sz="770" u="none" cap="none" strike="noStrike">
                <a:solidFill>
                  <a:srgbClr val="FFFFFF"/>
                </a:solidFill>
              </a:rPr>
              <a:t>);</a:t>
            </a:r>
            <a:endParaRPr b="1"/>
          </a:p>
        </p:txBody>
      </p:sp>
      <p:sp>
        <p:nvSpPr>
          <p:cNvPr id="460" name="Google Shape;460;p29"/>
          <p:cNvSpPr/>
          <p:nvPr/>
        </p:nvSpPr>
        <p:spPr>
          <a:xfrm>
            <a:off x="5682050" y="1558950"/>
            <a:ext cx="2091300" cy="24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2C39A"/>
                </a:solidFill>
                <a:latin typeface="Calibri"/>
                <a:ea typeface="Calibri"/>
                <a:cs typeface="Calibri"/>
                <a:sym typeface="Calibri"/>
              </a:rPr>
              <a:t>Key SQL Server syntax:</a:t>
            </a:r>
            <a:endParaRPr/>
          </a:p>
        </p:txBody>
      </p:sp>
      <p:sp>
        <p:nvSpPr>
          <p:cNvPr id="461" name="Google Shape;461;p29"/>
          <p:cNvSpPr/>
          <p:nvPr/>
        </p:nvSpPr>
        <p:spPr>
          <a:xfrm>
            <a:off x="5286650" y="1798950"/>
            <a:ext cx="2882100" cy="772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1150"/>
              <a:buFont typeface="Arial"/>
              <a:buNone/>
            </a:pPr>
            <a:r>
              <a:rPr b="0" i="0" lang="en-GB" sz="950" u="none" cap="none" strike="noStrike">
                <a:solidFill>
                  <a:srgbClr val="CADCFC"/>
                </a:solidFill>
                <a:latin typeface="Calibri"/>
                <a:ea typeface="Calibri"/>
                <a:cs typeface="Calibri"/>
                <a:sym typeface="Calibri"/>
              </a:rPr>
              <a:t>IDENTITY(1,1) = auto-increment. </a:t>
            </a:r>
            <a:r>
              <a:rPr lang="en-GB" sz="950">
                <a:solidFill>
                  <a:srgbClr val="CADCFC"/>
                </a:solidFill>
                <a:latin typeface="Calibri"/>
                <a:ea typeface="Calibri"/>
                <a:cs typeface="Calibri"/>
                <a:sym typeface="Calibri"/>
              </a:rPr>
              <a:t> Starting value 1 and increment by 1.</a:t>
            </a:r>
            <a:endParaRPr sz="950">
              <a:solidFill>
                <a:srgbClr val="CADCFC"/>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0"/>
          <p:cNvSpPr/>
          <p:nvPr/>
        </p:nvSpPr>
        <p:spPr>
          <a:xfrm>
            <a:off x="372900" y="170750"/>
            <a:ext cx="8771100" cy="6399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1700" u="none" cap="none" strike="noStrike">
                <a:solidFill>
                  <a:srgbClr val="02C39A"/>
                </a:solidFill>
                <a:latin typeface="Arial Black"/>
                <a:ea typeface="Arial Black"/>
                <a:cs typeface="Arial Black"/>
                <a:sym typeface="Arial Black"/>
              </a:rPr>
              <a:t>Step 2: Create Tables — Transactions, Merchants, Payments, AuditLog</a:t>
            </a:r>
            <a:endParaRPr sz="1000"/>
          </a:p>
        </p:txBody>
      </p:sp>
      <p:sp>
        <p:nvSpPr>
          <p:cNvPr id="467" name="Google Shape;467;p30"/>
          <p:cNvSpPr/>
          <p:nvPr/>
        </p:nvSpPr>
        <p:spPr>
          <a:xfrm>
            <a:off x="457200" y="617825"/>
            <a:ext cx="8229600" cy="45258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30"/>
          <p:cNvSpPr/>
          <p:nvPr/>
        </p:nvSpPr>
        <p:spPr>
          <a:xfrm>
            <a:off x="547750" y="617825"/>
            <a:ext cx="4483800" cy="40095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CREATE TABLE Transactions (</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txn_id    INT            PRIMARY KEY IDENTITY(1,1),</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wallet_id INT            NOT NULL,</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txn_type  VARCHAR(20)    NOT NULL,</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amount    DECIMAL(10,2)  NOT NULL,</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note      VARCHAR(255),</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txn_date  DATETIME       DEFAULT GETDATE(),</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FOREIGN KEY (wallet_id) REFERENCES Wallets(wallet_id)</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02C39A"/>
                </a:solidFill>
              </a:rPr>
              <a:t> </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02C39A"/>
                </a:solidFill>
              </a:rPr>
              <a:t>-- txn_type:  'credit'  'debit'  'transfer_in'  'transfer_out'</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02C39A"/>
                </a:solidFill>
              </a:rPr>
              <a:t> </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CREATE TABLE Merchants (</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merchant_id   INT           PRIMARY KEY IDENTITY(1,1),</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merchant_name VARCHAR(150)  NOT NULL,</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category      VARCHAR(100),</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email         VARCHAR(150)  NOT NULL UNIQUE</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02C39A"/>
                </a:solidFill>
              </a:rPr>
              <a:t> </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CREATE TABLE Payments (</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payment_id  INT            PRIMARY KEY IDENTITY(1,1),</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wallet_id   INT            NOT NULL,</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merchant_id INT            NOT NULL,</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amount      DECIMAL(10,2)  NOT NULL,</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pay_date    DATETIME       DEFAULT GETDATE(),</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FOREIGN KEY (wallet_id)   REFERENCES Wallets(wallet_id),</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    FOREIGN KEY (merchant_id) REFERENCES Merchants(merchant_id)</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FFFFFF"/>
                </a:solidFill>
              </a:rPr>
              <a:t>);</a:t>
            </a:r>
            <a:endParaRPr b="1" sz="1500"/>
          </a:p>
          <a:p>
            <a:pPr indent="0" lvl="0" marL="0" marR="0" rtl="0" algn="l">
              <a:lnSpc>
                <a:spcPct val="115000"/>
              </a:lnSpc>
              <a:spcBef>
                <a:spcPts val="0"/>
              </a:spcBef>
              <a:spcAft>
                <a:spcPts val="0"/>
              </a:spcAft>
              <a:buClr>
                <a:srgbClr val="000000"/>
              </a:buClr>
              <a:buSzPts val="780"/>
              <a:buFont typeface="Arial"/>
              <a:buNone/>
            </a:pPr>
            <a:r>
              <a:rPr b="1" i="0" lang="en-GB" sz="880" u="none" cap="none" strike="noStrike">
                <a:solidFill>
                  <a:srgbClr val="02C39A"/>
                </a:solidFill>
              </a:rPr>
              <a:t> </a:t>
            </a:r>
            <a:endParaRPr b="1" sz="1500"/>
          </a:p>
          <a:p>
            <a:pPr indent="0" lvl="0" marL="0" marR="0" rtl="0" algn="l">
              <a:lnSpc>
                <a:spcPct val="115000"/>
              </a:lnSpc>
              <a:spcBef>
                <a:spcPts val="0"/>
              </a:spcBef>
              <a:spcAft>
                <a:spcPts val="0"/>
              </a:spcAft>
              <a:buClr>
                <a:srgbClr val="000000"/>
              </a:buClr>
              <a:buSzPts val="780"/>
              <a:buFont typeface="Arial"/>
              <a:buNone/>
            </a:pPr>
            <a:r>
              <a:t/>
            </a:r>
            <a:endParaRPr b="1" sz="880">
              <a:solidFill>
                <a:srgbClr val="FFFFFF"/>
              </a:solidFill>
            </a:endParaRPr>
          </a:p>
          <a:p>
            <a:pPr indent="0" lvl="0" marL="0" marR="0" rtl="0" algn="l">
              <a:lnSpc>
                <a:spcPct val="115000"/>
              </a:lnSpc>
              <a:spcBef>
                <a:spcPts val="0"/>
              </a:spcBef>
              <a:spcAft>
                <a:spcPts val="0"/>
              </a:spcAft>
              <a:buClr>
                <a:srgbClr val="000000"/>
              </a:buClr>
              <a:buSzPts val="780"/>
              <a:buFont typeface="Arial"/>
              <a:buNone/>
            </a:pPr>
            <a:r>
              <a:t/>
            </a:r>
            <a:endParaRPr b="1" sz="1500"/>
          </a:p>
        </p:txBody>
      </p:sp>
      <p:sp>
        <p:nvSpPr>
          <p:cNvPr id="469" name="Google Shape;469;p30"/>
          <p:cNvSpPr txBox="1"/>
          <p:nvPr/>
        </p:nvSpPr>
        <p:spPr>
          <a:xfrm>
            <a:off x="4761675" y="810650"/>
            <a:ext cx="3643500" cy="124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780"/>
              <a:buFont typeface="Arial"/>
              <a:buNone/>
            </a:pPr>
            <a:r>
              <a:rPr b="1" lang="en-GB" sz="880">
                <a:solidFill>
                  <a:schemeClr val="lt1"/>
                </a:solidFill>
              </a:rPr>
              <a:t>CREATE TABLE AuditLog (</a:t>
            </a:r>
            <a:endParaRPr b="1" sz="1500"/>
          </a:p>
          <a:p>
            <a:pPr indent="0" lvl="0" marL="0" rtl="0" algn="l">
              <a:lnSpc>
                <a:spcPct val="115000"/>
              </a:lnSpc>
              <a:spcBef>
                <a:spcPts val="0"/>
              </a:spcBef>
              <a:spcAft>
                <a:spcPts val="0"/>
              </a:spcAft>
              <a:buClr>
                <a:srgbClr val="000000"/>
              </a:buClr>
              <a:buSzPts val="780"/>
              <a:buFont typeface="Arial"/>
              <a:buNone/>
            </a:pPr>
            <a:r>
              <a:rPr b="1" lang="en-GB" sz="880">
                <a:solidFill>
                  <a:schemeClr val="lt1"/>
                </a:solidFill>
              </a:rPr>
              <a:t>    log_id   INT  PRIMARY KEY IDENTITY(1,1),</a:t>
            </a:r>
            <a:endParaRPr b="1" sz="1500"/>
          </a:p>
          <a:p>
            <a:pPr indent="0" lvl="0" marL="0" rtl="0" algn="l">
              <a:lnSpc>
                <a:spcPct val="115000"/>
              </a:lnSpc>
              <a:spcBef>
                <a:spcPts val="0"/>
              </a:spcBef>
              <a:spcAft>
                <a:spcPts val="0"/>
              </a:spcAft>
              <a:buClr>
                <a:srgbClr val="000000"/>
              </a:buClr>
              <a:buSzPts val="780"/>
              <a:buFont typeface="Arial"/>
              <a:buNone/>
            </a:pPr>
            <a:r>
              <a:rPr b="1" lang="en-GB" sz="880">
                <a:solidFill>
                  <a:schemeClr val="lt1"/>
                </a:solidFill>
              </a:rPr>
              <a:t>    event    VARCHAR(100),</a:t>
            </a:r>
            <a:endParaRPr b="1" sz="1500"/>
          </a:p>
          <a:p>
            <a:pPr indent="0" lvl="0" marL="0" rtl="0" algn="l">
              <a:lnSpc>
                <a:spcPct val="115000"/>
              </a:lnSpc>
              <a:spcBef>
                <a:spcPts val="0"/>
              </a:spcBef>
              <a:spcAft>
                <a:spcPts val="0"/>
              </a:spcAft>
              <a:buClr>
                <a:srgbClr val="000000"/>
              </a:buClr>
              <a:buSzPts val="780"/>
              <a:buFont typeface="Arial"/>
              <a:buNone/>
            </a:pPr>
            <a:r>
              <a:rPr b="1" lang="en-GB" sz="880">
                <a:solidFill>
                  <a:schemeClr val="lt1"/>
                </a:solidFill>
              </a:rPr>
              <a:t>    details  VARCHAR(255),</a:t>
            </a:r>
            <a:endParaRPr b="1" sz="1500"/>
          </a:p>
          <a:p>
            <a:pPr indent="0" lvl="0" marL="0" rtl="0" algn="l">
              <a:lnSpc>
                <a:spcPct val="115000"/>
              </a:lnSpc>
              <a:spcBef>
                <a:spcPts val="0"/>
              </a:spcBef>
              <a:spcAft>
                <a:spcPts val="0"/>
              </a:spcAft>
              <a:buClr>
                <a:srgbClr val="000000"/>
              </a:buClr>
              <a:buSzPts val="780"/>
              <a:buFont typeface="Arial"/>
              <a:buNone/>
            </a:pPr>
            <a:r>
              <a:rPr b="1" lang="en-GB" sz="880">
                <a:solidFill>
                  <a:schemeClr val="lt1"/>
                </a:solidFill>
              </a:rPr>
              <a:t>    log_date DATETIME DEFAULT GETDATE()</a:t>
            </a:r>
            <a:endParaRPr b="1" sz="1500"/>
          </a:p>
          <a:p>
            <a:pPr indent="0" lvl="0" marL="0" rtl="0" algn="l">
              <a:lnSpc>
                <a:spcPct val="115000"/>
              </a:lnSpc>
              <a:spcBef>
                <a:spcPts val="0"/>
              </a:spcBef>
              <a:spcAft>
                <a:spcPts val="0"/>
              </a:spcAft>
              <a:buClr>
                <a:srgbClr val="000000"/>
              </a:buClr>
              <a:buSzPts val="780"/>
              <a:buFont typeface="Arial"/>
              <a:buNone/>
            </a:pPr>
            <a:r>
              <a:rPr b="1" lang="en-GB" sz="880">
                <a:solidFill>
                  <a:schemeClr val="lt1"/>
                </a:solidFill>
              </a:rPr>
              <a:t>);</a:t>
            </a:r>
            <a:endParaRPr b="1">
              <a:solidFill>
                <a:schemeClr val="lt1"/>
              </a:solidFill>
            </a:endParaRPr>
          </a:p>
        </p:txBody>
      </p:sp>
      <p:cxnSp>
        <p:nvCxnSpPr>
          <p:cNvPr id="470" name="Google Shape;470;p30"/>
          <p:cNvCxnSpPr>
            <a:stCxn id="467" idx="0"/>
          </p:cNvCxnSpPr>
          <p:nvPr/>
        </p:nvCxnSpPr>
        <p:spPr>
          <a:xfrm>
            <a:off x="4572000" y="617825"/>
            <a:ext cx="0" cy="4377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1"/>
          <p:cNvSpPr/>
          <p:nvPr/>
        </p:nvSpPr>
        <p:spPr>
          <a:xfrm>
            <a:off x="457200" y="180000"/>
            <a:ext cx="8229600" cy="64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2100" u="none" cap="none" strike="noStrike">
                <a:solidFill>
                  <a:srgbClr val="02C39A"/>
                </a:solidFill>
                <a:latin typeface="Arial Black"/>
                <a:ea typeface="Arial Black"/>
                <a:cs typeface="Arial Black"/>
                <a:sym typeface="Arial Black"/>
              </a:rPr>
              <a:t>Step 3: INSERT Sample Data</a:t>
            </a:r>
            <a:endParaRPr/>
          </a:p>
        </p:txBody>
      </p:sp>
      <p:sp>
        <p:nvSpPr>
          <p:cNvPr id="476" name="Google Shape;476;p31"/>
          <p:cNvSpPr/>
          <p:nvPr/>
        </p:nvSpPr>
        <p:spPr>
          <a:xfrm>
            <a:off x="457200" y="741725"/>
            <a:ext cx="8229600" cy="42078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31"/>
          <p:cNvSpPr/>
          <p:nvPr/>
        </p:nvSpPr>
        <p:spPr>
          <a:xfrm>
            <a:off x="594000" y="782791"/>
            <a:ext cx="8432400" cy="38799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INSERT INTO Users (full_name, email, phone, password) VALUES</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('Muhammad Musa',    'musa@payloop.pk',    '03001234501', 'password1'),</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('Muhammad Ahmed',   'ahmed@payloop.pk',   '03001234502', 'password2'),</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('Ibrahim Haider',   'ibrahim@payloop.pk', '03001234503', 'password3'),</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('Zakaullah Khan',   'zaka@payloop.pk',    '03001234504', 'password4'),</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('Muhammad Ismaeel', 'ismaeel@payloop.pk', '03001234505', 'password5');</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02C39A"/>
                </a:solidFill>
              </a:rPr>
              <a:t> </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INSERT INTO Wallets (user_id, balance) VALUES</a:t>
            </a:r>
            <a:endParaRPr b="1" sz="99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(1,85000.00),(2,42500.00),(3,120000.00),(4,15000.00),(5,67000.00);</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02C39A"/>
                </a:solidFill>
              </a:rPr>
              <a:t> </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INSERT INTO Merchants (merchant_name, category, email) VALUES</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('Daily Deli',       'Food &amp; Dining', 'dailydeli@biz.pk'),</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('Daraz Online',     'E-Commerce',    'daraz@biz.pk'),</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('Lesco',            'Utilities',     'lesco@biz.pk'),</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('Netflix Pakistan', 'Entertainment', 'netflix@biz.pk'),</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('Careem Rides',     'Transport',     'careem@biz.pk');</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02C39A"/>
                </a:solidFill>
              </a:rPr>
              <a:t> </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INSERT INTO Transactions (wallet_id, txn_type, amount, note) VALUES</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(1,'credit',50000.00,'Bank deposit'),</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(2,'credit',20000.00,'Salary received'),</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(1,'debit', 1200.00,'Paid Daily Deli'),</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(1,'transfer_out',5000.00,'Sent to Ahmed'),</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(2,'transfer_in', 5000.00,'Received from Musa');</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02C39A"/>
                </a:solidFill>
              </a:rPr>
              <a:t> </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INSERT INTO Payments (wallet_id, merchant_id, amount) VALUES</a:t>
            </a:r>
            <a:endParaRPr b="1" sz="1500"/>
          </a:p>
          <a:p>
            <a:pPr indent="0" lvl="0" marL="0" marR="0" rtl="0" algn="l">
              <a:lnSpc>
                <a:spcPct val="115000"/>
              </a:lnSpc>
              <a:spcBef>
                <a:spcPts val="0"/>
              </a:spcBef>
              <a:spcAft>
                <a:spcPts val="0"/>
              </a:spcAft>
              <a:buClr>
                <a:srgbClr val="000000"/>
              </a:buClr>
              <a:buSzPts val="790"/>
              <a:buFont typeface="Arial"/>
              <a:buNone/>
            </a:pPr>
            <a:r>
              <a:rPr b="1" i="0" lang="en-GB" sz="890" u="none" cap="none" strike="noStrike">
                <a:solidFill>
                  <a:srgbClr val="FFFFFF"/>
                </a:solidFill>
              </a:rPr>
              <a:t>(1,1,1200.00),(2,5,500.00),(3,3,8000.00);</a:t>
            </a:r>
            <a:endParaRPr b="1" sz="1500"/>
          </a:p>
        </p:txBody>
      </p:sp>
      <p:sp>
        <p:nvSpPr>
          <p:cNvPr id="478" name="Google Shape;478;p31"/>
          <p:cNvSpPr/>
          <p:nvPr/>
        </p:nvSpPr>
        <p:spPr>
          <a:xfrm>
            <a:off x="5589600" y="1094425"/>
            <a:ext cx="2974500" cy="24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GB" sz="1100" u="none" cap="none" strike="noStrike">
                <a:solidFill>
                  <a:srgbClr val="02C39A"/>
                </a:solidFill>
                <a:latin typeface="Calibri"/>
                <a:ea typeface="Calibri"/>
                <a:cs typeface="Calibri"/>
                <a:sym typeface="Calibri"/>
              </a:rPr>
              <a:t>10 users, 5 merchants, 12 transactions seeded.</a:t>
            </a:r>
            <a:endParaRPr sz="1100"/>
          </a:p>
        </p:txBody>
      </p:sp>
      <p:sp>
        <p:nvSpPr>
          <p:cNvPr id="479" name="Google Shape;479;p31"/>
          <p:cNvSpPr/>
          <p:nvPr/>
        </p:nvSpPr>
        <p:spPr>
          <a:xfrm>
            <a:off x="5663575" y="1415225"/>
            <a:ext cx="2930400" cy="2601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1150"/>
              <a:buFont typeface="Arial"/>
              <a:buNone/>
            </a:pPr>
            <a:r>
              <a:rPr b="0" i="0" lang="en-GB" sz="1050" u="none" cap="none" strike="noStrike">
                <a:solidFill>
                  <a:srgbClr val="CADCFC"/>
                </a:solidFill>
                <a:latin typeface="Calibri"/>
                <a:ea typeface="Calibri"/>
                <a:cs typeface="Calibri"/>
                <a:sym typeface="Calibri"/>
              </a:rPr>
              <a:t>This seed data mirrors real JazzCash/EasyPaisa transaction types. Every row is consistent — wallet_id 1 in Transactions matches wallet_id 1 in Wallets, which belongs to user_id 1 (Musa).</a:t>
            </a:r>
            <a:endParaRPr sz="1300"/>
          </a:p>
        </p:txBody>
      </p:sp>
      <p:cxnSp>
        <p:nvCxnSpPr>
          <p:cNvPr id="480" name="Google Shape;480;p31"/>
          <p:cNvCxnSpPr/>
          <p:nvPr/>
        </p:nvCxnSpPr>
        <p:spPr>
          <a:xfrm>
            <a:off x="5586375" y="926675"/>
            <a:ext cx="9300" cy="1516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32"/>
          <p:cNvSpPr/>
          <p:nvPr/>
        </p:nvSpPr>
        <p:spPr>
          <a:xfrm>
            <a:off x="457200" y="180000"/>
            <a:ext cx="8229600" cy="64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2100" u="none" cap="none" strike="noStrike">
                <a:solidFill>
                  <a:srgbClr val="02C39A"/>
                </a:solidFill>
                <a:latin typeface="Arial Black"/>
                <a:ea typeface="Arial Black"/>
                <a:cs typeface="Arial Black"/>
                <a:sym typeface="Arial Black"/>
              </a:rPr>
              <a:t>Step 4: DML — INSERT, UPDATE, DELETE</a:t>
            </a:r>
            <a:endParaRPr/>
          </a:p>
        </p:txBody>
      </p:sp>
      <p:sp>
        <p:nvSpPr>
          <p:cNvPr id="486" name="Google Shape;486;p32"/>
          <p:cNvSpPr/>
          <p:nvPr/>
        </p:nvSpPr>
        <p:spPr>
          <a:xfrm>
            <a:off x="457200" y="713975"/>
            <a:ext cx="8229600" cy="38259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32"/>
          <p:cNvSpPr/>
          <p:nvPr/>
        </p:nvSpPr>
        <p:spPr>
          <a:xfrm>
            <a:off x="457200" y="797925"/>
            <a:ext cx="4759200" cy="37320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02C39A"/>
                </a:solidFill>
              </a:rPr>
              <a:t>-- INSERT: add a new user</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FFFFFF"/>
                </a:solidFill>
              </a:rPr>
              <a:t>INSERT INTO Users (full_name, email, phone, password)</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FFFFFF"/>
                </a:solidFill>
              </a:rPr>
              <a:t>VALUES ('Hamza Tariq', 'hamza@payloop.pk', '03009999001', 'password11');</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02C39A"/>
                </a:solidFill>
              </a:rPr>
              <a:t> </a:t>
            </a:r>
            <a:endParaRPr b="1" sz="10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02C39A"/>
                </a:solidFill>
              </a:rPr>
              <a:t>-- Give Hamza a wallet (starts at zero)</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FFFFFF"/>
                </a:solidFill>
              </a:rPr>
              <a:t>INSERT INTO Wallets (user_id, balance) VALUES (11, 0.00);</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02C39A"/>
                </a:solidFill>
              </a:rPr>
              <a:t> </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02C39A"/>
                </a:solidFill>
              </a:rPr>
              <a:t>-- UPDATE: top up Ezaan's wallet (wallet 9, had only PKR 500)</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FFFFFF"/>
                </a:solidFill>
              </a:rPr>
              <a:t>UPDATE Wallets</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FFFFFF"/>
                </a:solidFill>
              </a:rPr>
              <a:t>SET    balance = balance + 5000.00</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FFFFFF"/>
                </a:solidFill>
              </a:rPr>
              <a:t>WHERE  wallet_id = 9;</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02C39A"/>
                </a:solidFill>
              </a:rPr>
              <a:t> </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02C39A"/>
                </a:solidFill>
              </a:rPr>
              <a:t>-- UPDATE: suspend Hamza's account</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FFFFFF"/>
                </a:solidFill>
              </a:rPr>
              <a:t>UPDATE Users</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FFFFFF"/>
                </a:solidFill>
              </a:rPr>
              <a:t>SET    status = 'suspended'</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FFFFFF"/>
                </a:solidFill>
              </a:rPr>
              <a:t>WHERE  user_id = 11;</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02C39A"/>
                </a:solidFill>
              </a:rPr>
              <a:t> </a:t>
            </a:r>
            <a:endParaRPr b="1" sz="10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02C39A"/>
                </a:solidFill>
              </a:rPr>
              <a:t>-- DELETE: wallet must be removed BEFORE the user</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02C39A"/>
                </a:solidFill>
              </a:rPr>
              <a:t>-- because Wallets has FOREIGN KEY (user_id) -&gt; Users</a:t>
            </a:r>
            <a:endParaRPr b="1" sz="1500"/>
          </a:p>
          <a:p>
            <a:pPr indent="0" lvl="0" marL="0" marR="0" rtl="0" algn="l">
              <a:lnSpc>
                <a:spcPct val="115000"/>
              </a:lnSpc>
              <a:spcBef>
                <a:spcPts val="0"/>
              </a:spcBef>
              <a:spcAft>
                <a:spcPts val="0"/>
              </a:spcAft>
              <a:buClr>
                <a:srgbClr val="000000"/>
              </a:buClr>
              <a:buSzPts val="800"/>
              <a:buFont typeface="Arial"/>
              <a:buNone/>
            </a:pPr>
            <a:r>
              <a:t/>
            </a:r>
            <a:endParaRPr b="1" sz="900">
              <a:solidFill>
                <a:srgbClr val="02C39A"/>
              </a:solidFill>
            </a:endParaRPr>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FFFFFF"/>
                </a:solidFill>
              </a:rPr>
              <a:t>DELETE FROM Wallets WHERE user_id = 11;</a:t>
            </a:r>
            <a:endParaRPr b="1" sz="1500"/>
          </a:p>
          <a:p>
            <a:pPr indent="0" lvl="0" marL="0" marR="0" rtl="0" algn="l">
              <a:lnSpc>
                <a:spcPct val="115000"/>
              </a:lnSpc>
              <a:spcBef>
                <a:spcPts val="0"/>
              </a:spcBef>
              <a:spcAft>
                <a:spcPts val="0"/>
              </a:spcAft>
              <a:buClr>
                <a:srgbClr val="000000"/>
              </a:buClr>
              <a:buSzPts val="800"/>
              <a:buFont typeface="Arial"/>
              <a:buNone/>
            </a:pPr>
            <a:r>
              <a:rPr b="1" i="0" lang="en-GB" sz="900" u="none" cap="none" strike="noStrike">
                <a:solidFill>
                  <a:srgbClr val="FFFFFF"/>
                </a:solidFill>
              </a:rPr>
              <a:t>DELETE FROM Users   WHERE user_id = 11;</a:t>
            </a:r>
            <a:endParaRPr b="1" sz="1500"/>
          </a:p>
        </p:txBody>
      </p:sp>
      <p:sp>
        <p:nvSpPr>
          <p:cNvPr id="488" name="Google Shape;488;p32"/>
          <p:cNvSpPr/>
          <p:nvPr/>
        </p:nvSpPr>
        <p:spPr>
          <a:xfrm>
            <a:off x="6347925" y="820000"/>
            <a:ext cx="1494900" cy="24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GB" sz="1100" u="none" cap="none" strike="noStrike">
                <a:solidFill>
                  <a:srgbClr val="02C39A"/>
                </a:solidFill>
                <a:latin typeface="Calibri"/>
                <a:ea typeface="Calibri"/>
                <a:cs typeface="Calibri"/>
                <a:sym typeface="Calibri"/>
              </a:rPr>
              <a:t>DELETE order matters:</a:t>
            </a:r>
            <a:endParaRPr sz="1100"/>
          </a:p>
        </p:txBody>
      </p:sp>
      <p:sp>
        <p:nvSpPr>
          <p:cNvPr id="489" name="Google Shape;489;p32"/>
          <p:cNvSpPr/>
          <p:nvPr/>
        </p:nvSpPr>
        <p:spPr>
          <a:xfrm>
            <a:off x="5612775" y="1118975"/>
            <a:ext cx="2965200" cy="2601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1150"/>
              <a:buFont typeface="Arial"/>
              <a:buNone/>
            </a:pPr>
            <a:r>
              <a:rPr b="0" i="0" lang="en-GB" sz="1150" u="none" cap="none" strike="noStrike">
                <a:solidFill>
                  <a:srgbClr val="CADCFC"/>
                </a:solidFill>
                <a:latin typeface="Calibri"/>
                <a:ea typeface="Calibri"/>
                <a:cs typeface="Calibri"/>
                <a:sym typeface="Calibri"/>
              </a:rPr>
              <a:t>Wallets references Users via FOREIGN KEY. If you delete the User first, SQL Server throws a constraint violation because the Wallet still points to a user that no longer exists. Always delete the child table row first.</a:t>
            </a:r>
            <a:endParaRPr/>
          </a:p>
        </p:txBody>
      </p:sp>
      <p:cxnSp>
        <p:nvCxnSpPr>
          <p:cNvPr id="490" name="Google Shape;490;p32"/>
          <p:cNvCxnSpPr/>
          <p:nvPr/>
        </p:nvCxnSpPr>
        <p:spPr>
          <a:xfrm>
            <a:off x="5595625" y="760225"/>
            <a:ext cx="9300" cy="1664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3"/>
          <p:cNvSpPr/>
          <p:nvPr/>
        </p:nvSpPr>
        <p:spPr>
          <a:xfrm>
            <a:off x="457200" y="180000"/>
            <a:ext cx="8229600" cy="64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2100" u="none" cap="none" strike="noStrike">
                <a:solidFill>
                  <a:srgbClr val="02C39A"/>
                </a:solidFill>
                <a:latin typeface="Arial Black"/>
                <a:ea typeface="Arial Black"/>
                <a:cs typeface="Arial Black"/>
                <a:sym typeface="Arial Black"/>
              </a:rPr>
              <a:t>Step 5: JOINS — All Five Types</a:t>
            </a:r>
            <a:endParaRPr/>
          </a:p>
        </p:txBody>
      </p:sp>
      <p:sp>
        <p:nvSpPr>
          <p:cNvPr id="496" name="Google Shape;496;p33"/>
          <p:cNvSpPr/>
          <p:nvPr/>
        </p:nvSpPr>
        <p:spPr>
          <a:xfrm>
            <a:off x="457200" y="654825"/>
            <a:ext cx="8229600" cy="42576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33"/>
          <p:cNvSpPr/>
          <p:nvPr/>
        </p:nvSpPr>
        <p:spPr>
          <a:xfrm>
            <a:off x="584750" y="709025"/>
            <a:ext cx="7341300" cy="35601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02C39A"/>
                </a:solidFill>
              </a:rPr>
              <a:t>-- INNER JOIN: only users who have a wallet</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SELECT u.full_name, u.email, w.balance</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FROM Users u</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INNER JOIN Wallets w ON u.user_id = w.user_id</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ORDER BY w.balance DESC;</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02C39A"/>
                </a:solidFill>
              </a:rPr>
              <a:t> </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02C39A"/>
                </a:solidFill>
              </a:rPr>
              <a:t>-- LEFT JOIN: ALL users even if they have no transactions</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SELECT u.full_name, COUNT(t.txn_id) AS number_of_transactions</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FROM Users u</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LEFT JOIN Wallets      w ON u.user_id   = w.user_id</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LEFT JOIN Transactions t ON w.wallet_id = t.wallet_id</a:t>
            </a:r>
            <a:endParaRPr b="1" sz="11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GROUP BY u.user_id, u.full_name</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ORDER BY number_of_transactions DESC;</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02C39A"/>
                </a:solidFill>
              </a:rPr>
              <a:t> </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02C39A"/>
                </a:solidFill>
              </a:rPr>
              <a:t>-- RIGHT JOIN: ALL merchants even if nobody paid them</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SELECT m.merchant_name, m.category, p.amount</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FROM Payments p</a:t>
            </a:r>
            <a:endParaRPr b="1" sz="11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RIGHT JOIN Merchants m ON p.merchant_id = m.merchant_id;</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02C39A"/>
                </a:solidFill>
              </a:rPr>
              <a:t> </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02C39A"/>
                </a:solidFill>
              </a:rPr>
              <a:t>-- FULL OUTER JOIN: all users and all wallets, NULLs where no match</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SELECT u.full_name, w.wallet_id, w.balance</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FROM Users u</a:t>
            </a:r>
            <a:endParaRPr b="1" sz="1600"/>
          </a:p>
          <a:p>
            <a:pPr indent="0" lvl="0" marL="0" marR="0" rtl="0" algn="l">
              <a:lnSpc>
                <a:spcPct val="115000"/>
              </a:lnSpc>
              <a:spcBef>
                <a:spcPts val="0"/>
              </a:spcBef>
              <a:spcAft>
                <a:spcPts val="0"/>
              </a:spcAft>
              <a:buClr>
                <a:srgbClr val="000000"/>
              </a:buClr>
              <a:buSzPts val="800"/>
              <a:buFont typeface="Arial"/>
              <a:buNone/>
            </a:pPr>
            <a:r>
              <a:rPr b="1" i="0" lang="en-GB" sz="1000" u="none" cap="none" strike="noStrike">
                <a:solidFill>
                  <a:srgbClr val="FFFFFF"/>
                </a:solidFill>
              </a:rPr>
              <a:t>FULL OUTER JOIN Wallets w ON u.user_id = w.user_id;</a:t>
            </a:r>
            <a:endParaRPr b="1"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4"/>
          <p:cNvSpPr/>
          <p:nvPr/>
        </p:nvSpPr>
        <p:spPr>
          <a:xfrm>
            <a:off x="457200" y="180000"/>
            <a:ext cx="8229600" cy="64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2100" u="none" cap="none" strike="noStrike">
                <a:solidFill>
                  <a:srgbClr val="02C39A"/>
                </a:solidFill>
                <a:latin typeface="Arial Black"/>
                <a:ea typeface="Arial Black"/>
                <a:cs typeface="Arial Black"/>
                <a:sym typeface="Arial Black"/>
              </a:rPr>
              <a:t>Step 6: Subqueries — IN and EXISTS</a:t>
            </a:r>
            <a:endParaRPr/>
          </a:p>
        </p:txBody>
      </p:sp>
      <p:sp>
        <p:nvSpPr>
          <p:cNvPr id="503" name="Google Shape;503;p34"/>
          <p:cNvSpPr/>
          <p:nvPr/>
        </p:nvSpPr>
        <p:spPr>
          <a:xfrm>
            <a:off x="65600" y="621525"/>
            <a:ext cx="8491800" cy="43095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34"/>
          <p:cNvSpPr/>
          <p:nvPr/>
        </p:nvSpPr>
        <p:spPr>
          <a:xfrm>
            <a:off x="189000" y="817950"/>
            <a:ext cx="4122600" cy="35076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UNCORRELATED subquery using WHERE &gt;</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Inner query runs ONCE and returns one number (the average) &amp; Outer query compares every user's balance to that number</a:t>
            </a:r>
            <a:endParaRPr b="1" i="0" sz="900" u="none" cap="none" strike="noStrike">
              <a:solidFill>
                <a:srgbClr val="02C39A"/>
              </a:solidFill>
            </a:endParaRPr>
          </a:p>
          <a:p>
            <a:pPr indent="0" lvl="0" marL="0" marR="0" rtl="0" algn="l">
              <a:lnSpc>
                <a:spcPct val="115000"/>
              </a:lnSpc>
              <a:spcBef>
                <a:spcPts val="0"/>
              </a:spcBef>
              <a:spcAft>
                <a:spcPts val="0"/>
              </a:spcAft>
              <a:buClr>
                <a:srgbClr val="000000"/>
              </a:buClr>
              <a:buSzPts val="780"/>
              <a:buFont typeface="Arial"/>
              <a:buNone/>
            </a:pPr>
            <a:r>
              <a:t/>
            </a:r>
            <a:endParaRPr b="1" sz="900">
              <a:solidFill>
                <a:srgbClr val="02C39A"/>
              </a:solidFill>
            </a:endParaRPr>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SELECT u.full_name, w.balance</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FROM Users u</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INNER JOIN Wallets w ON u.user_id = w.user_id</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WHERE w.balance &gt; (SELECT AVG(balance) FROM Wallets)</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ORDER BY w.balance DESC;</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80"/>
              <a:buFont typeface="Arial"/>
              <a:buNone/>
            </a:pPr>
            <a:r>
              <a:rPr b="1" i="0" lang="en-GB" sz="800" u="none" cap="none" strike="noStrike">
                <a:solidFill>
                  <a:srgbClr val="02C39A"/>
                </a:solidFill>
              </a:rPr>
              <a:t>-- SUBQUERY using IN</a:t>
            </a:r>
            <a:r>
              <a:rPr b="1" lang="en-GB" sz="800"/>
              <a:t> </a:t>
            </a:r>
            <a:r>
              <a:rPr b="1" lang="en-GB" sz="800">
                <a:solidFill>
                  <a:schemeClr val="lt1"/>
                </a:solidFill>
              </a:rPr>
              <a:t>-</a:t>
            </a:r>
            <a:r>
              <a:rPr b="1" i="0" lang="en-GB" sz="800" u="none" cap="none" strike="noStrike">
                <a:solidFill>
                  <a:srgbClr val="02C39A"/>
                </a:solidFill>
              </a:rPr>
              <a:t> Inner query returns a LIST of user_ids who have transactions</a:t>
            </a:r>
            <a:r>
              <a:rPr b="1" lang="en-GB" sz="800"/>
              <a:t> </a:t>
            </a:r>
            <a:r>
              <a:rPr b="1" lang="en-GB" sz="800">
                <a:solidFill>
                  <a:schemeClr val="lt1"/>
                </a:solidFill>
              </a:rPr>
              <a:t> &amp;  </a:t>
            </a:r>
            <a:r>
              <a:rPr b="1" lang="en-GB" sz="800">
                <a:solidFill>
                  <a:srgbClr val="02C39A"/>
                </a:solidFill>
              </a:rPr>
              <a:t>o</a:t>
            </a:r>
            <a:r>
              <a:rPr b="1" i="0" lang="en-GB" sz="800" u="none" cap="none" strike="noStrike">
                <a:solidFill>
                  <a:srgbClr val="02C39A"/>
                </a:solidFill>
              </a:rPr>
              <a:t>uter query keeps only users whose id is in list</a:t>
            </a:r>
            <a:endParaRPr b="1" i="0" sz="800" u="none" cap="none" strike="noStrike">
              <a:solidFill>
                <a:srgbClr val="02C39A"/>
              </a:solidFill>
            </a:endParaRPr>
          </a:p>
          <a:p>
            <a:pPr indent="0" lvl="0" marL="0" marR="0" rtl="0" algn="l">
              <a:lnSpc>
                <a:spcPct val="115000"/>
              </a:lnSpc>
              <a:spcBef>
                <a:spcPts val="0"/>
              </a:spcBef>
              <a:spcAft>
                <a:spcPts val="0"/>
              </a:spcAft>
              <a:buClr>
                <a:srgbClr val="000000"/>
              </a:buClr>
              <a:buSzPts val="780"/>
              <a:buFont typeface="Arial"/>
              <a:buNone/>
            </a:pPr>
            <a:r>
              <a:t/>
            </a:r>
            <a:endParaRPr b="1" sz="800">
              <a:solidFill>
                <a:srgbClr val="02C39A"/>
              </a:solidFill>
            </a:endParaRPr>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SELECT full_name, email</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FROM Users</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WHERE user_id IN (</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    SELECT u.user_id FROM Users u</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    INNER JOIN Wallets      w ON u.user_id   = w.user_id</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    INNER JOIN Transactions t ON w.wallet_id = t.wallet_id</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80"/>
              <a:buFont typeface="Arial"/>
              <a:buNone/>
            </a:pPr>
            <a:r>
              <a:t/>
            </a:r>
            <a:endParaRPr b="1" sz="900"/>
          </a:p>
        </p:txBody>
      </p:sp>
      <p:sp>
        <p:nvSpPr>
          <p:cNvPr id="505" name="Google Shape;505;p34"/>
          <p:cNvSpPr/>
          <p:nvPr/>
        </p:nvSpPr>
        <p:spPr>
          <a:xfrm>
            <a:off x="226000" y="4266325"/>
            <a:ext cx="1028400" cy="24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GB" sz="1000" u="none" cap="none" strike="noStrike">
                <a:solidFill>
                  <a:srgbClr val="02C39A"/>
                </a:solidFill>
                <a:latin typeface="Calibri"/>
                <a:ea typeface="Calibri"/>
                <a:cs typeface="Calibri"/>
                <a:sym typeface="Calibri"/>
              </a:rPr>
              <a:t>IN vs EXISTS:</a:t>
            </a:r>
            <a:endParaRPr sz="1000"/>
          </a:p>
        </p:txBody>
      </p:sp>
      <p:sp>
        <p:nvSpPr>
          <p:cNvPr id="506" name="Google Shape;506;p34"/>
          <p:cNvSpPr/>
          <p:nvPr/>
        </p:nvSpPr>
        <p:spPr>
          <a:xfrm>
            <a:off x="333750" y="4506325"/>
            <a:ext cx="8100900" cy="2601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1150"/>
              <a:buFont typeface="Arial"/>
              <a:buNone/>
            </a:pPr>
            <a:r>
              <a:rPr b="0" i="0" lang="en-GB" sz="950" u="none" cap="none" strike="noStrike">
                <a:solidFill>
                  <a:srgbClr val="CADCFC"/>
                </a:solidFill>
                <a:latin typeface="Calibri"/>
                <a:ea typeface="Calibri"/>
                <a:cs typeface="Calibri"/>
                <a:sym typeface="Calibri"/>
              </a:rPr>
              <a:t>IN runs the subquery once and compares against a full list. EXISTS runs once per outer row and stops at the first match — more efficient on large tables. Both return the same result here.</a:t>
            </a:r>
            <a:endParaRPr sz="1200"/>
          </a:p>
        </p:txBody>
      </p:sp>
      <p:cxnSp>
        <p:nvCxnSpPr>
          <p:cNvPr id="507" name="Google Shape;507;p34"/>
          <p:cNvCxnSpPr>
            <a:stCxn id="503" idx="0"/>
          </p:cNvCxnSpPr>
          <p:nvPr/>
        </p:nvCxnSpPr>
        <p:spPr>
          <a:xfrm>
            <a:off x="4311500" y="621525"/>
            <a:ext cx="26400" cy="3874800"/>
          </a:xfrm>
          <a:prstGeom prst="straightConnector1">
            <a:avLst/>
          </a:prstGeom>
          <a:noFill/>
          <a:ln cap="flat" cmpd="sng" w="9525">
            <a:solidFill>
              <a:schemeClr val="dk2"/>
            </a:solidFill>
            <a:prstDash val="solid"/>
            <a:round/>
            <a:headEnd len="med" w="med" type="none"/>
            <a:tailEnd len="med" w="med" type="none"/>
          </a:ln>
        </p:spPr>
      </p:cxnSp>
      <p:sp>
        <p:nvSpPr>
          <p:cNvPr id="508" name="Google Shape;508;p34"/>
          <p:cNvSpPr txBox="1"/>
          <p:nvPr/>
        </p:nvSpPr>
        <p:spPr>
          <a:xfrm>
            <a:off x="4495150" y="778725"/>
            <a:ext cx="3569700" cy="283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900">
                <a:solidFill>
                  <a:srgbClr val="02C39A"/>
                </a:solidFill>
              </a:rPr>
              <a:t>-- EXISTS stops as soon as it finds ONE matching row (faster)</a:t>
            </a:r>
            <a:endParaRPr b="1" sz="900">
              <a:solidFill>
                <a:srgbClr val="02C39A"/>
              </a:solidFill>
            </a:endParaRPr>
          </a:p>
          <a:p>
            <a:pPr indent="0" lvl="0" marL="0" rtl="0" algn="l">
              <a:lnSpc>
                <a:spcPct val="115000"/>
              </a:lnSpc>
              <a:spcBef>
                <a:spcPts val="0"/>
              </a:spcBef>
              <a:spcAft>
                <a:spcPts val="0"/>
              </a:spcAft>
              <a:buClr>
                <a:srgbClr val="000000"/>
              </a:buClr>
              <a:buSzPts val="780"/>
              <a:buFont typeface="Arial"/>
              <a:buNone/>
            </a:pPr>
            <a:r>
              <a:t/>
            </a:r>
            <a:endParaRPr b="1" sz="900">
              <a:solidFill>
                <a:srgbClr val="02C39A"/>
              </a:solidFill>
            </a:endParaRPr>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SELECT u.full_name, w.balance</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FROM Users u</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INNER JOIN Wallets w ON u.user_id = w.user_id</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WHERE EXISTS (</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    SELECT 1 FROM Wallets w2</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    WHERE w2.wallet_id = w.wallet_id</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    AND   w2.balance   &gt; (SELECT AVG(balance) FROM Wallets)</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a:t>
            </a:r>
            <a:endParaRPr sz="13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5"/>
          <p:cNvSpPr/>
          <p:nvPr/>
        </p:nvSpPr>
        <p:spPr>
          <a:xfrm>
            <a:off x="457200" y="180000"/>
            <a:ext cx="8229600" cy="64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1700" u="none" cap="none" strike="noStrike">
                <a:solidFill>
                  <a:srgbClr val="02C39A"/>
                </a:solidFill>
                <a:latin typeface="Arial Black"/>
                <a:ea typeface="Arial Black"/>
                <a:cs typeface="Arial Black"/>
                <a:sym typeface="Arial Black"/>
              </a:rPr>
              <a:t>Step 7: Advanced SELECT — GROUP BY, HAVING, TOP, DISTINCT</a:t>
            </a:r>
            <a:endParaRPr sz="1000"/>
          </a:p>
        </p:txBody>
      </p:sp>
      <p:sp>
        <p:nvSpPr>
          <p:cNvPr id="514" name="Google Shape;514;p35"/>
          <p:cNvSpPr/>
          <p:nvPr/>
        </p:nvSpPr>
        <p:spPr>
          <a:xfrm>
            <a:off x="241275" y="603000"/>
            <a:ext cx="8528700" cy="44019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35"/>
          <p:cNvSpPr/>
          <p:nvPr/>
        </p:nvSpPr>
        <p:spPr>
          <a:xfrm>
            <a:off x="273300" y="603000"/>
            <a:ext cx="4298700" cy="38100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rPr>
              <a:t>-- GROUP BY + HAVING: users who spent more than PKR 5,000 total</a:t>
            </a:r>
            <a:endParaRPr b="1" i="0" sz="900" u="none" cap="none" strike="noStrike">
              <a:solidFill>
                <a:srgbClr val="02C39A"/>
              </a:solidFill>
            </a:endParaRPr>
          </a:p>
          <a:p>
            <a:pPr indent="0" lvl="0" marL="0" marR="0" rtl="0" algn="l">
              <a:lnSpc>
                <a:spcPct val="115000"/>
              </a:lnSpc>
              <a:spcBef>
                <a:spcPts val="0"/>
              </a:spcBef>
              <a:spcAft>
                <a:spcPts val="0"/>
              </a:spcAft>
              <a:buClr>
                <a:srgbClr val="000000"/>
              </a:buClr>
              <a:buSzPts val="790"/>
              <a:buFont typeface="Arial"/>
              <a:buNone/>
            </a:pPr>
            <a:r>
              <a:t/>
            </a:r>
            <a:endParaRPr b="1" sz="900">
              <a:solidFill>
                <a:srgbClr val="02C39A"/>
              </a:solidFill>
            </a:endParaRPr>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SELECT</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    u.full_name,</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    COUNT(t.txn_id) AS total_transactions,</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    SUM(t.amount)   AS total_amount,</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    AVG(t.amount)   AS average_amount</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FROM Users u</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INNER JOIN Wallets      w ON u.user_id   = w.user_id</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INNER JOIN Transactions t ON w.wallet_id = t.wallet_id</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GROUP BY u.user_id, u.full_name</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HAVING SUM(t.amount) &gt; 5000</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ORDER BY total_amount DESC;</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rPr>
              <a:t>-- BETWEEN: transactions within a date range</a:t>
            </a:r>
            <a:endParaRPr b="1" i="0" sz="900" u="none" cap="none" strike="noStrike">
              <a:solidFill>
                <a:srgbClr val="02C39A"/>
              </a:solidFill>
            </a:endParaRPr>
          </a:p>
          <a:p>
            <a:pPr indent="0" lvl="0" marL="0" marR="0" rtl="0" algn="l">
              <a:lnSpc>
                <a:spcPct val="115000"/>
              </a:lnSpc>
              <a:spcBef>
                <a:spcPts val="0"/>
              </a:spcBef>
              <a:spcAft>
                <a:spcPts val="0"/>
              </a:spcAft>
              <a:buClr>
                <a:srgbClr val="000000"/>
              </a:buClr>
              <a:buSzPts val="790"/>
              <a:buFont typeface="Arial"/>
              <a:buNone/>
            </a:pPr>
            <a:r>
              <a:t/>
            </a:r>
            <a:endParaRPr b="1" sz="900">
              <a:solidFill>
                <a:srgbClr val="02C39A"/>
              </a:solidFill>
            </a:endParaRPr>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SELECT txn_type, amount, note, txn_date FROM Transactions</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WHERE txn_date BETWEEN '2024-01-01' AND GETDATE();</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rPr>
              <a:t>-- IN: only deposits and incoming transfers</a:t>
            </a:r>
            <a:endParaRPr b="1" i="0" sz="900" u="none" cap="none" strike="noStrike">
              <a:solidFill>
                <a:srgbClr val="02C39A"/>
              </a:solidFill>
            </a:endParaRPr>
          </a:p>
          <a:p>
            <a:pPr indent="0" lvl="0" marL="0" marR="0" rtl="0" algn="l">
              <a:lnSpc>
                <a:spcPct val="115000"/>
              </a:lnSpc>
              <a:spcBef>
                <a:spcPts val="0"/>
              </a:spcBef>
              <a:spcAft>
                <a:spcPts val="0"/>
              </a:spcAft>
              <a:buClr>
                <a:srgbClr val="000000"/>
              </a:buClr>
              <a:buSzPts val="790"/>
              <a:buFont typeface="Arial"/>
              <a:buNone/>
            </a:pPr>
            <a:r>
              <a:t/>
            </a:r>
            <a:endParaRPr b="1" sz="900">
              <a:solidFill>
                <a:srgbClr val="02C39A"/>
              </a:solidFill>
            </a:endParaRPr>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SELECT txn_type, amount, note FROM Transactions</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WHERE txn_type IN ('credit', 'transfer_in') ORDER BY amount DESC;</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rPr>
              <a:t>-- DISTINCT: each transaction type listed once</a:t>
            </a:r>
            <a:endParaRPr b="1" i="0" sz="900" u="none" cap="none" strike="noStrike">
              <a:solidFill>
                <a:srgbClr val="02C39A"/>
              </a:solidFill>
            </a:endParaRPr>
          </a:p>
          <a:p>
            <a:pPr indent="0" lvl="0" marL="0" marR="0" rtl="0" algn="l">
              <a:lnSpc>
                <a:spcPct val="115000"/>
              </a:lnSpc>
              <a:spcBef>
                <a:spcPts val="0"/>
              </a:spcBef>
              <a:spcAft>
                <a:spcPts val="0"/>
              </a:spcAft>
              <a:buClr>
                <a:srgbClr val="000000"/>
              </a:buClr>
              <a:buSzPts val="790"/>
              <a:buFont typeface="Arial"/>
              <a:buNone/>
            </a:pPr>
            <a:r>
              <a:t/>
            </a:r>
            <a:endParaRPr b="1" sz="900">
              <a:solidFill>
                <a:srgbClr val="02C39A"/>
              </a:solidFill>
            </a:endParaRPr>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rPr>
              <a:t>SELECT DISTINCT txn_type FROM Transactions;</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90"/>
              <a:buFont typeface="Arial"/>
              <a:buNone/>
            </a:pPr>
            <a:r>
              <a:t/>
            </a:r>
            <a:endParaRPr b="1" sz="900"/>
          </a:p>
        </p:txBody>
      </p:sp>
      <p:cxnSp>
        <p:nvCxnSpPr>
          <p:cNvPr id="516" name="Google Shape;516;p35"/>
          <p:cNvCxnSpPr>
            <a:endCxn id="514" idx="2"/>
          </p:cNvCxnSpPr>
          <p:nvPr/>
        </p:nvCxnSpPr>
        <p:spPr>
          <a:xfrm>
            <a:off x="4495125" y="621600"/>
            <a:ext cx="10500" cy="4383300"/>
          </a:xfrm>
          <a:prstGeom prst="straightConnector1">
            <a:avLst/>
          </a:prstGeom>
          <a:noFill/>
          <a:ln cap="flat" cmpd="sng" w="9525">
            <a:solidFill>
              <a:schemeClr val="dk2"/>
            </a:solidFill>
            <a:prstDash val="solid"/>
            <a:round/>
            <a:headEnd len="med" w="med" type="none"/>
            <a:tailEnd len="med" w="med" type="none"/>
          </a:ln>
        </p:spPr>
      </p:cxnSp>
      <p:sp>
        <p:nvSpPr>
          <p:cNvPr id="517" name="Google Shape;517;p35"/>
          <p:cNvSpPr txBox="1"/>
          <p:nvPr/>
        </p:nvSpPr>
        <p:spPr>
          <a:xfrm>
            <a:off x="4652375" y="741725"/>
            <a:ext cx="3893100" cy="124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900">
                <a:solidFill>
                  <a:srgbClr val="02C39A"/>
                </a:solidFill>
              </a:rPr>
              <a:t>-- TOP 3: three highest balances (SQL Server version of LIMIT 3)</a:t>
            </a:r>
            <a:endParaRPr b="1" sz="900">
              <a:solidFill>
                <a:srgbClr val="02C39A"/>
              </a:solidFill>
            </a:endParaRPr>
          </a:p>
          <a:p>
            <a:pPr indent="0" lvl="0" marL="0" rtl="0" algn="l">
              <a:lnSpc>
                <a:spcPct val="115000"/>
              </a:lnSpc>
              <a:spcBef>
                <a:spcPts val="0"/>
              </a:spcBef>
              <a:spcAft>
                <a:spcPts val="0"/>
              </a:spcAft>
              <a:buClr>
                <a:srgbClr val="000000"/>
              </a:buClr>
              <a:buSzPts val="790"/>
              <a:buFont typeface="Arial"/>
              <a:buNone/>
            </a:pPr>
            <a:r>
              <a:t/>
            </a:r>
            <a:endParaRPr b="1" sz="900">
              <a:solidFill>
                <a:srgbClr val="02C39A"/>
              </a:solidFill>
            </a:endParaRPr>
          </a:p>
          <a:p>
            <a:pPr indent="0" lvl="0" marL="0" rtl="0" algn="l">
              <a:lnSpc>
                <a:spcPct val="115000"/>
              </a:lnSpc>
              <a:spcBef>
                <a:spcPts val="0"/>
              </a:spcBef>
              <a:spcAft>
                <a:spcPts val="0"/>
              </a:spcAft>
              <a:buClr>
                <a:srgbClr val="000000"/>
              </a:buClr>
              <a:buSzPts val="790"/>
              <a:buFont typeface="Arial"/>
              <a:buNone/>
            </a:pPr>
            <a:r>
              <a:rPr b="1" lang="en-GB" sz="900">
                <a:solidFill>
                  <a:schemeClr val="lt1"/>
                </a:solidFill>
              </a:rPr>
              <a:t>SELECT TOP 3 u.full_name, w.balance FROM Users u</a:t>
            </a:r>
            <a:endParaRPr b="1" sz="900"/>
          </a:p>
          <a:p>
            <a:pPr indent="0" lvl="0" marL="0" rtl="0" algn="l">
              <a:lnSpc>
                <a:spcPct val="115000"/>
              </a:lnSpc>
              <a:spcBef>
                <a:spcPts val="0"/>
              </a:spcBef>
              <a:spcAft>
                <a:spcPts val="0"/>
              </a:spcAft>
              <a:buClr>
                <a:srgbClr val="000000"/>
              </a:buClr>
              <a:buSzPts val="790"/>
              <a:buFont typeface="Arial"/>
              <a:buNone/>
            </a:pPr>
            <a:r>
              <a:rPr b="1" lang="en-GB" sz="900">
                <a:solidFill>
                  <a:schemeClr val="lt1"/>
                </a:solidFill>
              </a:rPr>
              <a:t>INNER JOIN Wallets w ON u.user_id = w.user_id</a:t>
            </a:r>
            <a:endParaRPr b="1" sz="900"/>
          </a:p>
          <a:p>
            <a:pPr indent="0" lvl="0" marL="0" rtl="0" algn="l">
              <a:lnSpc>
                <a:spcPct val="115000"/>
              </a:lnSpc>
              <a:spcBef>
                <a:spcPts val="0"/>
              </a:spcBef>
              <a:spcAft>
                <a:spcPts val="0"/>
              </a:spcAft>
              <a:buClr>
                <a:srgbClr val="000000"/>
              </a:buClr>
              <a:buSzPts val="790"/>
              <a:buFont typeface="Arial"/>
              <a:buNone/>
            </a:pPr>
            <a:r>
              <a:rPr b="1" lang="en-GB" sz="900">
                <a:solidFill>
                  <a:schemeClr val="lt1"/>
                </a:solidFill>
              </a:rPr>
              <a:t>ORDER BY w.balance DESC;</a:t>
            </a:r>
            <a:endParaRPr sz="13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36"/>
          <p:cNvSpPr/>
          <p:nvPr/>
        </p:nvSpPr>
        <p:spPr>
          <a:xfrm>
            <a:off x="457200" y="180000"/>
            <a:ext cx="8229600" cy="64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2100" u="none" cap="none" strike="noStrike">
                <a:solidFill>
                  <a:srgbClr val="02C39A"/>
                </a:solidFill>
                <a:latin typeface="Arial Black"/>
                <a:ea typeface="Arial Black"/>
                <a:cs typeface="Arial Black"/>
                <a:sym typeface="Arial Black"/>
              </a:rPr>
              <a:t>Step 8: Views — Saved SELECT Queries</a:t>
            </a:r>
            <a:endParaRPr/>
          </a:p>
        </p:txBody>
      </p:sp>
      <p:sp>
        <p:nvSpPr>
          <p:cNvPr id="523" name="Google Shape;523;p36"/>
          <p:cNvSpPr/>
          <p:nvPr/>
        </p:nvSpPr>
        <p:spPr>
          <a:xfrm>
            <a:off x="65575" y="695475"/>
            <a:ext cx="8979300" cy="43650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36"/>
          <p:cNvSpPr/>
          <p:nvPr/>
        </p:nvSpPr>
        <p:spPr>
          <a:xfrm>
            <a:off x="65575" y="817725"/>
            <a:ext cx="4946100" cy="41205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IF OBJECT_ID('ShowBalances','V') IS NOT NULL DROP VIEW ShowBalances;</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GO</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CREATE VIEW ShowBalances AS</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SELECT u.user_id, u.full_name, u.email, u.phone,</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       u.status, w.wallet_id, w.balance</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FROM Users u INNER JOIN Wallets w ON u.user_id = w.user_id;</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GO</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IF OBJECT_ID('ShowTransactions','V') IS NOT NULL DROP VIEW ShowTransactions;</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GO</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CREATE VIEW ShowTransactions AS</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SELECT t.txn_id, u.full_name, t.txn_type, t.amount, t.note, t.txn_date</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FROM Transactions t</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INNER JOIN Wallets w ON t.wallet_id = w.wallet_id</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INNER JOIN Users   u ON w.user_id   = u.user_id;</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GO</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IF OBJECT_ID('BigTransactions','V') IS NOT NULL DROP VIEW BigTransactions;</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GO</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CREATE VIEW BigTransactions AS</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SELECT t.txn_id, u.full_name, t.txn_type, t.amount, t.txn_date</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FROM Transactions t</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INNER JOIN Wallets w ON t.wallet_id = w.wallet_id</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INNER JOIN Users   u ON w.user_id   = u.user_id</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WHERE t.amount &gt; 50000;</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GO</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a:t>
            </a:r>
            <a:endParaRPr b="1" sz="900"/>
          </a:p>
        </p:txBody>
      </p:sp>
      <p:sp>
        <p:nvSpPr>
          <p:cNvPr id="525" name="Google Shape;525;p36"/>
          <p:cNvSpPr txBox="1"/>
          <p:nvPr/>
        </p:nvSpPr>
        <p:spPr>
          <a:xfrm>
            <a:off x="5271950" y="820000"/>
            <a:ext cx="3366000" cy="94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900">
                <a:solidFill>
                  <a:srgbClr val="02C39A"/>
                </a:solidFill>
              </a:rPr>
              <a:t>-- Now any one queries it with one line:</a:t>
            </a:r>
            <a:endParaRPr b="1" sz="900">
              <a:solidFill>
                <a:srgbClr val="02C39A"/>
              </a:solidFill>
            </a:endParaRPr>
          </a:p>
          <a:p>
            <a:pPr indent="0" lvl="0" marL="0" rtl="0" algn="l">
              <a:lnSpc>
                <a:spcPct val="115000"/>
              </a:lnSpc>
              <a:spcBef>
                <a:spcPts val="0"/>
              </a:spcBef>
              <a:spcAft>
                <a:spcPts val="0"/>
              </a:spcAft>
              <a:buClr>
                <a:srgbClr val="000000"/>
              </a:buClr>
              <a:buSzPts val="780"/>
              <a:buFont typeface="Arial"/>
              <a:buNone/>
            </a:pPr>
            <a:r>
              <a:t/>
            </a:r>
            <a:endParaRPr b="1" sz="900">
              <a:solidFill>
                <a:srgbClr val="02C39A"/>
              </a:solidFill>
            </a:endParaRPr>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SELECT * FROM ShowBalances ORDER BY balance DESC;</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SELECT * FROM BigTransactions;</a:t>
            </a:r>
            <a:endParaRPr sz="1300">
              <a:solidFill>
                <a:schemeClr val="lt1"/>
              </a:solidFill>
            </a:endParaRPr>
          </a:p>
        </p:txBody>
      </p:sp>
      <p:sp>
        <p:nvSpPr>
          <p:cNvPr id="526" name="Google Shape;526;p36"/>
          <p:cNvSpPr/>
          <p:nvPr/>
        </p:nvSpPr>
        <p:spPr>
          <a:xfrm>
            <a:off x="5155795" y="2266422"/>
            <a:ext cx="3751025" cy="2355750"/>
          </a:xfrm>
          <a:custGeom>
            <a:rect b="b" l="l" r="r" t="t"/>
            <a:pathLst>
              <a:path extrusionOk="0" h="94230" w="150041">
                <a:moveTo>
                  <a:pt x="14634" y="7945"/>
                </a:moveTo>
                <a:cubicBezTo>
                  <a:pt x="-4971" y="21940"/>
                  <a:pt x="-4971" y="85317"/>
                  <a:pt x="15374" y="93023"/>
                </a:cubicBezTo>
                <a:cubicBezTo>
                  <a:pt x="35719" y="100729"/>
                  <a:pt x="117097" y="68178"/>
                  <a:pt x="136702" y="54183"/>
                </a:cubicBezTo>
                <a:cubicBezTo>
                  <a:pt x="156307" y="40188"/>
                  <a:pt x="153348" y="16761"/>
                  <a:pt x="133003" y="9055"/>
                </a:cubicBezTo>
                <a:cubicBezTo>
                  <a:pt x="112658" y="1349"/>
                  <a:pt x="34239" y="-6050"/>
                  <a:pt x="14634" y="7945"/>
                </a:cubicBezTo>
                <a:close/>
              </a:path>
            </a:pathLst>
          </a:custGeom>
          <a:solidFill>
            <a:schemeClr val="dk1"/>
          </a:solidFill>
          <a:ln cap="flat" cmpd="sng" w="9525">
            <a:solidFill>
              <a:schemeClr val="dk2"/>
            </a:solidFill>
            <a:prstDash val="solid"/>
            <a:round/>
            <a:headEnd len="med" w="med" type="none"/>
            <a:tailEnd len="med" w="med" type="none"/>
          </a:ln>
        </p:spPr>
      </p:sp>
      <p:sp>
        <p:nvSpPr>
          <p:cNvPr id="527" name="Google Shape;527;p36"/>
          <p:cNvSpPr txBox="1"/>
          <p:nvPr/>
        </p:nvSpPr>
        <p:spPr>
          <a:xfrm>
            <a:off x="5475400" y="2720700"/>
            <a:ext cx="2987100" cy="8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528" name="Google Shape;528;p36"/>
          <p:cNvSpPr/>
          <p:nvPr/>
        </p:nvSpPr>
        <p:spPr>
          <a:xfrm>
            <a:off x="5437489" y="2860425"/>
            <a:ext cx="2120400" cy="24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GB" sz="1100" u="none" cap="none" strike="noStrike">
                <a:solidFill>
                  <a:srgbClr val="02C39A"/>
                </a:solidFill>
                <a:latin typeface="Calibri"/>
                <a:ea typeface="Calibri"/>
                <a:cs typeface="Calibri"/>
                <a:sym typeface="Calibri"/>
              </a:rPr>
              <a:t>What is a View?</a:t>
            </a:r>
            <a:endParaRPr sz="1100"/>
          </a:p>
        </p:txBody>
      </p:sp>
      <p:sp>
        <p:nvSpPr>
          <p:cNvPr id="529" name="Google Shape;529;p36"/>
          <p:cNvSpPr/>
          <p:nvPr/>
        </p:nvSpPr>
        <p:spPr>
          <a:xfrm>
            <a:off x="5360000" y="3217875"/>
            <a:ext cx="3189900" cy="2601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1150"/>
              <a:buFont typeface="Arial"/>
              <a:buNone/>
            </a:pPr>
            <a:r>
              <a:rPr b="0" i="0" lang="en-GB" sz="850" u="none" cap="none" strike="noStrike">
                <a:solidFill>
                  <a:srgbClr val="CADCFC"/>
                </a:solidFill>
                <a:latin typeface="Calibri"/>
                <a:ea typeface="Calibri"/>
                <a:cs typeface="Calibri"/>
                <a:sym typeface="Calibri"/>
              </a:rPr>
              <a:t>A view is a saved SELECT query. It behaves like a table but holds no data — the JOIN runs every time you query it. Complex multi-table joins are written once and hidden from the caller. GO is required because CREATE VIEW must be alone in its batch.</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7"/>
          <p:cNvSpPr/>
          <p:nvPr/>
        </p:nvSpPr>
        <p:spPr>
          <a:xfrm>
            <a:off x="457200" y="180000"/>
            <a:ext cx="8229600" cy="64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1900" u="none" cap="none" strike="noStrike">
                <a:solidFill>
                  <a:srgbClr val="02C39A"/>
                </a:solidFill>
                <a:latin typeface="Arial Black"/>
                <a:ea typeface="Arial Black"/>
                <a:cs typeface="Arial Black"/>
                <a:sym typeface="Arial Black"/>
              </a:rPr>
              <a:t>Step 9: Stored Procedures — AddMoney &amp; TakeMoney</a:t>
            </a:r>
            <a:endParaRPr sz="1200"/>
          </a:p>
        </p:txBody>
      </p:sp>
      <p:sp>
        <p:nvSpPr>
          <p:cNvPr id="535" name="Google Shape;535;p37"/>
          <p:cNvSpPr/>
          <p:nvPr/>
        </p:nvSpPr>
        <p:spPr>
          <a:xfrm>
            <a:off x="139550" y="649250"/>
            <a:ext cx="8896200" cy="44943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37"/>
          <p:cNvSpPr/>
          <p:nvPr/>
        </p:nvSpPr>
        <p:spPr>
          <a:xfrm>
            <a:off x="269025" y="797200"/>
            <a:ext cx="4235400" cy="24675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PROCEDURE 1: Add money to a wallet</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Usage: EXEC AddMoney 1, 5000.00;</a:t>
            </a:r>
            <a:endParaRPr b="1" i="0" sz="900" u="none" cap="none" strike="noStrike">
              <a:solidFill>
                <a:srgbClr val="02C39A"/>
              </a:solidFill>
            </a:endParaRPr>
          </a:p>
          <a:p>
            <a:pPr indent="0" lvl="0" marL="0" marR="0" rtl="0" algn="l">
              <a:lnSpc>
                <a:spcPct val="115000"/>
              </a:lnSpc>
              <a:spcBef>
                <a:spcPts val="0"/>
              </a:spcBef>
              <a:spcAft>
                <a:spcPts val="0"/>
              </a:spcAft>
              <a:buClr>
                <a:srgbClr val="000000"/>
              </a:buClr>
              <a:buSzPts val="780"/>
              <a:buFont typeface="Arial"/>
              <a:buNone/>
            </a:pPr>
            <a:r>
              <a:t/>
            </a:r>
            <a:endParaRPr b="1" sz="900">
              <a:solidFill>
                <a:srgbClr val="02C39A"/>
              </a:solidFill>
            </a:endParaRPr>
          </a:p>
          <a:p>
            <a:pPr indent="0" lvl="0" marL="0" rtl="0" algn="l">
              <a:lnSpc>
                <a:spcPct val="115000"/>
              </a:lnSpc>
              <a:spcBef>
                <a:spcPts val="0"/>
              </a:spcBef>
              <a:spcAft>
                <a:spcPts val="0"/>
              </a:spcAft>
              <a:buNone/>
            </a:pPr>
            <a:r>
              <a:rPr b="1" lang="en-GB" sz="900">
                <a:solidFill>
                  <a:srgbClr val="FFFFFF"/>
                </a:solidFill>
              </a:rPr>
              <a:t>CREATE PROCEDURE AddMoney</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@wallet_num INT,</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@how_much   DECIMAL(10,2)</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AS</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UPDATE Wallets</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SET    balance = balance + @how_much</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WHERE  wallet_id = @wallet_num;</a:t>
            </a:r>
            <a:endParaRPr b="1" sz="900">
              <a:solidFill>
                <a:srgbClr val="FFFFFF"/>
              </a:solidFill>
            </a:endParaRPr>
          </a:p>
          <a:p>
            <a:pPr indent="0" lvl="0" marL="0" rtl="0" algn="l">
              <a:lnSpc>
                <a:spcPct val="115000"/>
              </a:lnSpc>
              <a:spcBef>
                <a:spcPts val="0"/>
              </a:spcBef>
              <a:spcAft>
                <a:spcPts val="0"/>
              </a:spcAft>
              <a:buNone/>
            </a:pPr>
            <a:r>
              <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INSERT INTO Transactions (wallet_id, txn_type, amount, note)</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VALUES (@wallet_num, 'credit', @how_much, 'Money added');</a:t>
            </a:r>
            <a:endParaRPr b="1" sz="900">
              <a:solidFill>
                <a:srgbClr val="FFFFFF"/>
              </a:solidFill>
            </a:endParaRPr>
          </a:p>
          <a:p>
            <a:pPr indent="0" lvl="0" marL="0" marR="0" rtl="0" algn="l">
              <a:lnSpc>
                <a:spcPct val="115000"/>
              </a:lnSpc>
              <a:spcBef>
                <a:spcPts val="0"/>
              </a:spcBef>
              <a:spcAft>
                <a:spcPts val="0"/>
              </a:spcAft>
              <a:buClr>
                <a:srgbClr val="000000"/>
              </a:buClr>
              <a:buSzPts val="780"/>
              <a:buFont typeface="Arial"/>
              <a:buNone/>
            </a:pPr>
            <a:r>
              <a:t/>
            </a:r>
            <a:endParaRPr b="1" sz="900">
              <a:solidFill>
                <a:srgbClr val="FFFFFF"/>
              </a:solidFill>
            </a:endParaRPr>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80"/>
              <a:buFont typeface="Arial"/>
              <a:buNone/>
            </a:pPr>
            <a:r>
              <a:t/>
            </a:r>
            <a:endParaRPr b="1" sz="900"/>
          </a:p>
        </p:txBody>
      </p:sp>
      <p:sp>
        <p:nvSpPr>
          <p:cNvPr id="537" name="Google Shape;537;p37"/>
          <p:cNvSpPr txBox="1"/>
          <p:nvPr/>
        </p:nvSpPr>
        <p:spPr>
          <a:xfrm>
            <a:off x="4847325" y="797200"/>
            <a:ext cx="4235400" cy="397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900">
                <a:solidFill>
                  <a:srgbClr val="02C39A"/>
                </a:solidFill>
                <a:highlight>
                  <a:schemeClr val="dk1"/>
                </a:highlight>
              </a:rPr>
              <a:t>-- PROCEDURE 2: Take money out -- balance checked inside WHERE</a:t>
            </a:r>
            <a:endParaRPr sz="900">
              <a:solidFill>
                <a:srgbClr val="02C39A"/>
              </a:solidFill>
              <a:highlight>
                <a:schemeClr val="dk1"/>
              </a:highlight>
            </a:endParaRPr>
          </a:p>
          <a:p>
            <a:pPr indent="0" lvl="0" marL="0" rtl="0" algn="l">
              <a:lnSpc>
                <a:spcPct val="115000"/>
              </a:lnSpc>
              <a:spcBef>
                <a:spcPts val="0"/>
              </a:spcBef>
              <a:spcAft>
                <a:spcPts val="0"/>
              </a:spcAft>
              <a:buNone/>
            </a:pPr>
            <a:r>
              <a:rPr lang="en-GB" sz="900">
                <a:solidFill>
                  <a:srgbClr val="02C39A"/>
                </a:solidFill>
                <a:highlight>
                  <a:schemeClr val="dk1"/>
                </a:highlight>
              </a:rPr>
              <a:t>-- Usage: EXEC TakeMoney 1, 2000.00;</a:t>
            </a:r>
            <a:r>
              <a:rPr lang="en-GB" sz="800">
                <a:solidFill>
                  <a:srgbClr val="02C39A"/>
                </a:solidFill>
                <a:highlight>
                  <a:schemeClr val="dk1"/>
                </a:highlight>
              </a:rPr>
              <a:t> </a:t>
            </a:r>
            <a:endParaRPr b="1" sz="900">
              <a:solidFill>
                <a:schemeClr val="lt1"/>
              </a:solidFill>
            </a:endParaRPr>
          </a:p>
          <a:p>
            <a:pPr indent="0" lvl="0" marL="0" rtl="0" algn="l">
              <a:lnSpc>
                <a:spcPct val="115000"/>
              </a:lnSpc>
              <a:spcBef>
                <a:spcPts val="0"/>
              </a:spcBef>
              <a:spcAft>
                <a:spcPts val="0"/>
              </a:spcAft>
              <a:buNone/>
            </a:pPr>
            <a:r>
              <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CREATE PROCEDURE TakeMoney</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@wallet_num INT,</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@how_much   DECIMAL(10,2)</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AS</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DECLARE @current_balance DECIMAL(10,2);</a:t>
            </a:r>
            <a:endParaRPr b="1" sz="900">
              <a:solidFill>
                <a:schemeClr val="lt1"/>
              </a:solidFill>
            </a:endParaRPr>
          </a:p>
          <a:p>
            <a:pPr indent="0" lvl="0" marL="0" rtl="0" algn="l">
              <a:lnSpc>
                <a:spcPct val="115000"/>
              </a:lnSpc>
              <a:spcBef>
                <a:spcPts val="0"/>
              </a:spcBef>
              <a:spcAft>
                <a:spcPts val="0"/>
              </a:spcAft>
              <a:buNone/>
            </a:pPr>
            <a:r>
              <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SELECT @current_balance = balance</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FROM   Wallets</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WHERE  wallet_id = @wallet_num;</a:t>
            </a:r>
            <a:endParaRPr b="1" sz="900">
              <a:solidFill>
                <a:schemeClr val="lt1"/>
              </a:solidFill>
            </a:endParaRPr>
          </a:p>
          <a:p>
            <a:pPr indent="0" lvl="0" marL="0" rtl="0" algn="l">
              <a:lnSpc>
                <a:spcPct val="115000"/>
              </a:lnSpc>
              <a:spcBef>
                <a:spcPts val="0"/>
              </a:spcBef>
              <a:spcAft>
                <a:spcPts val="0"/>
              </a:spcAft>
              <a:buNone/>
            </a:pPr>
            <a:r>
              <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IF @current_balance &gt;= @how_much</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BEGIN</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UPDATE Wallets</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SET    balance = balance - @how_much</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WHERE  wallet_id = @wallet_num;</a:t>
            </a:r>
            <a:endParaRPr b="1" sz="900">
              <a:solidFill>
                <a:schemeClr val="lt1"/>
              </a:solidFill>
            </a:endParaRPr>
          </a:p>
          <a:p>
            <a:pPr indent="0" lvl="0" marL="0" rtl="0" algn="l">
              <a:lnSpc>
                <a:spcPct val="115000"/>
              </a:lnSpc>
              <a:spcBef>
                <a:spcPts val="0"/>
              </a:spcBef>
              <a:spcAft>
                <a:spcPts val="0"/>
              </a:spcAft>
              <a:buNone/>
            </a:pPr>
            <a:r>
              <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INSERT INTO Transactions (wallet_id, txn_type, amount, note)</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VALUES (@wallet_num, 'debit', @how_much, 'Money withdrawn');</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END</a:t>
            </a:r>
            <a:endParaRPr b="1" sz="900">
              <a:solidFill>
                <a:schemeClr val="lt1"/>
              </a:solidFill>
            </a:endParaRPr>
          </a:p>
          <a:p>
            <a:pPr indent="0" lvl="0" marL="0" rtl="0" algn="l">
              <a:lnSpc>
                <a:spcPct val="115000"/>
              </a:lnSpc>
              <a:spcBef>
                <a:spcPts val="0"/>
              </a:spcBef>
              <a:spcAft>
                <a:spcPts val="0"/>
              </a:spcAft>
              <a:buClr>
                <a:srgbClr val="000000"/>
              </a:buClr>
              <a:buSzPts val="780"/>
              <a:buFont typeface="Arial"/>
              <a:buNone/>
            </a:pPr>
            <a:r>
              <a:t/>
            </a:r>
            <a:endParaRPr b="1" sz="900">
              <a:solidFill>
                <a:srgbClr val="02C39A"/>
              </a:solidFill>
            </a:endParaRPr>
          </a:p>
        </p:txBody>
      </p:sp>
      <p:cxnSp>
        <p:nvCxnSpPr>
          <p:cNvPr id="538" name="Google Shape;538;p37"/>
          <p:cNvCxnSpPr>
            <a:stCxn id="535" idx="0"/>
            <a:endCxn id="535" idx="2"/>
          </p:cNvCxnSpPr>
          <p:nvPr/>
        </p:nvCxnSpPr>
        <p:spPr>
          <a:xfrm>
            <a:off x="4587650" y="649250"/>
            <a:ext cx="0" cy="4494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38"/>
          <p:cNvSpPr/>
          <p:nvPr/>
        </p:nvSpPr>
        <p:spPr>
          <a:xfrm>
            <a:off x="457200" y="180000"/>
            <a:ext cx="8229600" cy="6399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2100" u="none" cap="none" strike="noStrike">
                <a:solidFill>
                  <a:srgbClr val="02C39A"/>
                </a:solidFill>
                <a:latin typeface="Arial Black"/>
                <a:ea typeface="Arial Black"/>
                <a:cs typeface="Arial Black"/>
                <a:sym typeface="Arial Black"/>
              </a:rPr>
              <a:t>Step 9: Stored Procedures — SendMoney</a:t>
            </a:r>
            <a:endParaRPr/>
          </a:p>
        </p:txBody>
      </p:sp>
      <p:sp>
        <p:nvSpPr>
          <p:cNvPr id="544" name="Google Shape;544;p38"/>
          <p:cNvSpPr/>
          <p:nvPr/>
        </p:nvSpPr>
        <p:spPr>
          <a:xfrm>
            <a:off x="139550" y="667750"/>
            <a:ext cx="8822100" cy="43557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38"/>
          <p:cNvSpPr/>
          <p:nvPr/>
        </p:nvSpPr>
        <p:spPr>
          <a:xfrm>
            <a:off x="196350" y="727300"/>
            <a:ext cx="3808800" cy="42591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780"/>
              <a:buFont typeface="Arial"/>
              <a:buNone/>
            </a:pPr>
            <a:r>
              <a:rPr i="0" lang="en-GB" sz="780" u="none" cap="none" strike="noStrike">
                <a:solidFill>
                  <a:srgbClr val="02C39A"/>
                </a:solidFill>
              </a:rPr>
              <a:t>-- PROCEDURE 3: Send money between wallets</a:t>
            </a:r>
            <a:endParaRPr/>
          </a:p>
          <a:p>
            <a:pPr indent="0" lvl="0" marL="0" rtl="0" algn="l">
              <a:lnSpc>
                <a:spcPct val="115000"/>
              </a:lnSpc>
              <a:spcBef>
                <a:spcPts val="0"/>
              </a:spcBef>
              <a:spcAft>
                <a:spcPts val="0"/>
              </a:spcAft>
              <a:buNone/>
            </a:pPr>
            <a:r>
              <a:t/>
            </a:r>
            <a:endParaRPr sz="780">
              <a:solidFill>
                <a:srgbClr val="02C39A"/>
              </a:solidFill>
            </a:endParaRPr>
          </a:p>
          <a:p>
            <a:pPr indent="0" lvl="0" marL="0" rtl="0" algn="l">
              <a:lnSpc>
                <a:spcPct val="115000"/>
              </a:lnSpc>
              <a:spcBef>
                <a:spcPts val="0"/>
              </a:spcBef>
              <a:spcAft>
                <a:spcPts val="0"/>
              </a:spcAft>
              <a:buNone/>
            </a:pPr>
            <a:r>
              <a:rPr b="1" lang="en-GB" sz="900">
                <a:solidFill>
                  <a:srgbClr val="FFFFFF"/>
                </a:solidFill>
              </a:rPr>
              <a:t>CREATE PROCEDURE SendMoney</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@from_wallet INT,</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@to_wallet   INT,</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@how_much    DECIMAL(10,2)</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AS</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DECLARE @sender_balance DECIMAL(10,2);</a:t>
            </a:r>
            <a:endParaRPr b="1" sz="900">
              <a:solidFill>
                <a:srgbClr val="FFFFFF"/>
              </a:solidFill>
            </a:endParaRPr>
          </a:p>
          <a:p>
            <a:pPr indent="0" lvl="0" marL="0" rtl="0" algn="l">
              <a:lnSpc>
                <a:spcPct val="115000"/>
              </a:lnSpc>
              <a:spcBef>
                <a:spcPts val="0"/>
              </a:spcBef>
              <a:spcAft>
                <a:spcPts val="0"/>
              </a:spcAft>
              <a:buNone/>
            </a:pPr>
            <a:r>
              <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SELECT @sender_balance = balance</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FROM   Wallets</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WHERE  wallet_id = @from_wallet;</a:t>
            </a:r>
            <a:endParaRPr b="1" sz="900">
              <a:solidFill>
                <a:srgbClr val="FFFFFF"/>
              </a:solidFill>
            </a:endParaRPr>
          </a:p>
          <a:p>
            <a:pPr indent="0" lvl="0" marL="0" rtl="0" algn="l">
              <a:lnSpc>
                <a:spcPct val="115000"/>
              </a:lnSpc>
              <a:spcBef>
                <a:spcPts val="0"/>
              </a:spcBef>
              <a:spcAft>
                <a:spcPts val="0"/>
              </a:spcAft>
              <a:buNone/>
            </a:pPr>
            <a:r>
              <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IF @from_wallet = @to_wallet</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PRINT 'You cannot send money to yourself';</a:t>
            </a:r>
            <a:endParaRPr b="1" sz="900">
              <a:solidFill>
                <a:srgbClr val="FFFFFF"/>
              </a:solidFill>
            </a:endParaRPr>
          </a:p>
          <a:p>
            <a:pPr indent="0" lvl="0" marL="0" rtl="0" algn="l">
              <a:lnSpc>
                <a:spcPct val="115000"/>
              </a:lnSpc>
              <a:spcBef>
                <a:spcPts val="0"/>
              </a:spcBef>
              <a:spcAft>
                <a:spcPts val="0"/>
              </a:spcAft>
              <a:buNone/>
            </a:pPr>
            <a:r>
              <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ELSE IF @sender_balance &lt; @how_much</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PRINT 'Not enough balance';</a:t>
            </a:r>
            <a:endParaRPr b="1" sz="900">
              <a:solidFill>
                <a:srgbClr val="FFFFFF"/>
              </a:solidFill>
            </a:endParaRPr>
          </a:p>
          <a:p>
            <a:pPr indent="0" lvl="0" marL="0" rtl="0" algn="l">
              <a:lnSpc>
                <a:spcPct val="115000"/>
              </a:lnSpc>
              <a:spcBef>
                <a:spcPts val="0"/>
              </a:spcBef>
              <a:spcAft>
                <a:spcPts val="0"/>
              </a:spcAft>
              <a:buNone/>
            </a:pPr>
            <a:r>
              <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ELSE</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BEGIN</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UPDATE Wallets</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SET    balance = balance - @how_much</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WHERE  wallet_id = @from_wallet;</a:t>
            </a:r>
            <a:endParaRPr b="1" sz="900">
              <a:solidFill>
                <a:srgbClr val="FFFFFF"/>
              </a:solidFill>
            </a:endParaRPr>
          </a:p>
          <a:p>
            <a:pPr indent="0" lvl="0" marL="0" rtl="0" algn="l">
              <a:lnSpc>
                <a:spcPct val="115000"/>
              </a:lnSpc>
              <a:spcBef>
                <a:spcPts val="0"/>
              </a:spcBef>
              <a:spcAft>
                <a:spcPts val="0"/>
              </a:spcAft>
              <a:buNone/>
            </a:pPr>
            <a:r>
              <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a:t>
            </a:r>
            <a:endParaRPr/>
          </a:p>
        </p:txBody>
      </p:sp>
      <p:sp>
        <p:nvSpPr>
          <p:cNvPr id="546" name="Google Shape;546;p38"/>
          <p:cNvSpPr txBox="1"/>
          <p:nvPr/>
        </p:nvSpPr>
        <p:spPr>
          <a:xfrm>
            <a:off x="4005150" y="1065550"/>
            <a:ext cx="4327800" cy="395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900">
                <a:solidFill>
                  <a:schemeClr val="lt1"/>
                </a:solidFill>
              </a:rPr>
              <a:t> UPDATE Wallets</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SET    balance = balance + @how_much</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WHERE  wallet_id = @to_wallet;</a:t>
            </a:r>
            <a:endParaRPr b="1" sz="900">
              <a:solidFill>
                <a:schemeClr val="lt1"/>
              </a:solidFill>
            </a:endParaRPr>
          </a:p>
          <a:p>
            <a:pPr indent="0" lvl="0" marL="0" rtl="0" algn="l">
              <a:lnSpc>
                <a:spcPct val="115000"/>
              </a:lnSpc>
              <a:spcBef>
                <a:spcPts val="0"/>
              </a:spcBef>
              <a:spcAft>
                <a:spcPts val="0"/>
              </a:spcAft>
              <a:buNone/>
            </a:pPr>
            <a:r>
              <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INSERT INTO Transactions (wallet_id, txn_type, amount, note)</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VALUES (@from_wallet, 'transfer_out', @how_much, 'Sent to other wallet');</a:t>
            </a:r>
            <a:endParaRPr b="1" sz="900">
              <a:solidFill>
                <a:schemeClr val="lt1"/>
              </a:solidFill>
            </a:endParaRPr>
          </a:p>
          <a:p>
            <a:pPr indent="0" lvl="0" marL="0" rtl="0" algn="l">
              <a:lnSpc>
                <a:spcPct val="115000"/>
              </a:lnSpc>
              <a:spcBef>
                <a:spcPts val="0"/>
              </a:spcBef>
              <a:spcAft>
                <a:spcPts val="0"/>
              </a:spcAft>
              <a:buNone/>
            </a:pPr>
            <a:r>
              <a:t/>
            </a:r>
            <a:endParaRPr sz="780">
              <a:solidFill>
                <a:schemeClr val="lt1"/>
              </a:solidFill>
            </a:endParaRPr>
          </a:p>
          <a:p>
            <a:pPr indent="0" lvl="0" marL="0" rtl="0" algn="l">
              <a:lnSpc>
                <a:spcPct val="115000"/>
              </a:lnSpc>
              <a:spcBef>
                <a:spcPts val="0"/>
              </a:spcBef>
              <a:spcAft>
                <a:spcPts val="0"/>
              </a:spcAft>
              <a:buNone/>
            </a:pPr>
            <a:r>
              <a:rPr lang="en-GB" sz="780">
                <a:solidFill>
                  <a:schemeClr val="lt1"/>
                </a:solidFill>
              </a:rPr>
              <a:t>        INSERT INTO Transactions (wallet_id, txn_type, amount, note)</a:t>
            </a:r>
            <a:endParaRPr sz="780">
              <a:solidFill>
                <a:schemeClr val="lt1"/>
              </a:solidFill>
            </a:endParaRPr>
          </a:p>
          <a:p>
            <a:pPr indent="0" lvl="0" marL="0" rtl="0" algn="l">
              <a:lnSpc>
                <a:spcPct val="115000"/>
              </a:lnSpc>
              <a:spcBef>
                <a:spcPts val="0"/>
              </a:spcBef>
              <a:spcAft>
                <a:spcPts val="0"/>
              </a:spcAft>
              <a:buNone/>
            </a:pPr>
            <a:r>
              <a:rPr lang="en-GB" sz="780">
                <a:solidFill>
                  <a:schemeClr val="lt1"/>
                </a:solidFill>
              </a:rPr>
              <a:t>        VALUES (@to_wallet, 'transfer_in', @how_much, 'Received from other wallet');</a:t>
            </a:r>
            <a:endParaRPr sz="780">
              <a:solidFill>
                <a:schemeClr val="lt1"/>
              </a:solidFill>
            </a:endParaRPr>
          </a:p>
          <a:p>
            <a:pPr indent="0" lvl="0" marL="0" rtl="0" algn="l">
              <a:lnSpc>
                <a:spcPct val="115000"/>
              </a:lnSpc>
              <a:spcBef>
                <a:spcPts val="0"/>
              </a:spcBef>
              <a:spcAft>
                <a:spcPts val="0"/>
              </a:spcAft>
              <a:buNone/>
            </a:pPr>
            <a:r>
              <a:rPr lang="en-GB" sz="780">
                <a:solidFill>
                  <a:schemeClr val="lt1"/>
                </a:solidFill>
              </a:rPr>
              <a:t>    END</a:t>
            </a:r>
            <a:endParaRPr sz="780">
              <a:solidFill>
                <a:schemeClr val="lt1"/>
              </a:solidFill>
            </a:endParaRPr>
          </a:p>
          <a:p>
            <a:pPr indent="0" lvl="0" marL="0" rtl="0" algn="l">
              <a:lnSpc>
                <a:spcPct val="115000"/>
              </a:lnSpc>
              <a:spcBef>
                <a:spcPts val="0"/>
              </a:spcBef>
              <a:spcAft>
                <a:spcPts val="0"/>
              </a:spcAft>
              <a:buClr>
                <a:srgbClr val="000000"/>
              </a:buClr>
              <a:buSzPts val="780"/>
              <a:buFont typeface="Arial"/>
              <a:buNone/>
            </a:pPr>
            <a:r>
              <a:rPr lang="en-GB" sz="780">
                <a:solidFill>
                  <a:srgbClr val="02C39A"/>
                </a:solidFill>
              </a:rPr>
              <a:t> </a:t>
            </a:r>
            <a:endParaRPr/>
          </a:p>
          <a:p>
            <a:pPr indent="0" lvl="0" marL="0" rtl="0" algn="l">
              <a:lnSpc>
                <a:spcPct val="115000"/>
              </a:lnSpc>
              <a:spcBef>
                <a:spcPts val="0"/>
              </a:spcBef>
              <a:spcAft>
                <a:spcPts val="0"/>
              </a:spcAft>
              <a:buClr>
                <a:srgbClr val="000000"/>
              </a:buClr>
              <a:buSzPts val="780"/>
              <a:buFont typeface="Arial"/>
              <a:buNone/>
            </a:pPr>
            <a:r>
              <a:t/>
            </a:r>
            <a:endParaRPr sz="1300">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39"/>
          <p:cNvSpPr/>
          <p:nvPr/>
        </p:nvSpPr>
        <p:spPr>
          <a:xfrm>
            <a:off x="457200" y="180000"/>
            <a:ext cx="8229600" cy="64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2100" u="none" cap="none" strike="noStrike">
                <a:solidFill>
                  <a:srgbClr val="02C39A"/>
                </a:solidFill>
                <a:latin typeface="Arial Black"/>
                <a:ea typeface="Arial Black"/>
                <a:cs typeface="Arial Black"/>
                <a:sym typeface="Arial Black"/>
              </a:rPr>
              <a:t>Step 9 &amp; 10: NewUser Procedure + Triggers</a:t>
            </a:r>
            <a:endParaRPr/>
          </a:p>
        </p:txBody>
      </p:sp>
      <p:sp>
        <p:nvSpPr>
          <p:cNvPr id="552" name="Google Shape;552;p39"/>
          <p:cNvSpPr/>
          <p:nvPr/>
        </p:nvSpPr>
        <p:spPr>
          <a:xfrm>
            <a:off x="130300" y="713975"/>
            <a:ext cx="8868600" cy="42909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39"/>
          <p:cNvSpPr/>
          <p:nvPr/>
        </p:nvSpPr>
        <p:spPr>
          <a:xfrm>
            <a:off x="196350" y="820000"/>
            <a:ext cx="4049100" cy="42312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770"/>
              <a:buFont typeface="Arial"/>
              <a:buNone/>
            </a:pPr>
            <a:r>
              <a:rPr b="1" i="0" lang="en-GB" sz="900" u="none" cap="none" strike="noStrike">
                <a:solidFill>
                  <a:srgbClr val="02C39A"/>
                </a:solidFill>
              </a:rPr>
              <a:t>-- PROCEDURE 5: Register a user and create their wallet</a:t>
            </a:r>
            <a:endParaRPr b="1" i="0" sz="900" u="none" cap="none" strike="noStrike">
              <a:solidFill>
                <a:srgbClr val="02C39A"/>
              </a:solidFill>
            </a:endParaRPr>
          </a:p>
          <a:p>
            <a:pPr indent="0" lvl="0" marL="0" marR="0" rtl="0" algn="l">
              <a:lnSpc>
                <a:spcPct val="115000"/>
              </a:lnSpc>
              <a:spcBef>
                <a:spcPts val="0"/>
              </a:spcBef>
              <a:spcAft>
                <a:spcPts val="0"/>
              </a:spcAft>
              <a:buClr>
                <a:srgbClr val="000000"/>
              </a:buClr>
              <a:buSzPts val="770"/>
              <a:buFont typeface="Arial"/>
              <a:buNone/>
            </a:pPr>
            <a:r>
              <a:t/>
            </a:r>
            <a:endParaRPr b="1" sz="900">
              <a:solidFill>
                <a:srgbClr val="02C39A"/>
              </a:solidFill>
            </a:endParaRPr>
          </a:p>
          <a:p>
            <a:pPr indent="0" lvl="0" marL="0" rtl="0" algn="l">
              <a:lnSpc>
                <a:spcPct val="115000"/>
              </a:lnSpc>
              <a:spcBef>
                <a:spcPts val="0"/>
              </a:spcBef>
              <a:spcAft>
                <a:spcPts val="0"/>
              </a:spcAft>
              <a:buNone/>
            </a:pPr>
            <a:r>
              <a:rPr b="1" lang="en-GB" sz="900">
                <a:solidFill>
                  <a:srgbClr val="FFFFFF"/>
                </a:solidFill>
              </a:rPr>
              <a:t>CREATE PROCEDURE NewUser</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@user_name  VARCHAR(100),</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@user_email VARCHAR(150),</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@user_phone VARCHAR(20),</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@user_pass  VARCHAR(255)</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AS</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DECLARE @new_user_id INT;</a:t>
            </a:r>
            <a:endParaRPr b="1" sz="900">
              <a:solidFill>
                <a:srgbClr val="FFFFFF"/>
              </a:solidFill>
            </a:endParaRPr>
          </a:p>
          <a:p>
            <a:pPr indent="0" lvl="0" marL="0" rtl="0" algn="l">
              <a:lnSpc>
                <a:spcPct val="115000"/>
              </a:lnSpc>
              <a:spcBef>
                <a:spcPts val="0"/>
              </a:spcBef>
              <a:spcAft>
                <a:spcPts val="0"/>
              </a:spcAft>
              <a:buNone/>
            </a:pPr>
            <a:r>
              <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INSERT INTO Users (full_name, email, phone, password)</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VALUES (@user_name, @user_email, @user_phone, @user_pass);</a:t>
            </a:r>
            <a:endParaRPr b="1" sz="900">
              <a:solidFill>
                <a:srgbClr val="FFFFFF"/>
              </a:solidFill>
            </a:endParaRPr>
          </a:p>
          <a:p>
            <a:pPr indent="0" lvl="0" marL="0" rtl="0" algn="l">
              <a:lnSpc>
                <a:spcPct val="115000"/>
              </a:lnSpc>
              <a:spcBef>
                <a:spcPts val="0"/>
              </a:spcBef>
              <a:spcAft>
                <a:spcPts val="0"/>
              </a:spcAft>
              <a:buNone/>
            </a:pPr>
            <a:r>
              <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SET @new_user_id = SCOPE_IDENTITY();</a:t>
            </a:r>
            <a:endParaRPr b="1" sz="900">
              <a:solidFill>
                <a:srgbClr val="FFFFFF"/>
              </a:solidFill>
            </a:endParaRPr>
          </a:p>
          <a:p>
            <a:pPr indent="0" lvl="0" marL="0" rtl="0" algn="l">
              <a:lnSpc>
                <a:spcPct val="115000"/>
              </a:lnSpc>
              <a:spcBef>
                <a:spcPts val="0"/>
              </a:spcBef>
              <a:spcAft>
                <a:spcPts val="0"/>
              </a:spcAft>
              <a:buNone/>
            </a:pPr>
            <a:r>
              <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INSERT INTO Wallets (user_id, balance)</a:t>
            </a:r>
            <a:endParaRPr b="1" sz="900">
              <a:solidFill>
                <a:srgbClr val="FFFFFF"/>
              </a:solidFill>
            </a:endParaRPr>
          </a:p>
          <a:p>
            <a:pPr indent="0" lvl="0" marL="0" rtl="0" algn="l">
              <a:lnSpc>
                <a:spcPct val="115000"/>
              </a:lnSpc>
              <a:spcBef>
                <a:spcPts val="0"/>
              </a:spcBef>
              <a:spcAft>
                <a:spcPts val="0"/>
              </a:spcAft>
              <a:buNone/>
            </a:pPr>
            <a:r>
              <a:rPr b="1" lang="en-GB" sz="900">
                <a:solidFill>
                  <a:srgbClr val="FFFFFF"/>
                </a:solidFill>
              </a:rPr>
              <a:t>    VALUES (@new_user_id, 0.00);</a:t>
            </a:r>
            <a:endParaRPr b="1" sz="900">
              <a:solidFill>
                <a:srgbClr val="FFFFFF"/>
              </a:solidFill>
            </a:endParaRPr>
          </a:p>
          <a:p>
            <a:pPr indent="0" lvl="0" marL="0" marR="0" rtl="0" algn="l">
              <a:lnSpc>
                <a:spcPct val="115000"/>
              </a:lnSpc>
              <a:spcBef>
                <a:spcPts val="0"/>
              </a:spcBef>
              <a:spcAft>
                <a:spcPts val="0"/>
              </a:spcAft>
              <a:buClr>
                <a:srgbClr val="000000"/>
              </a:buClr>
              <a:buSzPts val="770"/>
              <a:buFont typeface="Arial"/>
              <a:buNone/>
            </a:pPr>
            <a:r>
              <a:rPr b="1" i="0" lang="en-GB" sz="900" u="none" cap="none" strike="noStrike">
                <a:solidFill>
                  <a:srgbClr val="02C39A"/>
                </a:solidFill>
              </a:rPr>
              <a:t> </a:t>
            </a:r>
            <a:r>
              <a:rPr b="1" lang="en-GB" sz="900">
                <a:solidFill>
                  <a:srgbClr val="02C39A"/>
                </a:solidFill>
              </a:rPr>
              <a:t> </a:t>
            </a:r>
            <a:endParaRPr b="1" sz="900"/>
          </a:p>
          <a:p>
            <a:pPr indent="0" lvl="0" marL="0" rtl="0" algn="l">
              <a:lnSpc>
                <a:spcPct val="115000"/>
              </a:lnSpc>
              <a:spcBef>
                <a:spcPts val="0"/>
              </a:spcBef>
              <a:spcAft>
                <a:spcPts val="0"/>
              </a:spcAft>
              <a:buClr>
                <a:srgbClr val="000000"/>
              </a:buClr>
              <a:buSzPts val="770"/>
              <a:buFont typeface="Arial"/>
              <a:buNone/>
            </a:pPr>
            <a:r>
              <a:t/>
            </a:r>
            <a:endParaRPr b="1" sz="900"/>
          </a:p>
        </p:txBody>
      </p:sp>
      <p:sp>
        <p:nvSpPr>
          <p:cNvPr id="554" name="Google Shape;554;p39"/>
          <p:cNvSpPr txBox="1"/>
          <p:nvPr/>
        </p:nvSpPr>
        <p:spPr>
          <a:xfrm>
            <a:off x="4541400" y="840075"/>
            <a:ext cx="166500" cy="77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555" name="Google Shape;555;p39"/>
          <p:cNvSpPr txBox="1"/>
          <p:nvPr/>
        </p:nvSpPr>
        <p:spPr>
          <a:xfrm>
            <a:off x="4522900" y="850175"/>
            <a:ext cx="4401900" cy="407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900">
                <a:solidFill>
                  <a:srgbClr val="02C39A"/>
                </a:solidFill>
              </a:rPr>
              <a:t>-- TRIGGER 1: Flag transactions over PKR 50,000</a:t>
            </a:r>
            <a:endParaRPr b="1" sz="900">
              <a:solidFill>
                <a:srgbClr val="02C39A"/>
              </a:solidFill>
            </a:endParaRPr>
          </a:p>
          <a:p>
            <a:pPr indent="0" lvl="0" marL="0" rtl="0" algn="l">
              <a:lnSpc>
                <a:spcPct val="115000"/>
              </a:lnSpc>
              <a:spcBef>
                <a:spcPts val="0"/>
              </a:spcBef>
              <a:spcAft>
                <a:spcPts val="0"/>
              </a:spcAft>
              <a:buClr>
                <a:srgbClr val="000000"/>
              </a:buClr>
              <a:buSzPts val="770"/>
              <a:buFont typeface="Arial"/>
              <a:buNone/>
            </a:pPr>
            <a:r>
              <a:t/>
            </a:r>
            <a:endParaRPr b="1" sz="900">
              <a:solidFill>
                <a:srgbClr val="02C39A"/>
              </a:solidFill>
            </a:endParaRPr>
          </a:p>
          <a:p>
            <a:pPr indent="0" lvl="0" marL="0" rtl="0" algn="l">
              <a:lnSpc>
                <a:spcPct val="115000"/>
              </a:lnSpc>
              <a:spcBef>
                <a:spcPts val="0"/>
              </a:spcBef>
              <a:spcAft>
                <a:spcPts val="0"/>
              </a:spcAft>
              <a:buNone/>
            </a:pPr>
            <a:r>
              <a:rPr b="1" lang="en-GB" sz="900">
                <a:solidFill>
                  <a:schemeClr val="lt1"/>
                </a:solidFill>
              </a:rPr>
              <a:t>CREATE TRIGGER WarnLargeAmount</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ON Transactions</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AFTER INSERT</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AS</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DECLARE @amount    DECIMAL(10,2);</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DECLARE @wallet_id INT;</a:t>
            </a:r>
            <a:endParaRPr b="1" sz="900">
              <a:solidFill>
                <a:schemeClr val="lt1"/>
              </a:solidFill>
            </a:endParaRPr>
          </a:p>
          <a:p>
            <a:pPr indent="0" lvl="0" marL="0" rtl="0" algn="l">
              <a:lnSpc>
                <a:spcPct val="115000"/>
              </a:lnSpc>
              <a:spcBef>
                <a:spcPts val="0"/>
              </a:spcBef>
              <a:spcAft>
                <a:spcPts val="0"/>
              </a:spcAft>
              <a:buNone/>
            </a:pPr>
            <a:r>
              <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SELECT @amount    = amount,</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@wallet_id = wallet_id</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FROM   INSERTED;</a:t>
            </a:r>
            <a:endParaRPr b="1" sz="900">
              <a:solidFill>
                <a:schemeClr val="lt1"/>
              </a:solidFill>
            </a:endParaRPr>
          </a:p>
          <a:p>
            <a:pPr indent="0" lvl="0" marL="0" rtl="0" algn="l">
              <a:lnSpc>
                <a:spcPct val="115000"/>
              </a:lnSpc>
              <a:spcBef>
                <a:spcPts val="0"/>
              </a:spcBef>
              <a:spcAft>
                <a:spcPts val="0"/>
              </a:spcAft>
              <a:buNone/>
            </a:pPr>
            <a:r>
              <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IF @amount &gt; 50000</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INSERT INTO AuditLog (event, details)</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VALUES ('Large amount warning',</a:t>
            </a:r>
            <a:endParaRPr b="1" sz="900">
              <a:solidFill>
                <a:schemeClr val="lt1"/>
              </a:solidFill>
            </a:endParaRPr>
          </a:p>
          <a:p>
            <a:pPr indent="0" lvl="0" marL="0" rtl="0" algn="l">
              <a:lnSpc>
                <a:spcPct val="115000"/>
              </a:lnSpc>
              <a:spcBef>
                <a:spcPts val="0"/>
              </a:spcBef>
              <a:spcAft>
                <a:spcPts val="0"/>
              </a:spcAft>
              <a:buNone/>
            </a:pPr>
            <a:r>
              <a:rPr b="1" lang="en-GB" sz="900">
                <a:solidFill>
                  <a:schemeClr val="lt1"/>
                </a:solidFill>
              </a:rPr>
              <a:t>                'PKR ' + CAST(@amount AS VARCHAR) + ' on wallet ' + CAST(@wallet_id AS VARCHAR));</a:t>
            </a:r>
            <a:endParaRPr b="1" sz="900">
              <a:solidFill>
                <a:schemeClr val="lt1"/>
              </a:solidFill>
            </a:endParaRPr>
          </a:p>
          <a:p>
            <a:pPr indent="0" lvl="0" marL="0" rtl="0" algn="l">
              <a:lnSpc>
                <a:spcPct val="115000"/>
              </a:lnSpc>
              <a:spcBef>
                <a:spcPts val="0"/>
              </a:spcBef>
              <a:spcAft>
                <a:spcPts val="0"/>
              </a:spcAft>
              <a:buClr>
                <a:srgbClr val="000000"/>
              </a:buClr>
              <a:buSzPts val="770"/>
              <a:buFont typeface="Arial"/>
              <a:buNone/>
            </a:pPr>
            <a:r>
              <a:t/>
            </a:r>
            <a:endParaRPr b="1" sz="900">
              <a:solidFill>
                <a:schemeClr val="lt1"/>
              </a:solidFill>
            </a:endParaRPr>
          </a:p>
          <a:p>
            <a:pPr indent="0" lvl="0" marL="0" rtl="0" algn="l">
              <a:spcBef>
                <a:spcPts val="0"/>
              </a:spcBef>
              <a:spcAft>
                <a:spcPts val="0"/>
              </a:spcAft>
              <a:buNone/>
            </a:pPr>
            <a:r>
              <a:t/>
            </a:r>
            <a:endParaRPr sz="1300">
              <a:solidFill>
                <a:schemeClr val="lt1"/>
              </a:solidFill>
            </a:endParaRPr>
          </a:p>
        </p:txBody>
      </p:sp>
      <p:cxnSp>
        <p:nvCxnSpPr>
          <p:cNvPr id="556" name="Google Shape;556;p39"/>
          <p:cNvCxnSpPr/>
          <p:nvPr/>
        </p:nvCxnSpPr>
        <p:spPr>
          <a:xfrm flipH="1" rot="-5400000">
            <a:off x="2211250" y="2885250"/>
            <a:ext cx="4309500" cy="600"/>
          </a:xfrm>
          <a:prstGeom prst="bentConnector3">
            <a:avLst>
              <a:gd fmla="val 50000"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40"/>
          <p:cNvSpPr/>
          <p:nvPr/>
        </p:nvSpPr>
        <p:spPr>
          <a:xfrm>
            <a:off x="457200" y="180000"/>
            <a:ext cx="8229600" cy="6399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2100" u="none" cap="none" strike="noStrike">
                <a:solidFill>
                  <a:srgbClr val="02C39A"/>
                </a:solidFill>
                <a:latin typeface="Arial Black"/>
                <a:ea typeface="Arial Black"/>
                <a:cs typeface="Arial Black"/>
                <a:sym typeface="Arial Black"/>
              </a:rPr>
              <a:t>Step 9 &amp; 10: NewUser Procedure +  Triggers</a:t>
            </a:r>
            <a:endParaRPr/>
          </a:p>
        </p:txBody>
      </p:sp>
      <p:sp>
        <p:nvSpPr>
          <p:cNvPr id="562" name="Google Shape;562;p40"/>
          <p:cNvSpPr/>
          <p:nvPr/>
        </p:nvSpPr>
        <p:spPr>
          <a:xfrm>
            <a:off x="130300" y="713975"/>
            <a:ext cx="8868600" cy="26460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40"/>
          <p:cNvSpPr/>
          <p:nvPr/>
        </p:nvSpPr>
        <p:spPr>
          <a:xfrm>
            <a:off x="196350" y="820000"/>
            <a:ext cx="4049100" cy="4231200"/>
          </a:xfrm>
          <a:prstGeom prst="rect">
            <a:avLst/>
          </a:prstGeom>
          <a:noFill/>
          <a:ln>
            <a:noFill/>
          </a:ln>
        </p:spPr>
        <p:txBody>
          <a:bodyPr anchorCtr="0" anchor="t" bIns="40000" lIns="60000" spcFirstLastPara="1" rIns="60000" wrap="square" tIns="40000">
            <a:noAutofit/>
          </a:bodyPr>
          <a:lstStyle/>
          <a:p>
            <a:pPr indent="0" lvl="0" marL="0" rtl="0" algn="l">
              <a:lnSpc>
                <a:spcPct val="115000"/>
              </a:lnSpc>
              <a:spcBef>
                <a:spcPts val="0"/>
              </a:spcBef>
              <a:spcAft>
                <a:spcPts val="0"/>
              </a:spcAft>
              <a:buClr>
                <a:srgbClr val="000000"/>
              </a:buClr>
              <a:buSzPts val="770"/>
              <a:buFont typeface="Arial"/>
              <a:buNone/>
            </a:pPr>
            <a:r>
              <a:rPr b="1" lang="en-GB" sz="900">
                <a:solidFill>
                  <a:srgbClr val="02C39A"/>
                </a:solidFill>
              </a:rPr>
              <a:t>-- TRIGGER 2: Log every wallet balance change</a:t>
            </a:r>
            <a:endParaRPr b="1" sz="900">
              <a:solidFill>
                <a:srgbClr val="02C39A"/>
              </a:solidFill>
            </a:endParaRPr>
          </a:p>
          <a:p>
            <a:pPr indent="0" lvl="0" marL="0" rtl="0" algn="l">
              <a:lnSpc>
                <a:spcPct val="115000"/>
              </a:lnSpc>
              <a:spcBef>
                <a:spcPts val="0"/>
              </a:spcBef>
              <a:spcAft>
                <a:spcPts val="0"/>
              </a:spcAft>
              <a:buClr>
                <a:srgbClr val="000000"/>
              </a:buClr>
              <a:buSzPts val="770"/>
              <a:buFont typeface="Arial"/>
              <a:buNone/>
            </a:pPr>
            <a:r>
              <a:t/>
            </a:r>
            <a:endParaRPr b="1" sz="900">
              <a:solidFill>
                <a:srgbClr val="02C39A"/>
              </a:solidFill>
            </a:endParaRPr>
          </a:p>
          <a:p>
            <a:pPr indent="0" lvl="0" marL="0" rtl="0" algn="l">
              <a:lnSpc>
                <a:spcPct val="115000"/>
              </a:lnSpc>
              <a:spcBef>
                <a:spcPts val="0"/>
              </a:spcBef>
              <a:spcAft>
                <a:spcPts val="0"/>
              </a:spcAft>
              <a:buClr>
                <a:srgbClr val="000000"/>
              </a:buClr>
              <a:buSzPts val="770"/>
              <a:buFont typeface="Arial"/>
              <a:buNone/>
            </a:pPr>
            <a:r>
              <a:rPr b="1" lang="en-GB" sz="900">
                <a:solidFill>
                  <a:srgbClr val="02C39A"/>
                </a:solidFill>
              </a:rPr>
              <a:t>-- INSERTED = new values   DELETED = old values</a:t>
            </a:r>
            <a:endParaRPr b="1" sz="900">
              <a:solidFill>
                <a:srgbClr val="02C39A"/>
              </a:solidFill>
            </a:endParaRPr>
          </a:p>
          <a:p>
            <a:pPr indent="0" lvl="0" marL="0" rtl="0" algn="l">
              <a:lnSpc>
                <a:spcPct val="115000"/>
              </a:lnSpc>
              <a:spcBef>
                <a:spcPts val="0"/>
              </a:spcBef>
              <a:spcAft>
                <a:spcPts val="0"/>
              </a:spcAft>
              <a:buClr>
                <a:srgbClr val="000000"/>
              </a:buClr>
              <a:buSzPts val="770"/>
              <a:buFont typeface="Arial"/>
              <a:buNone/>
            </a:pPr>
            <a:r>
              <a:t/>
            </a:r>
            <a:endParaRPr b="1" sz="900">
              <a:solidFill>
                <a:srgbClr val="02C39A"/>
              </a:solidFill>
            </a:endParaRPr>
          </a:p>
          <a:p>
            <a:pPr indent="0" lvl="0" marL="0" rtl="0" algn="l">
              <a:lnSpc>
                <a:spcPct val="115000"/>
              </a:lnSpc>
              <a:spcBef>
                <a:spcPts val="0"/>
              </a:spcBef>
              <a:spcAft>
                <a:spcPts val="0"/>
              </a:spcAft>
              <a:buClr>
                <a:srgbClr val="000000"/>
              </a:buClr>
              <a:buSzPts val="770"/>
              <a:buFont typeface="Arial"/>
              <a:buNone/>
            </a:pPr>
            <a:r>
              <a:rPr b="1" lang="en-GB" sz="900">
                <a:solidFill>
                  <a:schemeClr val="lt1"/>
                </a:solidFill>
              </a:rPr>
              <a:t>CREATE TRIGGER RecordBalanceChange ON Wallets AFTER UPDATE AS</a:t>
            </a:r>
            <a:endParaRPr b="1" sz="900"/>
          </a:p>
          <a:p>
            <a:pPr indent="0" lvl="0" marL="0" rtl="0" algn="l">
              <a:lnSpc>
                <a:spcPct val="115000"/>
              </a:lnSpc>
              <a:spcBef>
                <a:spcPts val="0"/>
              </a:spcBef>
              <a:spcAft>
                <a:spcPts val="0"/>
              </a:spcAft>
              <a:buClr>
                <a:srgbClr val="000000"/>
              </a:buClr>
              <a:buSzPts val="770"/>
              <a:buFont typeface="Arial"/>
              <a:buNone/>
            </a:pPr>
            <a:r>
              <a:rPr b="1" lang="en-GB" sz="900">
                <a:solidFill>
                  <a:schemeClr val="lt1"/>
                </a:solidFill>
              </a:rPr>
              <a:t>BEGIN</a:t>
            </a:r>
            <a:endParaRPr b="1" sz="900"/>
          </a:p>
          <a:p>
            <a:pPr indent="0" lvl="0" marL="0" rtl="0" algn="l">
              <a:lnSpc>
                <a:spcPct val="115000"/>
              </a:lnSpc>
              <a:spcBef>
                <a:spcPts val="0"/>
              </a:spcBef>
              <a:spcAft>
                <a:spcPts val="0"/>
              </a:spcAft>
              <a:buClr>
                <a:srgbClr val="000000"/>
              </a:buClr>
              <a:buSzPts val="770"/>
              <a:buFont typeface="Arial"/>
              <a:buNone/>
            </a:pPr>
            <a:r>
              <a:rPr b="1" lang="en-GB" sz="900">
                <a:solidFill>
                  <a:schemeClr val="lt1"/>
                </a:solidFill>
              </a:rPr>
              <a:t>    INSERT INTO AuditLog (event, details)</a:t>
            </a:r>
            <a:endParaRPr b="1" sz="900"/>
          </a:p>
          <a:p>
            <a:pPr indent="0" lvl="0" marL="0" rtl="0" algn="l">
              <a:lnSpc>
                <a:spcPct val="115000"/>
              </a:lnSpc>
              <a:spcBef>
                <a:spcPts val="0"/>
              </a:spcBef>
              <a:spcAft>
                <a:spcPts val="0"/>
              </a:spcAft>
              <a:buClr>
                <a:srgbClr val="000000"/>
              </a:buClr>
              <a:buSzPts val="770"/>
              <a:buFont typeface="Arial"/>
              <a:buNone/>
            </a:pPr>
            <a:r>
              <a:rPr b="1" lang="en-GB" sz="900">
                <a:solidFill>
                  <a:schemeClr val="lt1"/>
                </a:solidFill>
              </a:rPr>
              <a:t>    SELECT 'Balance changed',</a:t>
            </a:r>
            <a:endParaRPr b="1" sz="900"/>
          </a:p>
          <a:p>
            <a:pPr indent="0" lvl="0" marL="0" rtl="0" algn="l">
              <a:lnSpc>
                <a:spcPct val="115000"/>
              </a:lnSpc>
              <a:spcBef>
                <a:spcPts val="0"/>
              </a:spcBef>
              <a:spcAft>
                <a:spcPts val="0"/>
              </a:spcAft>
              <a:buClr>
                <a:srgbClr val="000000"/>
              </a:buClr>
              <a:buSzPts val="770"/>
              <a:buFont typeface="Arial"/>
              <a:buNone/>
            </a:pPr>
            <a:r>
              <a:rPr b="1" lang="en-GB" sz="900">
                <a:solidFill>
                  <a:schemeClr val="lt1"/>
                </a:solidFill>
              </a:rPr>
              <a:t>           CONCAT('Wallet ',i.wallet_id,' was PKR ',d.balance,' now PKR ',i.balance)</a:t>
            </a:r>
            <a:endParaRPr b="1" sz="900"/>
          </a:p>
          <a:p>
            <a:pPr indent="0" lvl="0" marL="0" rtl="0" algn="l">
              <a:lnSpc>
                <a:spcPct val="115000"/>
              </a:lnSpc>
              <a:spcBef>
                <a:spcPts val="0"/>
              </a:spcBef>
              <a:spcAft>
                <a:spcPts val="0"/>
              </a:spcAft>
              <a:buClr>
                <a:srgbClr val="000000"/>
              </a:buClr>
              <a:buSzPts val="770"/>
              <a:buFont typeface="Arial"/>
              <a:buNone/>
            </a:pPr>
            <a:r>
              <a:rPr b="1" lang="en-GB" sz="900">
                <a:solidFill>
                  <a:schemeClr val="lt1"/>
                </a:solidFill>
              </a:rPr>
              <a:t>    FROM INSERTED i INNER JOIN DELETED d ON i.wallet_id = d.wallet_id;</a:t>
            </a:r>
            <a:endParaRPr b="1" sz="900"/>
          </a:p>
          <a:p>
            <a:pPr indent="0" lvl="0" marL="0" rtl="0" algn="l">
              <a:lnSpc>
                <a:spcPct val="115000"/>
              </a:lnSpc>
              <a:spcBef>
                <a:spcPts val="0"/>
              </a:spcBef>
              <a:spcAft>
                <a:spcPts val="0"/>
              </a:spcAft>
              <a:buClr>
                <a:srgbClr val="000000"/>
              </a:buClr>
              <a:buSzPts val="770"/>
              <a:buFont typeface="Arial"/>
              <a:buNone/>
            </a:pPr>
            <a:r>
              <a:rPr b="1" lang="en-GB" sz="900">
                <a:solidFill>
                  <a:schemeClr val="lt1"/>
                </a:solidFill>
              </a:rPr>
              <a:t>END;</a:t>
            </a:r>
            <a:endParaRPr b="1" sz="900"/>
          </a:p>
          <a:p>
            <a:pPr indent="0" lvl="0" marL="0" rtl="0" algn="l">
              <a:lnSpc>
                <a:spcPct val="115000"/>
              </a:lnSpc>
              <a:spcBef>
                <a:spcPts val="0"/>
              </a:spcBef>
              <a:spcAft>
                <a:spcPts val="0"/>
              </a:spcAft>
              <a:buClr>
                <a:srgbClr val="000000"/>
              </a:buClr>
              <a:buSzPts val="770"/>
              <a:buFont typeface="Arial"/>
              <a:buNone/>
            </a:pPr>
            <a:r>
              <a:rPr b="1" lang="en-GB" sz="900">
                <a:solidFill>
                  <a:schemeClr val="lt1"/>
                </a:solidFill>
              </a:rPr>
              <a:t>GO</a:t>
            </a:r>
            <a:endParaRPr b="1" sz="900">
              <a:solidFill>
                <a:srgbClr val="02C39A"/>
              </a:solidFill>
            </a:endParaRPr>
          </a:p>
          <a:p>
            <a:pPr indent="0" lvl="0" marL="0" rtl="0" algn="l">
              <a:lnSpc>
                <a:spcPct val="115000"/>
              </a:lnSpc>
              <a:spcBef>
                <a:spcPts val="0"/>
              </a:spcBef>
              <a:spcAft>
                <a:spcPts val="0"/>
              </a:spcAft>
              <a:buClr>
                <a:srgbClr val="000000"/>
              </a:buClr>
              <a:buSzPts val="770"/>
              <a:buFont typeface="Arial"/>
              <a:buNone/>
            </a:pPr>
            <a:r>
              <a:t/>
            </a:r>
            <a:endParaRPr b="1" sz="900"/>
          </a:p>
        </p:txBody>
      </p:sp>
      <p:sp>
        <p:nvSpPr>
          <p:cNvPr id="564" name="Google Shape;564;p40"/>
          <p:cNvSpPr txBox="1"/>
          <p:nvPr/>
        </p:nvSpPr>
        <p:spPr>
          <a:xfrm>
            <a:off x="4541400" y="840075"/>
            <a:ext cx="166500" cy="77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1"/>
          <p:cNvSpPr/>
          <p:nvPr/>
        </p:nvSpPr>
        <p:spPr>
          <a:xfrm>
            <a:off x="457200" y="180000"/>
            <a:ext cx="8229600" cy="64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2100" u="none" cap="none" strike="noStrike">
                <a:solidFill>
                  <a:srgbClr val="02C39A"/>
                </a:solidFill>
                <a:latin typeface="Arial Black"/>
                <a:ea typeface="Arial Black"/>
                <a:cs typeface="Arial Black"/>
                <a:sym typeface="Arial Black"/>
              </a:rPr>
              <a:t>Step 11: Testing — Direct SQL Statements</a:t>
            </a:r>
            <a:endParaRPr/>
          </a:p>
        </p:txBody>
      </p:sp>
      <p:sp>
        <p:nvSpPr>
          <p:cNvPr id="570" name="Google Shape;570;p41"/>
          <p:cNvSpPr/>
          <p:nvPr/>
        </p:nvSpPr>
        <p:spPr>
          <a:xfrm>
            <a:off x="74825" y="603000"/>
            <a:ext cx="8988600" cy="45120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1" name="Google Shape;571;p41"/>
          <p:cNvSpPr/>
          <p:nvPr/>
        </p:nvSpPr>
        <p:spPr>
          <a:xfrm>
            <a:off x="122375" y="681075"/>
            <a:ext cx="4449600" cy="44340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TEST 1: Add PKR 10,000 to Musa's wallet</a:t>
            </a:r>
            <a:endParaRPr b="1" i="0" sz="900" u="none" cap="none" strike="noStrike">
              <a:solidFill>
                <a:srgbClr val="02C39A"/>
              </a:solidFill>
            </a:endParaRPr>
          </a:p>
          <a:p>
            <a:pPr indent="0" lvl="0" marL="0" marR="0" rtl="0" algn="l">
              <a:lnSpc>
                <a:spcPct val="115000"/>
              </a:lnSpc>
              <a:spcBef>
                <a:spcPts val="0"/>
              </a:spcBef>
              <a:spcAft>
                <a:spcPts val="0"/>
              </a:spcAft>
              <a:buClr>
                <a:srgbClr val="000000"/>
              </a:buClr>
              <a:buSzPts val="780"/>
              <a:buFont typeface="Arial"/>
              <a:buNone/>
            </a:pPr>
            <a:r>
              <a:t/>
            </a:r>
            <a:endParaRPr b="1" sz="900">
              <a:solidFill>
                <a:srgbClr val="02C39A"/>
              </a:solidFill>
            </a:endParaRPr>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UPDATE Wallets SET balance = balance + 10000.00 WHERE wallet_id = 1;</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INSERT INTO Transactions (wallet_id, txn_type, amount, note)</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VALUES (1, 'credit', 10000.00, 'Test deposit for Musa');</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SELECT full_name, balance FROM ShowBalances WHERE wallet_id = 1;</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Expected balance: 95,000.00</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TEST 2: Withdraw PKR 3,000 from Musa</a:t>
            </a:r>
            <a:endParaRPr b="1" i="0" sz="900" u="none" cap="none" strike="noStrike">
              <a:solidFill>
                <a:srgbClr val="02C39A"/>
              </a:solidFill>
            </a:endParaRPr>
          </a:p>
          <a:p>
            <a:pPr indent="0" lvl="0" marL="0" marR="0" rtl="0" algn="l">
              <a:lnSpc>
                <a:spcPct val="115000"/>
              </a:lnSpc>
              <a:spcBef>
                <a:spcPts val="0"/>
              </a:spcBef>
              <a:spcAft>
                <a:spcPts val="0"/>
              </a:spcAft>
              <a:buClr>
                <a:srgbClr val="000000"/>
              </a:buClr>
              <a:buSzPts val="780"/>
              <a:buFont typeface="Arial"/>
              <a:buNone/>
            </a:pPr>
            <a:r>
              <a:t/>
            </a:r>
            <a:endParaRPr b="1" sz="900">
              <a:solidFill>
                <a:srgbClr val="02C39A"/>
              </a:solidFill>
            </a:endParaRPr>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UPDATE Wallets SET balance = balance - 3000.00 WHERE wallet_id = 1;</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INSERT INTO Transactions (wallet_id, txn_type, amount, note)</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VALUES (1, 'debit', 3000.00, 'Test withdrawal for Musa');</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SELECT full_name, balance FROM ShowBalances WHERE wallet_id = 1;</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Expected balance: 92,000.00</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TEST 3: Transfer PKR 2,000 from Musa (wallet 1) to Ahmed (wallet 2)</a:t>
            </a:r>
            <a:endParaRPr b="1" i="0" sz="900" u="none" cap="none" strike="noStrike">
              <a:solidFill>
                <a:srgbClr val="02C39A"/>
              </a:solidFill>
            </a:endParaRPr>
          </a:p>
          <a:p>
            <a:pPr indent="0" lvl="0" marL="0" marR="0" rtl="0" algn="l">
              <a:lnSpc>
                <a:spcPct val="115000"/>
              </a:lnSpc>
              <a:spcBef>
                <a:spcPts val="0"/>
              </a:spcBef>
              <a:spcAft>
                <a:spcPts val="0"/>
              </a:spcAft>
              <a:buClr>
                <a:srgbClr val="000000"/>
              </a:buClr>
              <a:buSzPts val="780"/>
              <a:buFont typeface="Arial"/>
              <a:buNone/>
            </a:pPr>
            <a:r>
              <a:t/>
            </a:r>
            <a:endParaRPr b="1" sz="900">
              <a:solidFill>
                <a:srgbClr val="02C39A"/>
              </a:solidFill>
            </a:endParaRPr>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UPDATE Wallets SET balance = balance - 2000.00 WHERE wallet_id = 1;</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UPDATE Wallets SET balance = balance + 2000.00 WHERE wallet_id = 2;</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INSERT INTO Transactions (wallet_id, txn_type, amount, note)</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VALUES (1,'transfer_out',2000.00,'Sent to Ahmed');</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INSERT INTO Transactions (wallet_id, txn_type, amount, note)</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VALUES (2,'transfer_in', 2000.00,'Received from Musa');</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FFFFFF"/>
                </a:solidFill>
              </a:rPr>
              <a:t>SELECT full_name, balance FROM ShowBalances WHERE wallet_id IN (1,2);</a:t>
            </a:r>
            <a:endParaRPr b="1" sz="900"/>
          </a:p>
          <a:p>
            <a:pPr indent="0" lvl="0" marL="0" marR="0" rtl="0" algn="l">
              <a:lnSpc>
                <a:spcPct val="115000"/>
              </a:lnSpc>
              <a:spcBef>
                <a:spcPts val="0"/>
              </a:spcBef>
              <a:spcAft>
                <a:spcPts val="0"/>
              </a:spcAft>
              <a:buClr>
                <a:srgbClr val="000000"/>
              </a:buClr>
              <a:buSzPts val="780"/>
              <a:buFont typeface="Arial"/>
              <a:buNone/>
            </a:pPr>
            <a:r>
              <a:rPr b="1" i="0" lang="en-GB" sz="900" u="none" cap="none" strike="noStrike">
                <a:solidFill>
                  <a:srgbClr val="02C39A"/>
                </a:solidFill>
              </a:rPr>
              <a:t> </a:t>
            </a:r>
            <a:endParaRPr b="1" sz="900"/>
          </a:p>
          <a:p>
            <a:pPr indent="0" lvl="0" marL="0" marR="0" rtl="0" algn="l">
              <a:lnSpc>
                <a:spcPct val="115000"/>
              </a:lnSpc>
              <a:spcBef>
                <a:spcPts val="0"/>
              </a:spcBef>
              <a:spcAft>
                <a:spcPts val="0"/>
              </a:spcAft>
              <a:buClr>
                <a:srgbClr val="000000"/>
              </a:buClr>
              <a:buSzPts val="780"/>
              <a:buFont typeface="Arial"/>
              <a:buNone/>
            </a:pPr>
            <a:r>
              <a:t/>
            </a:r>
            <a:endParaRPr b="1" sz="900"/>
          </a:p>
        </p:txBody>
      </p:sp>
      <p:sp>
        <p:nvSpPr>
          <p:cNvPr id="572" name="Google Shape;572;p41"/>
          <p:cNvSpPr txBox="1"/>
          <p:nvPr/>
        </p:nvSpPr>
        <p:spPr>
          <a:xfrm>
            <a:off x="4855825" y="723225"/>
            <a:ext cx="3884100" cy="386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900">
                <a:solidFill>
                  <a:srgbClr val="02C39A"/>
                </a:solidFill>
              </a:rPr>
              <a:t>-- TEST 4 : Large deposit to Harris -- WarnLargeAmount trigger fires</a:t>
            </a:r>
            <a:endParaRPr b="1" sz="900">
              <a:solidFill>
                <a:srgbClr val="02C39A"/>
              </a:solidFill>
            </a:endParaRPr>
          </a:p>
          <a:p>
            <a:pPr indent="0" lvl="0" marL="0" rtl="0" algn="l">
              <a:lnSpc>
                <a:spcPct val="115000"/>
              </a:lnSpc>
              <a:spcBef>
                <a:spcPts val="0"/>
              </a:spcBef>
              <a:spcAft>
                <a:spcPts val="0"/>
              </a:spcAft>
              <a:buClr>
                <a:srgbClr val="000000"/>
              </a:buClr>
              <a:buSzPts val="780"/>
              <a:buFont typeface="Arial"/>
              <a:buNone/>
            </a:pPr>
            <a:r>
              <a:t/>
            </a:r>
            <a:endParaRPr b="1" sz="900">
              <a:solidFill>
                <a:srgbClr val="02C39A"/>
              </a:solidFill>
            </a:endParaRPr>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UPDATE Wallets SET balance = balance + 75000.00 WHERE wallet_id = 8;</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INSERT INTO Transactions (wallet_id, txn_type, amount, note)</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VALUES (8, 'credit', 75000.00, 'Large test deposit');</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chemeClr val="lt1"/>
                </a:solidFill>
              </a:rPr>
              <a:t>SELECT * FROM AuditLog WHERE event = 'Large amount warning';</a:t>
            </a:r>
            <a:endParaRPr b="1" sz="900"/>
          </a:p>
          <a:p>
            <a:pPr indent="0" lvl="0" marL="0" rtl="0" algn="l">
              <a:lnSpc>
                <a:spcPct val="115000"/>
              </a:lnSpc>
              <a:spcBef>
                <a:spcPts val="0"/>
              </a:spcBef>
              <a:spcAft>
                <a:spcPts val="0"/>
              </a:spcAft>
              <a:buClr>
                <a:srgbClr val="000000"/>
              </a:buClr>
              <a:buSzPts val="780"/>
              <a:buFont typeface="Arial"/>
              <a:buNone/>
            </a:pPr>
            <a:r>
              <a:rPr b="1" lang="en-GB" sz="900">
                <a:solidFill>
                  <a:srgbClr val="02C39A"/>
                </a:solidFill>
              </a:rPr>
              <a:t>-- Expected: one row -- wallet 8, PKR 75000, added automatically</a:t>
            </a:r>
            <a:endParaRPr sz="130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2"/>
          <p:cNvSpPr/>
          <p:nvPr/>
        </p:nvSpPr>
        <p:spPr>
          <a:xfrm>
            <a:off x="457200" y="180000"/>
            <a:ext cx="8229600" cy="64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i="0" lang="en-GB" sz="2100" u="none" cap="none" strike="noStrike">
                <a:solidFill>
                  <a:srgbClr val="02C39A"/>
                </a:solidFill>
                <a:latin typeface="Arial Black"/>
                <a:ea typeface="Arial Black"/>
                <a:cs typeface="Arial Black"/>
                <a:sym typeface="Arial Black"/>
              </a:rPr>
              <a:t>Step 11: Final Checks — All Views After Testing</a:t>
            </a:r>
            <a:endParaRPr/>
          </a:p>
        </p:txBody>
      </p:sp>
      <p:sp>
        <p:nvSpPr>
          <p:cNvPr id="578" name="Google Shape;578;p42"/>
          <p:cNvSpPr/>
          <p:nvPr/>
        </p:nvSpPr>
        <p:spPr>
          <a:xfrm>
            <a:off x="148800" y="677000"/>
            <a:ext cx="8859300" cy="4198500"/>
          </a:xfrm>
          <a:prstGeom prst="rect">
            <a:avLst/>
          </a:prstGeom>
          <a:solidFill>
            <a:srgbClr val="0A1628"/>
          </a:solidFill>
          <a:ln cap="flat" cmpd="sng" w="9525">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9" name="Google Shape;579;p42"/>
          <p:cNvSpPr/>
          <p:nvPr/>
        </p:nvSpPr>
        <p:spPr>
          <a:xfrm>
            <a:off x="187125" y="741750"/>
            <a:ext cx="8000100" cy="4198500"/>
          </a:xfrm>
          <a:prstGeom prst="rect">
            <a:avLst/>
          </a:prstGeom>
          <a:noFill/>
          <a:ln>
            <a:noFill/>
          </a:ln>
        </p:spPr>
        <p:txBody>
          <a:bodyPr anchorCtr="0" anchor="t" bIns="40000" lIns="60000" spcFirstLastPara="1" rIns="60000" wrap="square" tIns="40000">
            <a:noAutofit/>
          </a:bodyPr>
          <a:lstStyle/>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TEST 5: Register Bilal and create his wallet</a:t>
            </a:r>
            <a:endParaRPr b="1" i="0" sz="100" u="none" cap="none" strike="noStrike">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t/>
            </a:r>
            <a:endParaRPr b="1" sz="100">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latin typeface="Consolas"/>
                <a:ea typeface="Consolas"/>
                <a:cs typeface="Consolas"/>
                <a:sym typeface="Consolas"/>
              </a:rPr>
              <a:t>INSERT INTO Users (full_name, email, phone, password)</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latin typeface="Consolas"/>
                <a:ea typeface="Consolas"/>
                <a:cs typeface="Consolas"/>
                <a:sym typeface="Consolas"/>
              </a:rPr>
              <a:t>VALUES ('Bilal Ahmed','bilal@payloop.pk','03110000001','mypassword');</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latin typeface="Consolas"/>
                <a:ea typeface="Consolas"/>
                <a:cs typeface="Consolas"/>
                <a:sym typeface="Consolas"/>
              </a:rPr>
              <a:t>INSERT INTO Wallets (user_id, balance) VALUES (SCOPE_IDENTITY(), 0.00);</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latin typeface="Consolas"/>
                <a:ea typeface="Consolas"/>
                <a:cs typeface="Consolas"/>
                <a:sym typeface="Consolas"/>
              </a:rPr>
              <a:t>SELECT full_name, email, balance FROM ShowBalances</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latin typeface="Consolas"/>
                <a:ea typeface="Consolas"/>
                <a:cs typeface="Consolas"/>
                <a:sym typeface="Consolas"/>
              </a:rPr>
              <a:t>WHERE full_name = 'Bilal Ahmed';</a:t>
            </a:r>
            <a:endParaRPr b="1" sz="900">
              <a:solidFill>
                <a:srgbClr val="FFFFFF"/>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Expected: Bilal appears with balance = 0.00</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FINAL CHECK 1: All wallet balances ranked by size</a:t>
            </a:r>
            <a:endParaRPr b="1" i="0" sz="100" u="none" cap="none" strike="noStrike">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t/>
            </a:r>
            <a:endParaRPr b="1" sz="100">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latin typeface="Consolas"/>
                <a:ea typeface="Consolas"/>
                <a:cs typeface="Consolas"/>
                <a:sym typeface="Consolas"/>
              </a:rPr>
              <a:t>SELECT * FROM ShowBalances ORDER BY balance DESC;</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FINAL CHECK 2: Complete transaction history, newest first</a:t>
            </a:r>
            <a:endParaRPr b="1" i="0" sz="100" u="none" cap="none" strike="noStrike">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t/>
            </a:r>
            <a:endParaRPr b="1" sz="100">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latin typeface="Consolas"/>
                <a:ea typeface="Consolas"/>
                <a:cs typeface="Consolas"/>
                <a:sym typeface="Consolas"/>
              </a:rPr>
              <a:t>SELECT * FROM ShowTransactions ORDER BY txn_date DESC;</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FINAL CHECK 3: Large transactions flagged by trigger</a:t>
            </a:r>
            <a:endParaRPr b="1" i="0" sz="100" u="none" cap="none" strike="noStrike">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t/>
            </a:r>
            <a:endParaRPr b="1" sz="100">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latin typeface="Consolas"/>
                <a:ea typeface="Consolas"/>
                <a:cs typeface="Consolas"/>
                <a:sym typeface="Consolas"/>
              </a:rPr>
              <a:t>SELECT * FROM BigTransactions;</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Expected: Harris bank transfer (80,000) + test deposit (75,000)</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 any other transaction above PKR 50,000</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FINAL CHECK 4: Merchant revenue summary</a:t>
            </a:r>
            <a:endParaRPr b="1" i="0" sz="100" u="none" cap="none" strike="noStrike">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t/>
            </a:r>
            <a:endParaRPr b="1" sz="100">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latin typeface="Consolas"/>
                <a:ea typeface="Consolas"/>
                <a:cs typeface="Consolas"/>
                <a:sym typeface="Consolas"/>
              </a:rPr>
              <a:t>SELECT * FROM MerchantTotals ORDER BY total_received DESC;</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a:t>
            </a:r>
            <a:endParaRPr b="1" sz="900"/>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02C39A"/>
                </a:solidFill>
                <a:latin typeface="Consolas"/>
                <a:ea typeface="Consolas"/>
                <a:cs typeface="Consolas"/>
                <a:sym typeface="Consolas"/>
              </a:rPr>
              <a:t>-- FINAL CHECK 5: Everything the triggers logged automatically</a:t>
            </a:r>
            <a:endParaRPr b="1" i="0" sz="100" u="none" cap="none" strike="noStrike">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t/>
            </a:r>
            <a:endParaRPr b="1" sz="100">
              <a:solidFill>
                <a:srgbClr val="02C39A"/>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rPr b="1" i="0" lang="en-GB" sz="900" u="none" cap="none" strike="noStrike">
                <a:solidFill>
                  <a:srgbClr val="FFFFFF"/>
                </a:solidFill>
                <a:latin typeface="Consolas"/>
                <a:ea typeface="Consolas"/>
                <a:cs typeface="Consolas"/>
                <a:sym typeface="Consolas"/>
              </a:rPr>
              <a:t>SELECT * FROM AuditLog ORDER BY log_date DESC;</a:t>
            </a:r>
            <a:endParaRPr b="1" i="0" sz="900" u="none" cap="none" strike="noStrike">
              <a:solidFill>
                <a:srgbClr val="FFFFFF"/>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790"/>
              <a:buFont typeface="Arial"/>
              <a:buNone/>
            </a:pPr>
            <a:r>
              <a:t/>
            </a:r>
            <a:endParaRPr b="1" sz="900">
              <a:solidFill>
                <a:srgbClr val="FFFFFF"/>
              </a:solidFill>
              <a:latin typeface="Consolas"/>
              <a:ea typeface="Consolas"/>
              <a:cs typeface="Consolas"/>
              <a:sym typeface="Consolas"/>
            </a:endParaRPr>
          </a:p>
          <a:p>
            <a:pPr indent="0" lvl="0" marL="0" rtl="0" algn="l">
              <a:lnSpc>
                <a:spcPct val="115000"/>
              </a:lnSpc>
              <a:spcBef>
                <a:spcPts val="0"/>
              </a:spcBef>
              <a:spcAft>
                <a:spcPts val="0"/>
              </a:spcAft>
              <a:buClr>
                <a:srgbClr val="000000"/>
              </a:buClr>
              <a:buSzPts val="790"/>
              <a:buFont typeface="Arial"/>
              <a:buNone/>
            </a:pPr>
            <a:r>
              <a:t/>
            </a:r>
            <a:endParaRPr b="1" sz="900">
              <a:solidFill>
                <a:srgbClr val="FFFFFF"/>
              </a:solidFill>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3"/>
          <p:cNvSpPr/>
          <p:nvPr/>
        </p:nvSpPr>
        <p:spPr>
          <a:xfrm>
            <a:off x="457200" y="180000"/>
            <a:ext cx="8229600" cy="6399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100"/>
              <a:buFont typeface="Arial"/>
              <a:buNone/>
            </a:pPr>
            <a:r>
              <a:rPr b="1" lang="en-GB" sz="2100">
                <a:solidFill>
                  <a:srgbClr val="02C39A"/>
                </a:solidFill>
                <a:latin typeface="Arial Black"/>
                <a:ea typeface="Arial Black"/>
                <a:cs typeface="Arial Black"/>
                <a:sym typeface="Arial Black"/>
              </a:rPr>
              <a:t>GUI Integration - DASHBOARD</a:t>
            </a:r>
            <a:endParaRPr/>
          </a:p>
        </p:txBody>
      </p:sp>
      <p:pic>
        <p:nvPicPr>
          <p:cNvPr id="585" name="Google Shape;585;p43" title="lv_0_20260504011255.mp4">
            <a:hlinkClick r:id="rId3"/>
          </p:cNvPr>
          <p:cNvPicPr preferRelativeResize="0"/>
          <p:nvPr/>
        </p:nvPicPr>
        <p:blipFill>
          <a:blip r:embed="rId4">
            <a:alphaModFix/>
          </a:blip>
          <a:stretch>
            <a:fillRect/>
          </a:stretch>
        </p:blipFill>
        <p:spPr>
          <a:xfrm>
            <a:off x="185175" y="683975"/>
            <a:ext cx="8739575" cy="3888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1000"/>
                                        <p:tgtEl>
                                          <p:spTgt spid="5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44"/>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Challenges &amp; Solutions</a:t>
            </a:r>
            <a:endParaRPr b="0" i="0" sz="3600" u="none" cap="none" strike="noStrike">
              <a:solidFill>
                <a:srgbClr val="02C39A"/>
              </a:solidFill>
              <a:latin typeface="Calibri"/>
              <a:ea typeface="Calibri"/>
              <a:cs typeface="Calibri"/>
              <a:sym typeface="Calibri"/>
            </a:endParaRPr>
          </a:p>
        </p:txBody>
      </p:sp>
      <p:sp>
        <p:nvSpPr>
          <p:cNvPr id="592" name="Google Shape;592;p44"/>
          <p:cNvSpPr/>
          <p:nvPr/>
        </p:nvSpPr>
        <p:spPr>
          <a:xfrm>
            <a:off x="457200" y="1188720"/>
            <a:ext cx="8229600" cy="64008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44"/>
          <p:cNvSpPr/>
          <p:nvPr/>
        </p:nvSpPr>
        <p:spPr>
          <a:xfrm>
            <a:off x="731520" y="1280160"/>
            <a:ext cx="109728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100"/>
              <a:buFont typeface="Calibri"/>
              <a:buNone/>
            </a:pPr>
            <a:r>
              <a:rPr b="1" i="0" lang="en-GB" sz="1100" u="none" cap="none" strike="noStrike">
                <a:solidFill>
                  <a:srgbClr val="028090"/>
                </a:solidFill>
                <a:latin typeface="Calibri"/>
                <a:ea typeface="Calibri"/>
                <a:cs typeface="Calibri"/>
                <a:sym typeface="Calibri"/>
              </a:rPr>
              <a:t>Challenge:</a:t>
            </a:r>
            <a:endParaRPr b="0" i="0" sz="1100" u="none" cap="none" strike="noStrike">
              <a:solidFill>
                <a:schemeClr val="dk1"/>
              </a:solidFill>
              <a:latin typeface="Calibri"/>
              <a:ea typeface="Calibri"/>
              <a:cs typeface="Calibri"/>
              <a:sym typeface="Calibri"/>
            </a:endParaRPr>
          </a:p>
        </p:txBody>
      </p:sp>
      <p:sp>
        <p:nvSpPr>
          <p:cNvPr id="594" name="Google Shape;594;p44"/>
          <p:cNvSpPr/>
          <p:nvPr/>
        </p:nvSpPr>
        <p:spPr>
          <a:xfrm>
            <a:off x="1920240" y="1280160"/>
            <a:ext cx="64008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dk1"/>
                </a:solidFill>
                <a:latin typeface="Calibri"/>
                <a:ea typeface="Calibri"/>
                <a:cs typeface="Calibri"/>
                <a:sym typeface="Calibri"/>
              </a:rPr>
              <a:t>Maintaining Atomicity</a:t>
            </a:r>
            <a:endParaRPr b="1" i="0" sz="1300" u="none" cap="none" strike="noStrike">
              <a:solidFill>
                <a:schemeClr val="dk1"/>
              </a:solidFill>
              <a:latin typeface="Calibri"/>
              <a:ea typeface="Calibri"/>
              <a:cs typeface="Calibri"/>
              <a:sym typeface="Calibri"/>
            </a:endParaRPr>
          </a:p>
        </p:txBody>
      </p:sp>
      <p:sp>
        <p:nvSpPr>
          <p:cNvPr id="595" name="Google Shape;595;p44"/>
          <p:cNvSpPr/>
          <p:nvPr/>
        </p:nvSpPr>
        <p:spPr>
          <a:xfrm>
            <a:off x="731520" y="1554480"/>
            <a:ext cx="109728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C39A"/>
              </a:buClr>
              <a:buSzPts val="1100"/>
              <a:buFont typeface="Calibri"/>
              <a:buNone/>
            </a:pPr>
            <a:r>
              <a:rPr b="1" i="0" lang="en-GB" sz="1100" u="none" cap="none" strike="noStrike">
                <a:solidFill>
                  <a:srgbClr val="02C39A"/>
                </a:solidFill>
                <a:latin typeface="Calibri"/>
                <a:ea typeface="Calibri"/>
                <a:cs typeface="Calibri"/>
                <a:sym typeface="Calibri"/>
              </a:rPr>
              <a:t>Solution:</a:t>
            </a:r>
            <a:endParaRPr b="0" i="0" sz="1100" u="none" cap="none" strike="noStrike">
              <a:solidFill>
                <a:schemeClr val="dk1"/>
              </a:solidFill>
              <a:latin typeface="Calibri"/>
              <a:ea typeface="Calibri"/>
              <a:cs typeface="Calibri"/>
              <a:sym typeface="Calibri"/>
            </a:endParaRPr>
          </a:p>
        </p:txBody>
      </p:sp>
      <p:sp>
        <p:nvSpPr>
          <p:cNvPr id="596" name="Google Shape;596;p44"/>
          <p:cNvSpPr/>
          <p:nvPr/>
        </p:nvSpPr>
        <p:spPr>
          <a:xfrm>
            <a:off x="1920240" y="1554480"/>
            <a:ext cx="64008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0" lang="en-GB" sz="1300" u="none" cap="none" strike="noStrike">
                <a:solidFill>
                  <a:schemeClr val="dk1"/>
                </a:solidFill>
                <a:latin typeface="Calibri"/>
                <a:ea typeface="Calibri"/>
                <a:cs typeface="Calibri"/>
                <a:sym typeface="Calibri"/>
              </a:rPr>
              <a:t>Used stored procedures to group related operations</a:t>
            </a:r>
            <a:endParaRPr b="1" i="0" sz="1300" u="none" cap="none" strike="noStrike">
              <a:solidFill>
                <a:schemeClr val="dk1"/>
              </a:solidFill>
              <a:latin typeface="Calibri"/>
              <a:ea typeface="Calibri"/>
              <a:cs typeface="Calibri"/>
              <a:sym typeface="Calibri"/>
            </a:endParaRPr>
          </a:p>
        </p:txBody>
      </p:sp>
      <p:sp>
        <p:nvSpPr>
          <p:cNvPr id="597" name="Google Shape;597;p44"/>
          <p:cNvSpPr/>
          <p:nvPr/>
        </p:nvSpPr>
        <p:spPr>
          <a:xfrm>
            <a:off x="457200" y="1874520"/>
            <a:ext cx="8229600" cy="64008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44"/>
          <p:cNvSpPr/>
          <p:nvPr/>
        </p:nvSpPr>
        <p:spPr>
          <a:xfrm>
            <a:off x="731520" y="1965960"/>
            <a:ext cx="109728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100"/>
              <a:buFont typeface="Calibri"/>
              <a:buNone/>
            </a:pPr>
            <a:r>
              <a:rPr b="1" i="0" lang="en-GB" sz="1100" u="none" cap="none" strike="noStrike">
                <a:solidFill>
                  <a:srgbClr val="028090"/>
                </a:solidFill>
                <a:latin typeface="Calibri"/>
                <a:ea typeface="Calibri"/>
                <a:cs typeface="Calibri"/>
                <a:sym typeface="Calibri"/>
              </a:rPr>
              <a:t>Challenge:</a:t>
            </a:r>
            <a:endParaRPr b="0" i="0" sz="1100" u="none" cap="none" strike="noStrike">
              <a:solidFill>
                <a:schemeClr val="dk1"/>
              </a:solidFill>
              <a:latin typeface="Calibri"/>
              <a:ea typeface="Calibri"/>
              <a:cs typeface="Calibri"/>
              <a:sym typeface="Calibri"/>
            </a:endParaRPr>
          </a:p>
        </p:txBody>
      </p:sp>
      <p:sp>
        <p:nvSpPr>
          <p:cNvPr id="599" name="Google Shape;599;p44"/>
          <p:cNvSpPr/>
          <p:nvPr/>
        </p:nvSpPr>
        <p:spPr>
          <a:xfrm>
            <a:off x="1920240" y="1965960"/>
            <a:ext cx="64008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dk1"/>
                </a:solidFill>
                <a:latin typeface="Calibri"/>
                <a:ea typeface="Calibri"/>
                <a:cs typeface="Calibri"/>
                <a:sym typeface="Calibri"/>
              </a:rPr>
              <a:t>Preventing Overdrafts</a:t>
            </a:r>
            <a:endParaRPr b="1" i="0" sz="1300" u="none" cap="none" strike="noStrike">
              <a:solidFill>
                <a:schemeClr val="dk1"/>
              </a:solidFill>
              <a:latin typeface="Calibri"/>
              <a:ea typeface="Calibri"/>
              <a:cs typeface="Calibri"/>
              <a:sym typeface="Calibri"/>
            </a:endParaRPr>
          </a:p>
        </p:txBody>
      </p:sp>
      <p:sp>
        <p:nvSpPr>
          <p:cNvPr id="600" name="Google Shape;600;p44"/>
          <p:cNvSpPr/>
          <p:nvPr/>
        </p:nvSpPr>
        <p:spPr>
          <a:xfrm>
            <a:off x="731520" y="2240280"/>
            <a:ext cx="109728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C39A"/>
              </a:buClr>
              <a:buSzPts val="1100"/>
              <a:buFont typeface="Calibri"/>
              <a:buNone/>
            </a:pPr>
            <a:r>
              <a:rPr b="1" i="0" lang="en-GB" sz="1100" u="none" cap="none" strike="noStrike">
                <a:solidFill>
                  <a:srgbClr val="02C39A"/>
                </a:solidFill>
                <a:latin typeface="Calibri"/>
                <a:ea typeface="Calibri"/>
                <a:cs typeface="Calibri"/>
                <a:sym typeface="Calibri"/>
              </a:rPr>
              <a:t>Solution:</a:t>
            </a:r>
            <a:endParaRPr b="0" i="0" sz="1100" u="none" cap="none" strike="noStrike">
              <a:solidFill>
                <a:schemeClr val="dk1"/>
              </a:solidFill>
              <a:latin typeface="Calibri"/>
              <a:ea typeface="Calibri"/>
              <a:cs typeface="Calibri"/>
              <a:sym typeface="Calibri"/>
            </a:endParaRPr>
          </a:p>
        </p:txBody>
      </p:sp>
      <p:sp>
        <p:nvSpPr>
          <p:cNvPr id="601" name="Google Shape;601;p44"/>
          <p:cNvSpPr/>
          <p:nvPr/>
        </p:nvSpPr>
        <p:spPr>
          <a:xfrm>
            <a:off x="1920240" y="2240280"/>
            <a:ext cx="64008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0" lang="en-GB" sz="1300" u="none" cap="none" strike="noStrike">
                <a:solidFill>
                  <a:schemeClr val="dk1"/>
                </a:solidFill>
                <a:latin typeface="Calibri"/>
                <a:ea typeface="Calibri"/>
                <a:cs typeface="Calibri"/>
                <a:sym typeface="Calibri"/>
              </a:rPr>
              <a:t>CHECK constraints + balance validation in procedures</a:t>
            </a:r>
            <a:endParaRPr b="1" i="0" sz="1300" u="none" cap="none" strike="noStrike">
              <a:solidFill>
                <a:schemeClr val="dk1"/>
              </a:solidFill>
              <a:latin typeface="Calibri"/>
              <a:ea typeface="Calibri"/>
              <a:cs typeface="Calibri"/>
              <a:sym typeface="Calibri"/>
            </a:endParaRPr>
          </a:p>
        </p:txBody>
      </p:sp>
      <p:sp>
        <p:nvSpPr>
          <p:cNvPr id="602" name="Google Shape;602;p44"/>
          <p:cNvSpPr/>
          <p:nvPr/>
        </p:nvSpPr>
        <p:spPr>
          <a:xfrm>
            <a:off x="457200" y="2560320"/>
            <a:ext cx="8229600" cy="64008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4"/>
          <p:cNvSpPr/>
          <p:nvPr/>
        </p:nvSpPr>
        <p:spPr>
          <a:xfrm>
            <a:off x="731520" y="2651760"/>
            <a:ext cx="109728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100"/>
              <a:buFont typeface="Calibri"/>
              <a:buNone/>
            </a:pPr>
            <a:r>
              <a:rPr b="1" i="0" lang="en-GB" sz="1100" u="none" cap="none" strike="noStrike">
                <a:solidFill>
                  <a:srgbClr val="028090"/>
                </a:solidFill>
                <a:latin typeface="Calibri"/>
                <a:ea typeface="Calibri"/>
                <a:cs typeface="Calibri"/>
                <a:sym typeface="Calibri"/>
              </a:rPr>
              <a:t>Challenge:</a:t>
            </a:r>
            <a:endParaRPr b="0" i="0" sz="1100" u="none" cap="none" strike="noStrike">
              <a:solidFill>
                <a:schemeClr val="dk1"/>
              </a:solidFill>
              <a:latin typeface="Calibri"/>
              <a:ea typeface="Calibri"/>
              <a:cs typeface="Calibri"/>
              <a:sym typeface="Calibri"/>
            </a:endParaRPr>
          </a:p>
        </p:txBody>
      </p:sp>
      <p:sp>
        <p:nvSpPr>
          <p:cNvPr id="604" name="Google Shape;604;p44"/>
          <p:cNvSpPr/>
          <p:nvPr/>
        </p:nvSpPr>
        <p:spPr>
          <a:xfrm>
            <a:off x="1920240" y="2651760"/>
            <a:ext cx="64008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dk1"/>
                </a:solidFill>
                <a:latin typeface="Calibri"/>
                <a:ea typeface="Calibri"/>
                <a:cs typeface="Calibri"/>
                <a:sym typeface="Calibri"/>
              </a:rPr>
              <a:t>Ensuring Consistency</a:t>
            </a:r>
            <a:endParaRPr b="1" i="0" sz="1300" u="none" cap="none" strike="noStrike">
              <a:solidFill>
                <a:schemeClr val="dk1"/>
              </a:solidFill>
              <a:latin typeface="Calibri"/>
              <a:ea typeface="Calibri"/>
              <a:cs typeface="Calibri"/>
              <a:sym typeface="Calibri"/>
            </a:endParaRPr>
          </a:p>
        </p:txBody>
      </p:sp>
      <p:sp>
        <p:nvSpPr>
          <p:cNvPr id="605" name="Google Shape;605;p44"/>
          <p:cNvSpPr/>
          <p:nvPr/>
        </p:nvSpPr>
        <p:spPr>
          <a:xfrm>
            <a:off x="731520" y="2926080"/>
            <a:ext cx="109728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C39A"/>
              </a:buClr>
              <a:buSzPts val="1100"/>
              <a:buFont typeface="Calibri"/>
              <a:buNone/>
            </a:pPr>
            <a:r>
              <a:rPr b="1" i="0" lang="en-GB" sz="1100" u="none" cap="none" strike="noStrike">
                <a:solidFill>
                  <a:srgbClr val="02C39A"/>
                </a:solidFill>
                <a:latin typeface="Calibri"/>
                <a:ea typeface="Calibri"/>
                <a:cs typeface="Calibri"/>
                <a:sym typeface="Calibri"/>
              </a:rPr>
              <a:t>Solution:</a:t>
            </a:r>
            <a:endParaRPr b="0" i="0" sz="1100" u="none" cap="none" strike="noStrike">
              <a:solidFill>
                <a:schemeClr val="dk1"/>
              </a:solidFill>
              <a:latin typeface="Calibri"/>
              <a:ea typeface="Calibri"/>
              <a:cs typeface="Calibri"/>
              <a:sym typeface="Calibri"/>
            </a:endParaRPr>
          </a:p>
        </p:txBody>
      </p:sp>
      <p:sp>
        <p:nvSpPr>
          <p:cNvPr id="606" name="Google Shape;606;p44"/>
          <p:cNvSpPr/>
          <p:nvPr/>
        </p:nvSpPr>
        <p:spPr>
          <a:xfrm>
            <a:off x="1920240" y="2926080"/>
            <a:ext cx="64008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0" lang="en-GB" sz="1300" u="none" cap="none" strike="noStrike">
                <a:solidFill>
                  <a:schemeClr val="dk1"/>
                </a:solidFill>
                <a:latin typeface="Calibri"/>
                <a:ea typeface="Calibri"/>
                <a:cs typeface="Calibri"/>
                <a:sym typeface="Calibri"/>
              </a:rPr>
              <a:t>Foreign key constraints enforce referential integrity</a:t>
            </a:r>
            <a:endParaRPr b="1" i="0" sz="1300" u="none" cap="none" strike="noStrike">
              <a:solidFill>
                <a:schemeClr val="dk1"/>
              </a:solidFill>
              <a:latin typeface="Calibri"/>
              <a:ea typeface="Calibri"/>
              <a:cs typeface="Calibri"/>
              <a:sym typeface="Calibri"/>
            </a:endParaRPr>
          </a:p>
        </p:txBody>
      </p:sp>
      <p:sp>
        <p:nvSpPr>
          <p:cNvPr id="607" name="Google Shape;607;p44"/>
          <p:cNvSpPr/>
          <p:nvPr/>
        </p:nvSpPr>
        <p:spPr>
          <a:xfrm>
            <a:off x="457200" y="3246120"/>
            <a:ext cx="8229600" cy="64008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p:txBody>
      </p:sp>
      <p:sp>
        <p:nvSpPr>
          <p:cNvPr id="608" name="Google Shape;608;p44"/>
          <p:cNvSpPr/>
          <p:nvPr/>
        </p:nvSpPr>
        <p:spPr>
          <a:xfrm>
            <a:off x="731520" y="3337560"/>
            <a:ext cx="109728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100"/>
              <a:buFont typeface="Calibri"/>
              <a:buNone/>
            </a:pPr>
            <a:r>
              <a:rPr b="1" i="0" lang="en-GB" sz="1100" u="none" cap="none" strike="noStrike">
                <a:solidFill>
                  <a:srgbClr val="028090"/>
                </a:solidFill>
                <a:latin typeface="Calibri"/>
                <a:ea typeface="Calibri"/>
                <a:cs typeface="Calibri"/>
                <a:sym typeface="Calibri"/>
              </a:rPr>
              <a:t>Challenge:</a:t>
            </a:r>
            <a:endParaRPr b="0" i="0" sz="1100" u="none" cap="none" strike="noStrike">
              <a:solidFill>
                <a:schemeClr val="dk1"/>
              </a:solidFill>
              <a:latin typeface="Calibri"/>
              <a:ea typeface="Calibri"/>
              <a:cs typeface="Calibri"/>
              <a:sym typeface="Calibri"/>
            </a:endParaRPr>
          </a:p>
        </p:txBody>
      </p:sp>
      <p:sp>
        <p:nvSpPr>
          <p:cNvPr id="609" name="Google Shape;609;p44"/>
          <p:cNvSpPr/>
          <p:nvPr/>
        </p:nvSpPr>
        <p:spPr>
          <a:xfrm>
            <a:off x="1920240" y="3337560"/>
            <a:ext cx="64008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dk1"/>
                </a:solidFill>
                <a:latin typeface="Calibri"/>
                <a:ea typeface="Calibri"/>
                <a:cs typeface="Calibri"/>
                <a:sym typeface="Calibri"/>
              </a:rPr>
              <a:t>Schema Normalization</a:t>
            </a:r>
            <a:endParaRPr b="1" i="0" sz="1300" u="none" cap="none" strike="noStrike">
              <a:solidFill>
                <a:schemeClr val="dk1"/>
              </a:solidFill>
              <a:latin typeface="Calibri"/>
              <a:ea typeface="Calibri"/>
              <a:cs typeface="Calibri"/>
              <a:sym typeface="Calibri"/>
            </a:endParaRPr>
          </a:p>
        </p:txBody>
      </p:sp>
      <p:sp>
        <p:nvSpPr>
          <p:cNvPr id="610" name="Google Shape;610;p44"/>
          <p:cNvSpPr/>
          <p:nvPr/>
        </p:nvSpPr>
        <p:spPr>
          <a:xfrm>
            <a:off x="731520" y="3611880"/>
            <a:ext cx="109728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C39A"/>
              </a:buClr>
              <a:buSzPts val="1100"/>
              <a:buFont typeface="Calibri"/>
              <a:buNone/>
            </a:pPr>
            <a:r>
              <a:rPr b="1" i="0" lang="en-GB" sz="1100" u="none" cap="none" strike="noStrike">
                <a:solidFill>
                  <a:srgbClr val="02C39A"/>
                </a:solidFill>
                <a:latin typeface="Calibri"/>
                <a:ea typeface="Calibri"/>
                <a:cs typeface="Calibri"/>
                <a:sym typeface="Calibri"/>
              </a:rPr>
              <a:t>Solution:</a:t>
            </a:r>
            <a:endParaRPr b="0" i="0" sz="1100" u="none" cap="none" strike="noStrike">
              <a:solidFill>
                <a:schemeClr val="dk1"/>
              </a:solidFill>
              <a:latin typeface="Calibri"/>
              <a:ea typeface="Calibri"/>
              <a:cs typeface="Calibri"/>
              <a:sym typeface="Calibri"/>
            </a:endParaRPr>
          </a:p>
        </p:txBody>
      </p:sp>
      <p:sp>
        <p:nvSpPr>
          <p:cNvPr id="611" name="Google Shape;611;p44"/>
          <p:cNvSpPr/>
          <p:nvPr/>
        </p:nvSpPr>
        <p:spPr>
          <a:xfrm>
            <a:off x="1920240" y="3611880"/>
            <a:ext cx="64008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0" lang="en-GB" sz="1300" u="none" cap="none" strike="noStrike">
                <a:solidFill>
                  <a:schemeClr val="dk1"/>
                </a:solidFill>
                <a:latin typeface="Calibri"/>
                <a:ea typeface="Calibri"/>
                <a:cs typeface="Calibri"/>
                <a:sym typeface="Calibri"/>
              </a:rPr>
              <a:t>Followed 3NF rules, eliminated redundant data</a:t>
            </a:r>
            <a:endParaRPr b="1" i="0" sz="1300" u="none" cap="none" strike="noStrike">
              <a:solidFill>
                <a:schemeClr val="dk1"/>
              </a:solidFill>
              <a:latin typeface="Calibri"/>
              <a:ea typeface="Calibri"/>
              <a:cs typeface="Calibri"/>
              <a:sym typeface="Calibri"/>
            </a:endParaRPr>
          </a:p>
        </p:txBody>
      </p:sp>
      <p:sp>
        <p:nvSpPr>
          <p:cNvPr id="612" name="Google Shape;612;p44"/>
          <p:cNvSpPr/>
          <p:nvPr/>
        </p:nvSpPr>
        <p:spPr>
          <a:xfrm>
            <a:off x="457200" y="3931920"/>
            <a:ext cx="8229600" cy="64008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44"/>
          <p:cNvSpPr/>
          <p:nvPr/>
        </p:nvSpPr>
        <p:spPr>
          <a:xfrm>
            <a:off x="731520" y="4023360"/>
            <a:ext cx="109728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100"/>
              <a:buFont typeface="Calibri"/>
              <a:buNone/>
            </a:pPr>
            <a:r>
              <a:rPr b="1" i="0" lang="en-GB" sz="1100" u="none" cap="none" strike="noStrike">
                <a:solidFill>
                  <a:srgbClr val="028090"/>
                </a:solidFill>
                <a:latin typeface="Calibri"/>
                <a:ea typeface="Calibri"/>
                <a:cs typeface="Calibri"/>
                <a:sym typeface="Calibri"/>
              </a:rPr>
              <a:t>Challenge:</a:t>
            </a:r>
            <a:endParaRPr b="0" i="0" sz="1100" u="none" cap="none" strike="noStrike">
              <a:solidFill>
                <a:schemeClr val="dk1"/>
              </a:solidFill>
              <a:latin typeface="Calibri"/>
              <a:ea typeface="Calibri"/>
              <a:cs typeface="Calibri"/>
              <a:sym typeface="Calibri"/>
            </a:endParaRPr>
          </a:p>
        </p:txBody>
      </p:sp>
      <p:sp>
        <p:nvSpPr>
          <p:cNvPr id="614" name="Google Shape;614;p44"/>
          <p:cNvSpPr/>
          <p:nvPr/>
        </p:nvSpPr>
        <p:spPr>
          <a:xfrm>
            <a:off x="1920240" y="4023360"/>
            <a:ext cx="64008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C3E50"/>
              </a:buClr>
              <a:buSzPts val="1100"/>
              <a:buFont typeface="Calibri"/>
              <a:buNone/>
            </a:pPr>
            <a:r>
              <a:rPr b="1" i="0" lang="en-GB" sz="1300" u="none" cap="none" strike="noStrike">
                <a:solidFill>
                  <a:schemeClr val="dk1"/>
                </a:solidFill>
                <a:latin typeface="Calibri"/>
                <a:ea typeface="Calibri"/>
                <a:cs typeface="Calibri"/>
                <a:sym typeface="Calibri"/>
              </a:rPr>
              <a:t>Clean Transaction History</a:t>
            </a:r>
            <a:endParaRPr b="1" i="0" sz="1300" u="none" cap="none" strike="noStrike">
              <a:solidFill>
                <a:schemeClr val="dk1"/>
              </a:solidFill>
              <a:latin typeface="Calibri"/>
              <a:ea typeface="Calibri"/>
              <a:cs typeface="Calibri"/>
              <a:sym typeface="Calibri"/>
            </a:endParaRPr>
          </a:p>
        </p:txBody>
      </p:sp>
      <p:sp>
        <p:nvSpPr>
          <p:cNvPr id="615" name="Google Shape;615;p44"/>
          <p:cNvSpPr/>
          <p:nvPr/>
        </p:nvSpPr>
        <p:spPr>
          <a:xfrm>
            <a:off x="731520" y="4297680"/>
            <a:ext cx="109728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C39A"/>
              </a:buClr>
              <a:buSzPts val="1100"/>
              <a:buFont typeface="Calibri"/>
              <a:buNone/>
            </a:pPr>
            <a:r>
              <a:rPr b="1" i="0" lang="en-GB" sz="1100" u="none" cap="none" strike="noStrike">
                <a:solidFill>
                  <a:srgbClr val="02C39A"/>
                </a:solidFill>
                <a:latin typeface="Calibri"/>
                <a:ea typeface="Calibri"/>
                <a:cs typeface="Calibri"/>
                <a:sym typeface="Calibri"/>
              </a:rPr>
              <a:t>Solution:</a:t>
            </a:r>
            <a:endParaRPr b="0" i="0" sz="1100" u="none" cap="none" strike="noStrike">
              <a:solidFill>
                <a:schemeClr val="dk1"/>
              </a:solidFill>
              <a:latin typeface="Calibri"/>
              <a:ea typeface="Calibri"/>
              <a:cs typeface="Calibri"/>
              <a:sym typeface="Calibri"/>
            </a:endParaRPr>
          </a:p>
        </p:txBody>
      </p:sp>
      <p:sp>
        <p:nvSpPr>
          <p:cNvPr id="616" name="Google Shape;616;p44"/>
          <p:cNvSpPr/>
          <p:nvPr/>
        </p:nvSpPr>
        <p:spPr>
          <a:xfrm>
            <a:off x="1920240" y="4297680"/>
            <a:ext cx="64008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1" i="0" lang="en-GB" sz="1300" u="none" cap="none" strike="noStrike">
                <a:solidFill>
                  <a:schemeClr val="dk1"/>
                </a:solidFill>
                <a:latin typeface="Calibri"/>
                <a:ea typeface="Calibri"/>
                <a:cs typeface="Calibri"/>
                <a:sym typeface="Calibri"/>
              </a:rPr>
              <a:t>Single transactions table with type field (credit/debit)</a:t>
            </a:r>
            <a:endParaRPr b="1" i="0" sz="13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45"/>
          <p:cNvSpPr/>
          <p:nvPr/>
        </p:nvSpPr>
        <p:spPr>
          <a:xfrm>
            <a:off x="457200" y="36576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3600"/>
              <a:buFont typeface="Arial Black"/>
              <a:buNone/>
            </a:pPr>
            <a:r>
              <a:rPr b="1" i="0" lang="en-GB" sz="3600" u="none" cap="none" strike="noStrike">
                <a:solidFill>
                  <a:srgbClr val="02C39A"/>
                </a:solidFill>
                <a:latin typeface="Arial Black"/>
                <a:ea typeface="Arial Black"/>
                <a:cs typeface="Arial Black"/>
                <a:sym typeface="Arial Black"/>
              </a:rPr>
              <a:t>Future Improvements</a:t>
            </a:r>
            <a:endParaRPr b="0" i="0" sz="3600" u="none" cap="none" strike="noStrike">
              <a:solidFill>
                <a:srgbClr val="02C39A"/>
              </a:solidFill>
              <a:latin typeface="Calibri"/>
              <a:ea typeface="Calibri"/>
              <a:cs typeface="Calibri"/>
              <a:sym typeface="Calibri"/>
            </a:endParaRPr>
          </a:p>
        </p:txBody>
      </p:sp>
      <p:pic>
        <p:nvPicPr>
          <p:cNvPr descr="preencoded.png" id="623" name="Google Shape;623;p45"/>
          <p:cNvPicPr preferRelativeResize="0"/>
          <p:nvPr/>
        </p:nvPicPr>
        <p:blipFill rotWithShape="1">
          <a:blip r:embed="rId3">
            <a:alphaModFix/>
          </a:blip>
          <a:srcRect b="0" l="0" r="0" t="0"/>
          <a:stretch/>
        </p:blipFill>
        <p:spPr>
          <a:xfrm>
            <a:off x="7772400" y="320040"/>
            <a:ext cx="640080" cy="640080"/>
          </a:xfrm>
          <a:prstGeom prst="rect">
            <a:avLst/>
          </a:prstGeom>
          <a:noFill/>
          <a:ln>
            <a:noFill/>
          </a:ln>
        </p:spPr>
      </p:pic>
      <p:sp>
        <p:nvSpPr>
          <p:cNvPr id="624" name="Google Shape;624;p45"/>
          <p:cNvSpPr/>
          <p:nvPr/>
        </p:nvSpPr>
        <p:spPr>
          <a:xfrm>
            <a:off x="457200" y="1097280"/>
            <a:ext cx="39319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800"/>
              <a:buFont typeface="Calibri"/>
              <a:buNone/>
            </a:pPr>
            <a:r>
              <a:rPr b="1" i="0" lang="en-GB" sz="1800" u="none" cap="none" strike="noStrike">
                <a:solidFill>
                  <a:srgbClr val="028090"/>
                </a:solidFill>
                <a:latin typeface="Calibri"/>
                <a:ea typeface="Calibri"/>
                <a:cs typeface="Calibri"/>
                <a:sym typeface="Calibri"/>
              </a:rPr>
              <a:t>Short-Term</a:t>
            </a:r>
            <a:endParaRPr b="0" i="0" sz="1800" u="none" cap="none" strike="noStrike">
              <a:solidFill>
                <a:schemeClr val="dk1"/>
              </a:solidFill>
              <a:latin typeface="Calibri"/>
              <a:ea typeface="Calibri"/>
              <a:cs typeface="Calibri"/>
              <a:sym typeface="Calibri"/>
            </a:endParaRPr>
          </a:p>
        </p:txBody>
      </p:sp>
      <p:sp>
        <p:nvSpPr>
          <p:cNvPr id="625" name="Google Shape;625;p45"/>
          <p:cNvSpPr/>
          <p:nvPr/>
        </p:nvSpPr>
        <p:spPr>
          <a:xfrm>
            <a:off x="731520" y="1463040"/>
            <a:ext cx="3657600" cy="109728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66666"/>
              </a:lnSpc>
              <a:spcBef>
                <a:spcPts val="0"/>
              </a:spcBef>
              <a:spcAft>
                <a:spcPts val="0"/>
              </a:spcAft>
              <a:buClr>
                <a:schemeClr val="lt1"/>
              </a:buClr>
              <a:buSzPts val="1300"/>
              <a:buFont typeface="Calibri"/>
              <a:buChar char="•"/>
            </a:pPr>
            <a:r>
              <a:rPr b="1" i="0" lang="en-GB" sz="1300" u="none" cap="none" strike="noStrike">
                <a:solidFill>
                  <a:schemeClr val="lt1"/>
                </a:solidFill>
                <a:latin typeface="Calibri"/>
                <a:ea typeface="Calibri"/>
                <a:cs typeface="Calibri"/>
                <a:sym typeface="Calibri"/>
              </a:rPr>
              <a:t>START TRANSACTION for critical operations</a:t>
            </a:r>
            <a:endParaRPr b="1" i="0" sz="1300" u="none" cap="none" strike="noStrike">
              <a:solidFill>
                <a:schemeClr val="lt1"/>
              </a:solidFill>
              <a:latin typeface="Calibri"/>
              <a:ea typeface="Calibri"/>
              <a:cs typeface="Calibri"/>
              <a:sym typeface="Calibri"/>
            </a:endParaRPr>
          </a:p>
          <a:p>
            <a:pPr indent="-342900" lvl="0" marL="342900" marR="0" rtl="0" algn="l">
              <a:lnSpc>
                <a:spcPct val="166666"/>
              </a:lnSpc>
              <a:spcBef>
                <a:spcPts val="0"/>
              </a:spcBef>
              <a:spcAft>
                <a:spcPts val="0"/>
              </a:spcAft>
              <a:buClr>
                <a:schemeClr val="lt1"/>
              </a:buClr>
              <a:buSzPts val="1300"/>
              <a:buFont typeface="Calibri"/>
              <a:buChar char="•"/>
            </a:pPr>
            <a:r>
              <a:rPr b="1" i="0" lang="en-GB" sz="1300" u="none" cap="none" strike="noStrike">
                <a:solidFill>
                  <a:schemeClr val="lt1"/>
                </a:solidFill>
                <a:latin typeface="Calibri"/>
                <a:ea typeface="Calibri"/>
                <a:cs typeface="Calibri"/>
                <a:sym typeface="Calibri"/>
              </a:rPr>
              <a:t>Indexing on frequently queried columns</a:t>
            </a:r>
            <a:endParaRPr b="1" i="0" sz="1300" u="none" cap="none" strike="noStrike">
              <a:solidFill>
                <a:schemeClr val="lt1"/>
              </a:solidFill>
              <a:latin typeface="Calibri"/>
              <a:ea typeface="Calibri"/>
              <a:cs typeface="Calibri"/>
              <a:sym typeface="Calibri"/>
            </a:endParaRPr>
          </a:p>
          <a:p>
            <a:pPr indent="-342900" lvl="0" marL="342900" marR="0" rtl="0" algn="l">
              <a:lnSpc>
                <a:spcPct val="166666"/>
              </a:lnSpc>
              <a:spcBef>
                <a:spcPts val="0"/>
              </a:spcBef>
              <a:spcAft>
                <a:spcPts val="0"/>
              </a:spcAft>
              <a:buClr>
                <a:schemeClr val="lt1"/>
              </a:buClr>
              <a:buSzPts val="1300"/>
              <a:buFont typeface="Calibri"/>
              <a:buChar char="•"/>
            </a:pPr>
            <a:r>
              <a:rPr b="1" i="0" lang="en-GB" sz="1300" u="none" cap="none" strike="noStrike">
                <a:solidFill>
                  <a:schemeClr val="lt1"/>
                </a:solidFill>
                <a:latin typeface="Calibri"/>
                <a:ea typeface="Calibri"/>
                <a:cs typeface="Calibri"/>
                <a:sym typeface="Calibri"/>
              </a:rPr>
              <a:t>Audit logging table for transparency</a:t>
            </a:r>
            <a:endParaRPr b="1" i="0" sz="1300" u="none" cap="none" strike="noStrike">
              <a:solidFill>
                <a:schemeClr val="lt1"/>
              </a:solidFill>
              <a:latin typeface="Calibri"/>
              <a:ea typeface="Calibri"/>
              <a:cs typeface="Calibri"/>
              <a:sym typeface="Calibri"/>
            </a:endParaRPr>
          </a:p>
        </p:txBody>
      </p:sp>
      <p:sp>
        <p:nvSpPr>
          <p:cNvPr id="626" name="Google Shape;626;p45"/>
          <p:cNvSpPr/>
          <p:nvPr/>
        </p:nvSpPr>
        <p:spPr>
          <a:xfrm>
            <a:off x="4754880" y="1097280"/>
            <a:ext cx="39319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28090"/>
              </a:buClr>
              <a:buSzPts val="1800"/>
              <a:buFont typeface="Calibri"/>
              <a:buNone/>
            </a:pPr>
            <a:r>
              <a:rPr b="1" i="0" lang="en-GB" sz="1800" u="none" cap="none" strike="noStrike">
                <a:solidFill>
                  <a:srgbClr val="028090"/>
                </a:solidFill>
                <a:latin typeface="Calibri"/>
                <a:ea typeface="Calibri"/>
                <a:cs typeface="Calibri"/>
                <a:sym typeface="Calibri"/>
              </a:rPr>
              <a:t>Long-Term</a:t>
            </a:r>
            <a:endParaRPr b="0" i="0" sz="1800" u="none" cap="none" strike="noStrike">
              <a:solidFill>
                <a:schemeClr val="dk1"/>
              </a:solidFill>
              <a:latin typeface="Calibri"/>
              <a:ea typeface="Calibri"/>
              <a:cs typeface="Calibri"/>
              <a:sym typeface="Calibri"/>
            </a:endParaRPr>
          </a:p>
        </p:txBody>
      </p:sp>
      <p:sp>
        <p:nvSpPr>
          <p:cNvPr id="627" name="Google Shape;627;p45"/>
          <p:cNvSpPr/>
          <p:nvPr/>
        </p:nvSpPr>
        <p:spPr>
          <a:xfrm>
            <a:off x="5029200" y="1463040"/>
            <a:ext cx="3657600" cy="164592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66666"/>
              </a:lnSpc>
              <a:spcBef>
                <a:spcPts val="0"/>
              </a:spcBef>
              <a:spcAft>
                <a:spcPts val="0"/>
              </a:spcAft>
              <a:buClr>
                <a:schemeClr val="lt1"/>
              </a:buClr>
              <a:buSzPts val="1300"/>
              <a:buFont typeface="Calibri"/>
              <a:buChar char="•"/>
            </a:pPr>
            <a:r>
              <a:rPr b="1" i="0" lang="en-GB" sz="1300" u="none" cap="none" strike="noStrike">
                <a:solidFill>
                  <a:schemeClr val="lt1"/>
                </a:solidFill>
                <a:latin typeface="Calibri"/>
                <a:ea typeface="Calibri"/>
                <a:cs typeface="Calibri"/>
                <a:sym typeface="Calibri"/>
              </a:rPr>
              <a:t>Backend API (Node.js, Flask, PHP)</a:t>
            </a:r>
            <a:endParaRPr b="1" i="0" sz="1300" u="none" cap="none" strike="noStrike">
              <a:solidFill>
                <a:schemeClr val="lt1"/>
              </a:solidFill>
              <a:latin typeface="Calibri"/>
              <a:ea typeface="Calibri"/>
              <a:cs typeface="Calibri"/>
              <a:sym typeface="Calibri"/>
            </a:endParaRPr>
          </a:p>
          <a:p>
            <a:pPr indent="-342900" lvl="0" marL="342900" marR="0" rtl="0" algn="l">
              <a:lnSpc>
                <a:spcPct val="166666"/>
              </a:lnSpc>
              <a:spcBef>
                <a:spcPts val="0"/>
              </a:spcBef>
              <a:spcAft>
                <a:spcPts val="0"/>
              </a:spcAft>
              <a:buClr>
                <a:schemeClr val="lt1"/>
              </a:buClr>
              <a:buSzPts val="1300"/>
              <a:buFont typeface="Calibri"/>
              <a:buChar char="•"/>
            </a:pPr>
            <a:r>
              <a:rPr b="1" i="0" lang="en-GB" sz="1300" u="none" cap="none" strike="noStrike">
                <a:solidFill>
                  <a:schemeClr val="lt1"/>
                </a:solidFill>
                <a:latin typeface="Calibri"/>
                <a:ea typeface="Calibri"/>
                <a:cs typeface="Calibri"/>
                <a:sym typeface="Calibri"/>
              </a:rPr>
              <a:t>Mobile/web frontend interface</a:t>
            </a:r>
            <a:endParaRPr b="1" i="0" sz="1300" u="none" cap="none" strike="noStrike">
              <a:solidFill>
                <a:schemeClr val="lt1"/>
              </a:solidFill>
              <a:latin typeface="Calibri"/>
              <a:ea typeface="Calibri"/>
              <a:cs typeface="Calibri"/>
              <a:sym typeface="Calibri"/>
            </a:endParaRPr>
          </a:p>
          <a:p>
            <a:pPr indent="-342900" lvl="0" marL="342900" marR="0" rtl="0" algn="l">
              <a:lnSpc>
                <a:spcPct val="166666"/>
              </a:lnSpc>
              <a:spcBef>
                <a:spcPts val="0"/>
              </a:spcBef>
              <a:spcAft>
                <a:spcPts val="0"/>
              </a:spcAft>
              <a:buClr>
                <a:schemeClr val="lt1"/>
              </a:buClr>
              <a:buSzPts val="1300"/>
              <a:buFont typeface="Calibri"/>
              <a:buChar char="•"/>
            </a:pPr>
            <a:r>
              <a:rPr b="1" i="0" lang="en-GB" sz="1300" u="none" cap="none" strike="noStrike">
                <a:solidFill>
                  <a:schemeClr val="lt1"/>
                </a:solidFill>
                <a:latin typeface="Calibri"/>
                <a:ea typeface="Calibri"/>
                <a:cs typeface="Calibri"/>
                <a:sym typeface="Calibri"/>
              </a:rPr>
              <a:t>Real payment gateway integration</a:t>
            </a:r>
            <a:endParaRPr b="1" i="0" sz="1300" u="none" cap="none" strike="noStrike">
              <a:solidFill>
                <a:schemeClr val="lt1"/>
              </a:solidFill>
              <a:latin typeface="Calibri"/>
              <a:ea typeface="Calibri"/>
              <a:cs typeface="Calibri"/>
              <a:sym typeface="Calibri"/>
            </a:endParaRPr>
          </a:p>
          <a:p>
            <a:pPr indent="-342900" lvl="0" marL="342900" marR="0" rtl="0" algn="l">
              <a:lnSpc>
                <a:spcPct val="166666"/>
              </a:lnSpc>
              <a:spcBef>
                <a:spcPts val="0"/>
              </a:spcBef>
              <a:spcAft>
                <a:spcPts val="0"/>
              </a:spcAft>
              <a:buClr>
                <a:schemeClr val="lt1"/>
              </a:buClr>
              <a:buSzPts val="1300"/>
              <a:buFont typeface="Calibri"/>
              <a:buChar char="•"/>
            </a:pPr>
            <a:r>
              <a:rPr b="1" i="0" lang="en-GB" sz="1300" u="none" cap="none" strike="noStrike">
                <a:solidFill>
                  <a:schemeClr val="lt1"/>
                </a:solidFill>
                <a:latin typeface="Calibri"/>
                <a:ea typeface="Calibri"/>
                <a:cs typeface="Calibri"/>
                <a:sym typeface="Calibri"/>
              </a:rPr>
              <a:t>Multi-currency support</a:t>
            </a:r>
            <a:endParaRPr b="1" i="0" sz="1300" u="none" cap="none" strike="noStrike">
              <a:solidFill>
                <a:schemeClr val="lt1"/>
              </a:solidFill>
              <a:latin typeface="Calibri"/>
              <a:ea typeface="Calibri"/>
              <a:cs typeface="Calibri"/>
              <a:sym typeface="Calibri"/>
            </a:endParaRPr>
          </a:p>
          <a:p>
            <a:pPr indent="-342900" lvl="0" marL="342900" marR="0" rtl="0" algn="l">
              <a:lnSpc>
                <a:spcPct val="166666"/>
              </a:lnSpc>
              <a:spcBef>
                <a:spcPts val="0"/>
              </a:spcBef>
              <a:spcAft>
                <a:spcPts val="0"/>
              </a:spcAft>
              <a:buClr>
                <a:schemeClr val="lt1"/>
              </a:buClr>
              <a:buSzPts val="1300"/>
              <a:buFont typeface="Calibri"/>
              <a:buChar char="•"/>
            </a:pPr>
            <a:r>
              <a:rPr b="1" i="0" lang="en-GB" sz="1300" u="none" cap="none" strike="noStrike">
                <a:solidFill>
                  <a:schemeClr val="lt1"/>
                </a:solidFill>
                <a:latin typeface="Calibri"/>
                <a:ea typeface="Calibri"/>
                <a:cs typeface="Calibri"/>
                <a:sym typeface="Calibri"/>
              </a:rPr>
              <a:t>Enhanced role-based access control</a:t>
            </a:r>
            <a:endParaRPr b="1" i="0" sz="1300" u="none" cap="none" strike="noStrike">
              <a:solidFill>
                <a:schemeClr val="lt1"/>
              </a:solidFill>
              <a:latin typeface="Calibri"/>
              <a:ea typeface="Calibri"/>
              <a:cs typeface="Calibri"/>
              <a:sym typeface="Calibri"/>
            </a:endParaRPr>
          </a:p>
        </p:txBody>
      </p:sp>
      <p:sp>
        <p:nvSpPr>
          <p:cNvPr id="628" name="Google Shape;628;p45"/>
          <p:cNvSpPr/>
          <p:nvPr/>
        </p:nvSpPr>
        <p:spPr>
          <a:xfrm>
            <a:off x="457200" y="3840480"/>
            <a:ext cx="8229600" cy="914400"/>
          </a:xfrm>
          <a:prstGeom prst="rect">
            <a:avLst/>
          </a:prstGeom>
          <a:solidFill>
            <a:srgbClr val="028090">
              <a:alpha val="9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45"/>
          <p:cNvSpPr/>
          <p:nvPr/>
        </p:nvSpPr>
        <p:spPr>
          <a:xfrm>
            <a:off x="457200" y="3840480"/>
            <a:ext cx="8229600" cy="914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8090"/>
              </a:buClr>
              <a:buSzPts val="1600"/>
              <a:buFont typeface="Calibri"/>
              <a:buNone/>
            </a:pPr>
            <a:r>
              <a:rPr b="1" i="0" lang="en-GB" sz="1600" u="none" cap="none" strike="noStrike">
                <a:solidFill>
                  <a:schemeClr val="lt1"/>
                </a:solidFill>
                <a:latin typeface="Calibri"/>
                <a:ea typeface="Calibri"/>
                <a:cs typeface="Calibri"/>
                <a:sym typeface="Calibri"/>
              </a:rPr>
              <a:t>The foundation is solid — PayLoop is ready to scale into a production system</a:t>
            </a:r>
            <a:endParaRPr b="1" i="0" sz="1600" u="none" cap="none" strike="noStrike">
              <a:solidFill>
                <a:schemeClr val="lt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46"/>
          <p:cNvSpPr/>
          <p:nvPr/>
        </p:nvSpPr>
        <p:spPr>
          <a:xfrm>
            <a:off x="0" y="0"/>
            <a:ext cx="9144000" cy="2286000"/>
          </a:xfrm>
          <a:prstGeom prst="rect">
            <a:avLst/>
          </a:prstGeom>
          <a:solidFill>
            <a:srgbClr val="02809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36" name="Google Shape;636;p46"/>
          <p:cNvPicPr preferRelativeResize="0"/>
          <p:nvPr/>
        </p:nvPicPr>
        <p:blipFill rotWithShape="1">
          <a:blip r:embed="rId3">
            <a:alphaModFix/>
          </a:blip>
          <a:srcRect b="0" l="0" r="0" t="0"/>
          <a:stretch/>
        </p:blipFill>
        <p:spPr>
          <a:xfrm>
            <a:off x="4206240" y="1097280"/>
            <a:ext cx="731520" cy="731520"/>
          </a:xfrm>
          <a:prstGeom prst="rect">
            <a:avLst/>
          </a:prstGeom>
          <a:noFill/>
          <a:ln>
            <a:noFill/>
          </a:ln>
        </p:spPr>
      </p:pic>
      <p:sp>
        <p:nvSpPr>
          <p:cNvPr id="637" name="Google Shape;637;p46"/>
          <p:cNvSpPr/>
          <p:nvPr/>
        </p:nvSpPr>
        <p:spPr>
          <a:xfrm>
            <a:off x="457200" y="2011680"/>
            <a:ext cx="822960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800"/>
              <a:buFont typeface="Arial Black"/>
              <a:buNone/>
            </a:pPr>
            <a:r>
              <a:rPr b="1" i="0" lang="en-GB" sz="4800" u="none" cap="none" strike="noStrike">
                <a:solidFill>
                  <a:srgbClr val="FFFFFF"/>
                </a:solidFill>
                <a:latin typeface="Arial Black"/>
                <a:ea typeface="Arial Black"/>
                <a:cs typeface="Arial Black"/>
                <a:sym typeface="Arial Black"/>
              </a:rPr>
              <a:t>Thank You</a:t>
            </a:r>
            <a:endParaRPr b="0" i="0" sz="4800" u="none" cap="none" strike="noStrike">
              <a:solidFill>
                <a:schemeClr val="dk1"/>
              </a:solidFill>
              <a:latin typeface="Calibri"/>
              <a:ea typeface="Calibri"/>
              <a:cs typeface="Calibri"/>
              <a:sym typeface="Calibri"/>
            </a:endParaRPr>
          </a:p>
        </p:txBody>
      </p:sp>
      <p:sp>
        <p:nvSpPr>
          <p:cNvPr id="638" name="Google Shape;638;p46"/>
          <p:cNvSpPr/>
          <p:nvPr/>
        </p:nvSpPr>
        <p:spPr>
          <a:xfrm>
            <a:off x="457200" y="265176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2C39A"/>
              </a:buClr>
              <a:buSzPts val="1800"/>
              <a:buFont typeface="Calibri"/>
              <a:buNone/>
            </a:pPr>
            <a:r>
              <a:rPr b="0" i="0" lang="en-GB" sz="1800" u="none" cap="none" strike="noStrike">
                <a:solidFill>
                  <a:srgbClr val="02C39A"/>
                </a:solidFill>
                <a:latin typeface="Calibri"/>
                <a:ea typeface="Calibri"/>
                <a:cs typeface="Calibri"/>
                <a:sym typeface="Calibri"/>
              </a:rPr>
              <a:t>PayLoop:</a:t>
            </a:r>
            <a:r>
              <a:rPr lang="en-GB" sz="1800">
                <a:solidFill>
                  <a:srgbClr val="02C39A"/>
                </a:solidFill>
                <a:latin typeface="Calibri"/>
                <a:ea typeface="Calibri"/>
                <a:cs typeface="Calibri"/>
                <a:sym typeface="Calibri"/>
              </a:rPr>
              <a:t> </a:t>
            </a:r>
            <a:r>
              <a:rPr b="0" i="0" lang="en-GB" sz="1800" u="none" cap="none" strike="noStrike">
                <a:solidFill>
                  <a:srgbClr val="02C39A"/>
                </a:solidFill>
                <a:latin typeface="Calibri"/>
                <a:ea typeface="Calibri"/>
                <a:cs typeface="Calibri"/>
                <a:sym typeface="Calibri"/>
              </a:rPr>
              <a:t>Digital Wallet System</a:t>
            </a:r>
            <a:endParaRPr b="0" i="0" sz="1800" u="none" cap="none" strike="noStrike">
              <a:solidFill>
                <a:schemeClr val="dk1"/>
              </a:solidFill>
              <a:latin typeface="Calibri"/>
              <a:ea typeface="Calibri"/>
              <a:cs typeface="Calibri"/>
              <a:sym typeface="Calibri"/>
            </a:endParaRPr>
          </a:p>
        </p:txBody>
      </p:sp>
      <p:sp>
        <p:nvSpPr>
          <p:cNvPr id="639" name="Google Shape;639;p46"/>
          <p:cNvSpPr/>
          <p:nvPr/>
        </p:nvSpPr>
        <p:spPr>
          <a:xfrm>
            <a:off x="457200" y="3128171"/>
            <a:ext cx="82296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5F5F5"/>
              </a:buClr>
              <a:buSzPts val="1200"/>
              <a:buFont typeface="Calibri"/>
              <a:buNone/>
            </a:pPr>
            <a:r>
              <a:rPr b="0" i="0" lang="en-GB" sz="1200" u="none" cap="none" strike="noStrike">
                <a:solidFill>
                  <a:srgbClr val="F5F5F5"/>
                </a:solidFill>
                <a:latin typeface="Calibri"/>
                <a:ea typeface="Calibri"/>
                <a:cs typeface="Calibri"/>
                <a:sym typeface="Calibri"/>
              </a:rPr>
              <a:t>Musa • Ahmed • Ibrahim • Zakaullah • Ismaeel</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